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8" r:id="rId19"/>
    <p:sldId id="262" r:id="rId13"/>
    <p:sldId id="263" r:id="rId14"/>
    <p:sldId id="264" r:id="rId15"/>
    <p:sldId id="258" r:id="rId9"/>
    <p:sldId id="259" r:id="rId10"/>
    <p:sldId id="260" r:id="rId11"/>
    <p:sldId id="266" r:id="rId17"/>
    <p:sldId id="261" r:id="rId12"/>
    <p:sldId id="267" r:id="rId18"/>
    <p:sldId id="265" r:id="rId16"/>
    <p:sldId id="270" r:id="rId21"/>
    <p:sldId id="269" r:id="rId20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02752" y="274320"/>
            <a:ext cx="3017520" cy="6327648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bil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2" y="365760"/>
            <a:ext cx="2834640" cy="61447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" y="603504"/>
            <a:ext cx="91440" cy="329184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1792"/>
            <a:ext cx="3474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5D39B"/>
                </a:solidFill>
                <a:latin typeface="Aptos"/>
              </a:rPr>
              <a:t>PHILIPPINE JOCKEY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76072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How the system</a:t>
            </a:r>
          </a:p>
          <a:p>
            <a:pPr algn="l"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657600"/>
            <a:ext cx="5394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D4DED8"/>
                </a:solidFill>
                <a:latin typeface="Aptos"/>
              </a:rPr>
              <a:t>A visual guide to the Philippine Jockey experience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315968"/>
            <a:ext cx="4617720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52628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2D0C8"/>
                </a:solidFill>
                <a:latin typeface="Aptos"/>
              </a:rPr>
              <a:t>Visual guide  |  16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AABCB2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One experience, from first visit to race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THE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347472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554480"/>
            <a:ext cx="54864" cy="1417320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691639"/>
            <a:ext cx="31455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3B2F"/>
                </a:solidFill>
                <a:latin typeface="Aptos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84831"/>
            <a:ext cx="312724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See today's featured race, choose a club, and browse the race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54480"/>
            <a:ext cx="347472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554480"/>
            <a:ext cx="54864" cy="1417320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91639"/>
            <a:ext cx="31455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3B2F"/>
                </a:solidFill>
                <a:latin typeface="Aptos"/>
              </a:rPr>
              <a:t>Take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084831"/>
            <a:ext cx="312724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Learn each game, choose horses, review a play-money wager, and receive a ticket.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554480"/>
            <a:ext cx="347472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554480"/>
            <a:ext cx="54864" cy="1417320"/>
          </a:xfrm>
          <a:prstGeom prst="rect">
            <a:avLst/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91639"/>
            <a:ext cx="31455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3B2F"/>
                </a:solidFill>
                <a:latin typeface="Aptos"/>
              </a:rPr>
              <a:t>Follow 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84831"/>
            <a:ext cx="312724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Watch race-day updates, check official results, and explore winning horses and jockeys.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0156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A451"/>
                </a:solidFill>
                <a:latin typeface="Aptos"/>
              </a:rPr>
              <a:t>The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49039"/>
            <a:ext cx="1060704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103B2F"/>
                </a:solidFill>
                <a:latin typeface="Georgia"/>
              </a:rPr>
              <a:t>A simple race-day companion: find a race, understand your choices, follow the action, and see how the race finished.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1783080" cy="256032"/>
          </a:xfrm>
          <a:prstGeom prst="roundRect">
            <a:avLst>
              <a:gd name="adj" fmla="val 14000"/>
            </a:avLst>
          </a:prstGeom>
          <a:solidFill>
            <a:srgbClr val="E5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280660"/>
            <a:ext cx="170992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Mobile-first screens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257800"/>
            <a:ext cx="2267712" cy="256032"/>
          </a:xfrm>
          <a:prstGeom prst="roundRect">
            <a:avLst>
              <a:gd name="adj" fmla="val 14000"/>
            </a:avLst>
          </a:prstGeom>
          <a:solidFill>
            <a:srgbClr val="F1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88336" y="5280660"/>
            <a:ext cx="219456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Play-money betting demo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5257800"/>
            <a:ext cx="2267712" cy="256032"/>
          </a:xfrm>
          <a:prstGeom prst="roundRect">
            <a:avLst>
              <a:gd name="adj" fmla="val 14000"/>
            </a:avLst>
          </a:prstGeom>
          <a:solidFill>
            <a:srgbClr val="E5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496" y="5280660"/>
            <a:ext cx="219456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Race-day information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718078"/>
                </a:solidFill>
                <a:latin typeface="Aptos"/>
              </a:rPr>
              <a:t>Race names, odds, video and results shown in the demo may be sample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Home and club selection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Featured race, schedule, games and bottom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RACES · CLUB PICKER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The user chooses a racing club before seeing its card.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364224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Race card and entries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race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Date rail, race status filters and club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race-e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 ENTRIES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Runner number, horse, jockey, trainer and owner.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364224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Games and wager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games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37" y="1792224"/>
            <a:ext cx="1805645" cy="3913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GAMES &amp;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Choose the betting market and learn selection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bet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81" y="1792224"/>
            <a:ext cx="1805645" cy="3913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BET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Review chosen runners and remove or edit a ticket.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bile-bet-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25" y="1792224"/>
            <a:ext cx="1805645" cy="3913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Set wager, verify total, then confirm the play-money ticket.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172200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Live and post-race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live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37" y="1792224"/>
            <a:ext cx="1805645" cy="3913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LIVE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Stream entry point and race-day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81" y="1792224"/>
            <a:ext cx="1805645" cy="3913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Filter the result list by official / provisional / cancelled.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bile-official-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25" y="1792224"/>
            <a:ext cx="1805645" cy="3913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OFFICIAL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Placings link to horse and jockey profiles.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172200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PRODUCT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The customer journey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Discover today's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meeting and featured race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15768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62656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E3E9E4"/>
                </a:solidFill>
                <a:latin typeface="Aptos"/>
              </a:rPr>
              <a:t>Choose club / date,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E3E9E4"/>
                </a:solidFill>
                <a:latin typeface="Aptos"/>
              </a:rPr>
              <a:t>open a race and entries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0056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66944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Watch the stream and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follow race updates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24344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71232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Review official placings,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then contender profiles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28632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75520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Manage preferences,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favorites and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160520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Shared 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9884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D2924"/>
                </a:solidFill>
                <a:latin typeface="Aptos"/>
              </a:rPr>
              <a:t>Mobile tab bar: Home · Races · Live · Results · Profile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069080"/>
            <a:ext cx="4572000" cy="1143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37960" y="4069080"/>
            <a:ext cx="54864" cy="1143000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206240"/>
            <a:ext cx="42428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Supporting destinations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599432"/>
            <a:ext cx="42245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Games &amp; Guide · Totalizer · Betting history · Favorites · Notifications · Settings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60720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718078"/>
                </a:solidFill>
                <a:latin typeface="Aptos"/>
              </a:rPr>
              <a:t>The five main destinations stay within reach through the mobile navigation.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PLACE A 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Betting flow · from race discovery to ticket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BETTING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8105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653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1051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Pick a club / 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1671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Browse meeting dates, clubs, race cards, and entries.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352" y="2331720"/>
            <a:ext cx="320040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0832" y="16459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35424" y="18105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8653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81051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Pick a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21671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WIN · PLACE · FORECAST · TRIFECTA and supported game rules.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71816" y="2331720"/>
            <a:ext cx="320040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83296" y="16459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7888" y="18105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8653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6" y="181051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Pick runner(s)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1671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Selection count follows the game requirement; review odds snapshot.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20072" y="3063240"/>
            <a:ext cx="0" cy="54864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83296" y="37033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47888" y="3867911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9227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386791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Cart &amp;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6" y="42245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Edit or remove tickets; set wager from presets / allowed range.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717536" y="4389120"/>
            <a:ext cx="329184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70832" y="37033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35424" y="3867911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39227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6632" y="386791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6632" y="42245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Show confirmation and the ticket reference.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005072" y="4389120"/>
            <a:ext cx="329184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58368" y="37033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59" y="3867911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39227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4168" y="386791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Track ticket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42245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Betting history and ticket status after placement / settlement.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5623560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74A43"/>
                </a:solidFill>
                <a:latin typeface="Aptos"/>
              </a:rPr>
              <a:t>All wagers shown here are play-money only; no real currency is used in this demo.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BETTING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Bet flow · from chosen game to ticket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TAKE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Pick a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WIN · PLACE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FORECAST · TRIFECTA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8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Choose horses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Follow the game's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selection guide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85231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Review bet cart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Edit or remove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your selections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51192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98664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Choose wager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Use a preset or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enter an amount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64624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12096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CONFIRM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Receive 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6ECE8"/>
                </a:solidFill>
                <a:latin typeface="Aptos"/>
              </a:rPr>
              <a:t>See confirmation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6ECE8"/>
                </a:solidFill>
                <a:latin typeface="Aptos"/>
              </a:rPr>
              <a:t>and open 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858768"/>
            <a:ext cx="5029200" cy="1243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3858768"/>
            <a:ext cx="54864" cy="1243584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995928"/>
            <a:ext cx="47000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Before you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389120"/>
            <a:ext cx="46817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Check the race, game, selected horses and wager total. If a selection is incomplete, return to the relevant step and finish it.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858768"/>
            <a:ext cx="5029200" cy="1243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3858768"/>
            <a:ext cx="54864" cy="1243584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995928"/>
            <a:ext cx="47000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After you confirm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389120"/>
            <a:ext cx="46817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The system shows a ticket confirmation. Open Betting History to find the ticket again and follow its status.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431536"/>
            <a:ext cx="2313432" cy="256032"/>
          </a:xfrm>
          <a:prstGeom prst="roundRect">
            <a:avLst>
              <a:gd name="adj" fmla="val 14000"/>
            </a:avLst>
          </a:prstGeom>
          <a:solidFill>
            <a:srgbClr val="F4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454396"/>
            <a:ext cx="2240279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74A43"/>
                </a:solidFill>
                <a:latin typeface="Aptos"/>
              </a:rPr>
              <a:t>Play-money demonstration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5431536"/>
            <a:ext cx="2331720" cy="256032"/>
          </a:xfrm>
          <a:prstGeom prst="roundRect">
            <a:avLst>
              <a:gd name="adj" fmla="val 14000"/>
            </a:avLst>
          </a:prstGeom>
          <a:solidFill>
            <a:srgbClr val="E5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8416" y="5454396"/>
            <a:ext cx="225856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Review before confirming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79008" y="5431536"/>
            <a:ext cx="2286000" cy="256032"/>
          </a:xfrm>
          <a:prstGeom prst="roundRect">
            <a:avLst>
              <a:gd name="adj" fmla="val 14000"/>
            </a:avLst>
          </a:prstGeom>
          <a:solidFill>
            <a:srgbClr val="F1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15584" y="5454396"/>
            <a:ext cx="221284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Find tickets in history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ACCOUNT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Account flow · sign in and manage your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YOUR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Choose sign in or create an account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2468880"/>
            <a:ext cx="365760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84448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Enter your details and continue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2468880"/>
            <a:ext cx="365760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73368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E5ECE7"/>
                </a:solidFill>
                <a:latin typeface="Aptos"/>
              </a:rPr>
              <a:t>Arrive at your race-day dashboard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2468880"/>
            <a:ext cx="365760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62287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3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7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Open history, favorites and settings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730752"/>
            <a:ext cx="50749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3730752"/>
            <a:ext cx="54864" cy="129844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867912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Your race-day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61104"/>
            <a:ext cx="47274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Betting history · favorites · rewards · notifications · profile settings.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3730752"/>
            <a:ext cx="50749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3730752"/>
            <a:ext cx="54864" cy="1298448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3867912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A clear return 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261104"/>
            <a:ext cx="47274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Use the bottom navigation to return to Home, Races, Live, Results or Profile from the main screens.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468112"/>
            <a:ext cx="10332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The same core destinations are designed for mobile website and app visitors.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Race-day flow · before, during and after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RACING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328416" cy="3127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328416" cy="448056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65376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2880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03B2F"/>
                </a:solidFill>
                <a:latin typeface="Georgia"/>
              </a:rPr>
              <a:t>Schedule → club → race → entries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273552"/>
            <a:ext cx="292608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493008"/>
            <a:ext cx="289864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Dates / status chips / race details / runner list.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Bet entry point is attached to the race.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50791" y="3264408"/>
            <a:ext cx="338329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53128" y="1755648"/>
            <a:ext cx="3328416" cy="3127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3128" y="1755648"/>
            <a:ext cx="3328416" cy="448056"/>
          </a:xfrm>
          <a:prstGeom prst="roundRect">
            <a:avLst>
              <a:gd name="adj" fmla="val 14000"/>
            </a:avLst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865376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487168"/>
            <a:ext cx="2880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03B2F"/>
                </a:solidFill>
                <a:latin typeface="Georgia"/>
              </a:rPr>
              <a:t>Live center → stream → updates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273552"/>
            <a:ext cx="292608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493008"/>
            <a:ext cx="289864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Stream and update screens exist. Live video and real-time positions need a confirmed provider/feed.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18120" y="3264408"/>
            <a:ext cx="338328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0456" y="1755648"/>
            <a:ext cx="3328416" cy="3127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0456" y="1755648"/>
            <a:ext cx="3328416" cy="448056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1865376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487168"/>
            <a:ext cx="2880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03B2F"/>
                </a:solidFill>
                <a:latin typeface="Georgia"/>
              </a:rPr>
              <a:t>Results → official result → profiles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03336" y="3273552"/>
            <a:ext cx="292608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03336" y="3493008"/>
            <a:ext cx="289864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Result detail → winning horse and jockey → statistics. Use official status and result timestamps.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4406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Operational owner to confirm: race status transitions, official result publication, feed freshness, and incident corrections.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POST-RACE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Post-race flow · result to contender 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Results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Filter by result status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1256" y="2615184"/>
            <a:ext cx="283464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47872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Official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5ECE7"/>
                </a:solidFill>
                <a:latin typeface="Aptos"/>
              </a:rPr>
              <a:t>Placings · time · venue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07608" y="2615184"/>
            <a:ext cx="283464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4224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Winner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Horse profile / statistics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3960" y="2615184"/>
            <a:ext cx="283464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Jockey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Race performance / stats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58768"/>
            <a:ext cx="50749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58768"/>
            <a:ext cx="54864" cy="1234440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95928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Clear result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472744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Show an official result only after it has been declared. Include the published time and tell users if a correction is made.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858768"/>
            <a:ext cx="50749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3858768"/>
            <a:ext cx="54864" cy="1234440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995928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Current profile limitation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389120"/>
            <a:ext cx="472744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Available contracts do not include full historical horse/jockey career records. The UI avoids inventing career totals.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32120"/>
            <a:ext cx="10789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Website routes: /results → /result/[id] → /horse/[id] or /jockey/[id] → /statistics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SYSTEM FLOW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The full race-day journey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HOW IT ALL CONNECTS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01 · 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Home → 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Find a featured race or open the schedule.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8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02 · CHOOSE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Club → Date → 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Choose where and when to race; open entries.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85231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03 · 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Games → Selections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Learn the game and select horse(s).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51192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98664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04 · TAKE PART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Cart → Review → Ticket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6ECE8"/>
                </a:solidFill>
                <a:latin typeface="Aptos"/>
              </a:rPr>
              <a:t>Check selections, set wager, confirm.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64624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12096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05 · FOLLOW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Live →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Follow race updates, then see official placings.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041648"/>
            <a:ext cx="3273552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4041648"/>
            <a:ext cx="54864" cy="1152144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178808"/>
            <a:ext cx="29443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Before the 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572000"/>
            <a:ext cx="29260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Race schedule · entries · game guide · bet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43984" y="4041648"/>
            <a:ext cx="3273552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3984" y="4041648"/>
            <a:ext cx="54864" cy="1152144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6864" y="4178808"/>
            <a:ext cx="29443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During the 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4572000"/>
            <a:ext cx="29260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Live center · video area · race updates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041648"/>
            <a:ext cx="3273552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4041648"/>
            <a:ext cx="54864" cy="1152144"/>
          </a:xfrm>
          <a:prstGeom prst="rect">
            <a:avLst/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178808"/>
            <a:ext cx="29443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After the race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572000"/>
            <a:ext cx="29260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Results · winning horse · winning jockey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5559552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Profile, settings, favorites and betting history remain available as supporting destinations.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MAIN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Where each part of the experience takes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148840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82496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DESTINATION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600200"/>
            <a:ext cx="4160520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682496"/>
            <a:ext cx="39776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WHAT YOU CAN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1600200"/>
            <a:ext cx="3977639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1682496"/>
            <a:ext cx="379475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NEXT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29968"/>
            <a:ext cx="21488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30552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Home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2029968"/>
            <a:ext cx="41605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130552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View the featured race and today's highlights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2029968"/>
            <a:ext cx="397763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2130552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schedule or live 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596896"/>
            <a:ext cx="214884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697480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Races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596896"/>
            <a:ext cx="416052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2697480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Choose a club, date, race and horse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79792" y="2596896"/>
            <a:ext cx="3977639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697480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entries or place a bet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163824"/>
            <a:ext cx="21488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264408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Games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163824"/>
            <a:ext cx="41605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3264408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Understand Win, Place, Forecast and more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79792" y="3163824"/>
            <a:ext cx="397763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1" y="3264408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Choose selections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30752"/>
            <a:ext cx="214884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831336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Live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3730752"/>
            <a:ext cx="416052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3831336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the live race center and updates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79792" y="3730752"/>
            <a:ext cx="3977639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1231" y="3831336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Return to races or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97680"/>
            <a:ext cx="21488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398264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4297680"/>
            <a:ext cx="41605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4680" y="4398264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See race finish order and official 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9792" y="4297680"/>
            <a:ext cx="397763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71231" y="4398264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Explore winning contenders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864608"/>
            <a:ext cx="214884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965192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Profile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4864608"/>
            <a:ext cx="416052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80" y="4965192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account tools, favorites and 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79792" y="4864608"/>
            <a:ext cx="3977639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1231" y="4965192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Manage personal preferences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6235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The five-tab mobile navigation keeps the main journey within easy reach.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STATUS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How a race and a bet move forward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WHAT HAPPENS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A451"/>
                </a:solidFill>
                <a:latin typeface="Aptos"/>
              </a:rPr>
              <a:t>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Upcoming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Waiting for post 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3512" y="2404872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Ongoing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Race is in progress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33288" y="2404872"/>
            <a:ext cx="539495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45936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Race has finished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13064" y="2404872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25712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Official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5ECE7"/>
                </a:solidFill>
                <a:latin typeface="Aptos"/>
              </a:rPr>
              <a:t>Results are declared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10712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A451"/>
                </a:solidFill>
                <a:latin typeface="Aptos"/>
              </a:rPr>
              <a:t>BET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Choose game and horses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53512" y="4160520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566160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7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Check ticket and wager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3288" y="4160520"/>
            <a:ext cx="539495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45936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Confirmed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Ticket is 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13064" y="4160520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125712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Check ticket progress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8" y="5074920"/>
            <a:ext cx="10515600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8" y="5074920"/>
            <a:ext cx="54864" cy="694944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5212080"/>
            <a:ext cx="101864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The key hand-off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5605272"/>
            <a:ext cx="10168128" cy="54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Race details guide the choice. The bet ticket keeps the selection together. Results complete the race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HELPFUL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If a user gets stuck, make the next step clear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GUIDANCE AND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64208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64208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No races on this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Offer nearby dates and let the user switch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64208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64208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01368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No horse 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Return to race entries and explain the game requirement.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62656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62656"/>
            <a:ext cx="54864" cy="1024128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99816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Wager needs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9300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Show the total clearly and explain how to correct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62656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62656"/>
            <a:ext cx="54864" cy="1024128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99816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Bet was not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9300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Keep selections available so the user can review again.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61104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261104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398264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Live video unavailable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91456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Keep race updates and schedule details easy to reach.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261104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261104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398264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Result is not official yet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91456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Label the result clearly and guide users back later.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Every interruption should preserve the user's place and show a simple next action.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RACE-DAY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What users need to see at every step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A COMPLETE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364992" cy="2267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54864" cy="2267712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FIND A 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13432"/>
            <a:ext cx="301752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Club name and location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Meeting dates and race status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Distance, time and entry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1783080"/>
            <a:ext cx="3364992" cy="2267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8848" y="1783080"/>
            <a:ext cx="54864" cy="2267712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920240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MAKE A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313432"/>
            <a:ext cx="301752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Game instructions and selection count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Horse / jockey / trainer details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Wager amount and ticket summary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6" y="1783080"/>
            <a:ext cx="3364992" cy="2267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783080"/>
            <a:ext cx="54864" cy="2267712"/>
          </a:xfrm>
          <a:prstGeom prst="rect">
            <a:avLst/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920240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FOLLOW THE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313432"/>
            <a:ext cx="301752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Live status and useful race updates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Clear provisional / official result labels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Winning horse and jockey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9884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Also keep help, account settings and betting history easy to find from the main navigation.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138928"/>
            <a:ext cx="10533888" cy="594360"/>
          </a:xfrm>
          <a:prstGeom prst="roundRect">
            <a:avLst>
              <a:gd name="adj" fmla="val 14000"/>
            </a:avLst>
          </a:prstGeom>
          <a:solidFill>
            <a:srgbClr val="F1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12664"/>
            <a:ext cx="10104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Demo note: the current experience uses play-money bets; race content and photos can be sample material.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A simple walkthrough for any audience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SHOW THE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664208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73936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76479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Start at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755648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Point out the featured race and bottom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478024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2587752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6090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578608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Choose a club and 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569464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Show the date rail, race status, and horse entries.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291840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401568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47472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392424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Build a practice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383280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Choose a game, select horses, review the cart and wager.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105656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215384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88536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0624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Follow race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197096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Live and explain where race updates appear.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4919472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5029200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102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020056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Close the race 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010912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Show results and open the winning horse / jockey profiles.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925312"/>
            <a:ext cx="98755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1">
                <a:solidFill>
                  <a:srgbClr val="718078"/>
                </a:solidFill>
                <a:latin typeface="Aptos"/>
              </a:rPr>
              <a:t>This order follows the way a race-day visitor naturally explores the system.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One clear journey from race discovery to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755648"/>
            <a:ext cx="10469880" cy="1874519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22576"/>
            <a:ext cx="987552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DISCOVER  →  CHOOSE  →  PLACE A PRACTICE BET  →  FOLLOW LIVE  →  SEE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992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D8E1DA"/>
                </a:solidFill>
                <a:latin typeface="Aptos"/>
              </a:rPr>
              <a:t>Then explore the winning horse, jockey and race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24528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A451"/>
                </a:solidFill>
                <a:latin typeface="Aptos"/>
              </a:rPr>
              <a:t>Discussion prompts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54296"/>
            <a:ext cx="73152" cy="7315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97840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Does each screen make the next action obvious?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47488"/>
            <a:ext cx="73152" cy="7315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65192"/>
            <a:ext cx="97840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Where should a visitor be able to return or change a choice?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40680"/>
            <a:ext cx="73152" cy="7315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58384"/>
            <a:ext cx="97840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What race-day information should be easiest to find?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Philippine Jockey — System Flow</dc:title>
  <dc:subject>User journeys, mobile screens, and race-day experience</dc:subject>
  <dc:creator>System overview</dc:creator>
  <cp:keywords>Philippine Jockey, system flow, mobile screens, race-day experience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