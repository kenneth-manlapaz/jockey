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C69F53"/>
                </a:solidFill>
                <a:latin typeface="Aptos"/>
              </a:rPr>
              <a:t>PHILIPPINE JOCKEY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955279" cy="1371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Product flows
&amp; page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132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DCE8E0"/>
                </a:solidFill>
                <a:latin typeface="Aptos"/>
              </a:rPr>
              <a:t>A walkthrough of the mobile app and web experience—from sign-in to race day, bets, results, and account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736592"/>
            <a:ext cx="3108960" cy="502920"/>
          </a:xfrm>
          <a:prstGeom prst="roundRect">
            <a:avLst>
              <a:gd name="adj" fmla="val 12000"/>
            </a:avLst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773168"/>
            <a:ext cx="2834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APP + WEB · DEMO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63056"/>
            <a:ext cx="8229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DCE8E0"/>
                </a:solidFill>
                <a:latin typeface="Aptos"/>
              </a:rPr>
              <a:t>Product overview · October 2026 · Currency: PHP (₱)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What the product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18488"/>
            <a:ext cx="32095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Discover 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93391"/>
            <a:ext cx="3209544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Browse race days, clubs, race cards, horses, jockeys, tips, and live race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6002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18488"/>
            <a:ext cx="32095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Place demo bets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93391"/>
            <a:ext cx="3209544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Choose a race and game, select runners, set a stake, review the ticket, and see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60020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618488"/>
            <a:ext cx="32095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Follow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93391"/>
            <a:ext cx="3209544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Check results, podiums, dividends, tickets, win notifications, favorites, and profile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697770"/>
                </a:solidFill>
                <a:latin typeface="Aptos"/>
              </a:rPr>
              <a:t>Designed as one racing experience across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3416807" cy="77724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050791"/>
            <a:ext cx="3270503" cy="6309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Expo 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2607" y="4169663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216" y="3977639"/>
            <a:ext cx="3416807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8368" y="4050791"/>
            <a:ext cx="3270503" cy="6309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0F3D30"/>
                </a:solidFill>
                <a:latin typeface="Aptos"/>
              </a:rPr>
              <a:t>Shared domain UI/data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2024" y="4169663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4632" y="3977639"/>
            <a:ext cx="3416807" cy="77724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7784" y="4050791"/>
            <a:ext cx="3270503" cy="6309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Next.js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B27538"/>
                </a:solidFill>
                <a:latin typeface="Aptos"/>
              </a:rPr>
              <a:t>Important: this repository is a frontend demo. It currently uses mock data and simulated wallet/betting behavior; no real money is accepted or paid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How people move through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181965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7862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1014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81965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Welcome / Sign in / 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9378" y="181965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1986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5138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Home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52120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27538"/>
                </a:solidFill>
                <a:latin typeface="Aptos"/>
              </a:rPr>
              <a:t>PRIMARY APP TABS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82112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91256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82112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Dashboard, live feature, today's races, shortcuts, My Bets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703320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Meeting calendar, clubs, filters, race cards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24528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33672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22452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Stream preview, updates, entries, totalizer, available games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45736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754879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745736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Official/provisional/cancelled result list and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66944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76088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266944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Demo balance, edit profile, history, favorites, notifications, settings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788920"/>
            <a:ext cx="489204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2788920"/>
            <a:ext cx="73152" cy="26517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2898648"/>
            <a:ext cx="45811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Shared secondary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3273552"/>
            <a:ext cx="4581144" cy="20848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Race detail and entries
Bet selection and cart
Review and confirmation
Ticket detail and betting history
Horse / jockey / club profiles
Games, guides, rewards, totalizer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1 · Account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Log in or sign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2120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201168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17296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Sign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47872"/>
            <a:ext cx="490118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Collects first name, last name, email, mobile, and password. The demo creates a client-side session and sample account.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063240"/>
            <a:ext cx="52120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63240"/>
            <a:ext cx="73152" cy="201168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17296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Sign in / sign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547872"/>
            <a:ext cx="490118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Sign in opens the app session. Profile offers log out. Auth routes are shared by mobile and web; current demo mode can bypass authentication.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97770"/>
                </a:solidFill>
                <a:latin typeface="Aptos"/>
              </a:rPr>
              <a:t>Routes: /splash · /(onboarding)/onboarding · /(auth)/welcome · /(auth)/login · /(auth)/signup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2 · Dashboard to race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Race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Choose date /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Race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Entries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73152" cy="201168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08152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Dashboard entry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456432"/>
            <a:ext cx="316382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Live race feature
Today's race cards
Promoted games
My Bets
Shortcuts to guides and utilities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97180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971800"/>
            <a:ext cx="73152" cy="201168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08152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Race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456432"/>
            <a:ext cx="316382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Pick a meeting date and racing club. Filter by race status or search. Tap a card to inspect the race.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97180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2971800"/>
            <a:ext cx="73152" cy="201168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308152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Race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456432"/>
            <a:ext cx="316382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See venue, race conditions, entries, participants, game markets, tips, and routes into betting.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697770"/>
                </a:solidFill>
                <a:latin typeface="Aptos"/>
              </a:rPr>
              <a:t>Routes: /(tabs)/index · /(tabs)/races · /race/[id] · /race/[id]/entries · /horse/[id] · /jockey/[id] · /club/[slug]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3 · Place a demo bet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2941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5549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8701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2691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5299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8451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Runner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2441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5049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8201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2190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4798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7950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1940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4548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7700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1690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4298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7450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Ticket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01752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017520"/>
            <a:ext cx="73152" cy="20574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12724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1 · 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502152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Choose a race and supported market (WIN, PLACE, FORECAST, TRIFECTA, and others). Select runner(s) and enter a stake.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01752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017520"/>
            <a:ext cx="73152" cy="20574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12724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2 ·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02152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Review the selection, stake, and ticket summary before submitting. This is a simulated play-money action.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01752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017520"/>
            <a:ext cx="73152" cy="205740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312724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3 ·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502152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The app shows a confirmation and ticket details; tickets can be revisited from My Bets / Betting History.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9496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97770"/>
                </a:solidFill>
                <a:latin typeface="Aptos"/>
              </a:rPr>
              <a:t>Routes: /selection/[id] · /bet-cart · /review · /bet-complete · /ticket/[id] · /betting-history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4 · Live race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Live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Stream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Live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Entries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Totalizer / games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1663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210312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Live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47872"/>
            <a:ext cx="4855464" cy="1536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The live tab shows the featured race, a stream preview, update link, race entries, totalizer, and available games. The included stream is demo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063240"/>
            <a:ext cx="51663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063240"/>
            <a:ext cx="73152" cy="210312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Pools and markets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547872"/>
            <a:ext cx="4855464" cy="1536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Totalizer pages show sample pool/dividend information. Games routes explain available bet types and can start a selection 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13248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697770"/>
                </a:solidFill>
                <a:latin typeface="Aptos"/>
              </a:rPr>
              <a:t>Routes: /(tabs)/live · /live/stream · /live/updates · /totalizer/[id] · /totalizer/pool/[id] · /totalizer/dividend/[id] · /games · /games/[id]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5 · Race result to winner notification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Results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Result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Match ticket to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Win notice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Profile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20574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Result 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47872"/>
            <a:ext cx="485546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Users can inspect official placements, podium, winning time, dividends, race summary, and horse/jockey profiles.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06324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063240"/>
            <a:ext cx="73152" cy="20574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Bet win 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547872"/>
            <a:ext cx="485546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When official results are compared with the user's saved tickets, the demo can create a notification describing a winning ticket and its simulated return.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97770"/>
                </a:solidFill>
                <a:latin typeface="Aptos"/>
              </a:rPr>
              <a:t>Routes: /(tabs)/results · /result/[id] · /notifications · /ticket/[id]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6 · Profile and account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1892808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7862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1014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Choose account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892808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Edit /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9378" y="1892808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1986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5138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Return to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73152" cy="11430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0815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F3D30"/>
                </a:solidFill>
                <a:latin typeface="Aptos"/>
              </a:rPr>
              <a:t>Balance &amp; withdrawal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4564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Displays a demo balance. Withdrawal is not processed.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9718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971800"/>
            <a:ext cx="73152" cy="11430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0815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C69F53"/>
                </a:solidFill>
                <a:latin typeface="Aptos"/>
              </a:rPr>
              <a:t>Betting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4564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View tickets and their current demo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718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971800"/>
            <a:ext cx="73152" cy="11430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0815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F3D30"/>
                </a:solidFill>
                <a:latin typeface="Aptos"/>
              </a:rPr>
              <a:t>Favorites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4564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Save and revisit horses or contenders.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434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343400"/>
            <a:ext cx="73152" cy="11430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4531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C69F53"/>
                </a:solidFill>
                <a:latin typeface="Aptos"/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8280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Review updates and simulated bet-win notices.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3434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343400"/>
            <a:ext cx="73152" cy="11430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44531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F3D30"/>
                </a:solidFill>
                <a:latin typeface="Aptos"/>
              </a:rPr>
              <a:t>Settings &amp; 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1" y="48280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Edit basic profile details and account preferences.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97880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697770"/>
                </a:solidFill>
                <a:latin typeface="Aptos"/>
              </a:rPr>
              <a:t>Routes: /(tabs)/profile · /withdraw · /edit-profile · /settings · /favorites · /betting-history · /notifications · /rewards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app · Page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73152" cy="128016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0F3D30"/>
                </a:solidFill>
                <a:latin typeface="Aptos"/>
              </a:rPr>
              <a:t>Entry &amp;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Splash · Onboarding · Welcome · Login · 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8132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81328"/>
            <a:ext cx="73152" cy="12801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9105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C69F53"/>
                </a:solidFill>
                <a:latin typeface="Aptos"/>
              </a:rPr>
              <a:t>Main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6596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Home · Races · Live · Results ·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9008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90088"/>
            <a:ext cx="73152" cy="128016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9981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C5645"/>
                </a:solidFill>
                <a:latin typeface="Aptos"/>
              </a:rPr>
              <a:t>Racing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7472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Race detail · Entries · Result detail · Horse profile/statistics · Jockey profile/statistics · Club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9008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90088"/>
            <a:ext cx="73152" cy="128016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09981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0F3D30"/>
                </a:solidFill>
                <a:latin typeface="Aptos"/>
              </a:rPr>
              <a:t>Betting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47472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Selection · Bet cart · Review · Bet complete · Ticket detail · Betting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9884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498848"/>
            <a:ext cx="73152" cy="12801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60857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C69F53"/>
                </a:solidFill>
                <a:latin typeface="Aptos"/>
              </a:rPr>
              <a:t>Live &amp; 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98348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Live updates · Stream · Games · Game detail · Racing guide · JockeyPH guide · Contender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9884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98848"/>
            <a:ext cx="73152" cy="128016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460857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C5645"/>
                </a:solidFill>
                <a:latin typeface="Aptos"/>
              </a:rPr>
              <a:t>Account &amp; pools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98348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Notifications · Settings · Edit profile · Rewards · Withdraw · Totalizer · Pool · Dividend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Web app · Page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353312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64207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391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Login · 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73152" cy="1353312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64207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Dashboard and 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391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Dashboard · Races · Race detail · Entries · Results · Result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73152" cy="1353312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6440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Betting and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6393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Selection · Bet cart · Review · Bet complete · Betting history · Live · Stream · Updates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353312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26440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Profile and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393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Profile · Edit profile · Settings · Notifications · Favorites · Rewards · Withdraw · Games · Guides · Totalizer · Horse/jockey/club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Web dashboard navigation includes Home, Races, Race Program &amp; Tips, JockeyPH Guide, Live, Results, and Profile. A mobile tab bar supports small screens.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Data, wallet, and integration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73152" cy="1874519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45919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Current demo seam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3163824" cy="13075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Screens call a shared API client. Mock mode provides local sample races, results, tickets, and profile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36192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36192"/>
            <a:ext cx="73152" cy="1874519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Demo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20824"/>
            <a:ext cx="3163824" cy="13075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Balance is sample UI state. Bet placement, winnings, and withdrawals do not move real funds or connect to a live ledger.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36192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36192"/>
            <a:ext cx="73152" cy="1874519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645919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Future Django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020824"/>
            <a:ext cx="3163824" cy="13075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A contract documents expected endpoints, but the backend must implement, secure, and connect persistence before data is database-backed.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 mock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5254" y="426110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7862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1014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API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7316" y="426110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9924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Django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9378" y="426110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1986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5138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Database + ledger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30368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B27538"/>
                </a:solidFill>
                <a:latin typeface="Aptos"/>
              </a:rPr>
              <a:t>A real wallet requires server-side balance and immutable transaction records, authenticated APIs, idempotent operations, and reconciliation. Do not trust client-side balance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The complete customer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294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5549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8701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Discover a 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269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5299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8451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Study runners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244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5049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8201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Place a demo 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219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4798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7950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Follow live 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194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4548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7700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Check official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169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4298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7450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Review ticket &amp; notice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246120"/>
            <a:ext cx="49834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246120"/>
            <a:ext cx="73152" cy="178308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355848"/>
            <a:ext cx="46725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User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730752"/>
            <a:ext cx="4672584" cy="12161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One connected journey links discovery, runner information, a bet ticket, race coverage, result detail, and follow-up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246120"/>
            <a:ext cx="49834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246120"/>
            <a:ext cx="73152" cy="178308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355848"/>
            <a:ext cx="46725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Product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730752"/>
            <a:ext cx="4672584" cy="12161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The current implementation demonstrates the experience with mock data and play-money values. Database persistence and real payment processing are future backend work.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0F3D30"/>
                </a:solidFill>
                <a:latin typeface="Aptos"/>
              </a:rPr>
              <a:t>Thank you · Philippine Jockey · App + Web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1–3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Splash</a:t>
            </a:r>
          </a:p>
        </p:txBody>
      </p:sp>
      <p:pic>
        <p:nvPicPr>
          <p:cNvPr id="8" name="Picture 7" descr="01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/splash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Onboarding</a:t>
            </a:r>
          </a:p>
        </p:txBody>
      </p:sp>
      <p:pic>
        <p:nvPicPr>
          <p:cNvPr id="11" name="Picture 10" descr="02-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Welcome</a:t>
            </a:r>
          </a:p>
        </p:txBody>
      </p:sp>
      <p:pic>
        <p:nvPicPr>
          <p:cNvPr id="14" name="Picture 13" descr="03-wel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/welcome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4–6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Login</a:t>
            </a:r>
          </a:p>
        </p:txBody>
      </p:sp>
      <p:pic>
        <p:nvPicPr>
          <p:cNvPr id="8" name="Picture 7" descr="04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Sign up</a:t>
            </a:r>
          </a:p>
        </p:txBody>
      </p:sp>
      <p:pic>
        <p:nvPicPr>
          <p:cNvPr id="11" name="Picture 10" descr="05-sign-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Home dashboard</a:t>
            </a:r>
          </a:p>
        </p:txBody>
      </p:sp>
      <p:pic>
        <p:nvPicPr>
          <p:cNvPr id="14" name="Picture 13" descr="06-home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7–9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Dashboard</a:t>
            </a:r>
          </a:p>
        </p:txBody>
      </p:sp>
      <p:pic>
        <p:nvPicPr>
          <p:cNvPr id="8" name="Picture 7" descr="06-hom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Races</a:t>
            </a:r>
          </a:p>
        </p:txBody>
      </p:sp>
      <p:pic>
        <p:nvPicPr>
          <p:cNvPr id="11" name="Picture 10" descr="08-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Live</a:t>
            </a:r>
          </a:p>
        </p:txBody>
      </p:sp>
      <p:pic>
        <p:nvPicPr>
          <p:cNvPr id="14" name="Picture 13" descr="09-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10–12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Results</a:t>
            </a:r>
          </a:p>
        </p:txBody>
      </p:sp>
      <p:pic>
        <p:nvPicPr>
          <p:cNvPr id="8" name="Picture 7" descr="10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Profile</a:t>
            </a:r>
          </a:p>
        </p:txBody>
      </p:sp>
      <p:pic>
        <p:nvPicPr>
          <p:cNvPr id="11" name="Picture 10" descr="11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Race detail</a:t>
            </a:r>
          </a:p>
        </p:txBody>
      </p:sp>
      <p:pic>
        <p:nvPicPr>
          <p:cNvPr id="14" name="Picture 13" descr="12-race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/race/race-1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13–15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Race entries</a:t>
            </a:r>
          </a:p>
        </p:txBody>
      </p:sp>
      <p:pic>
        <p:nvPicPr>
          <p:cNvPr id="8" name="Picture 7" descr="13-race-e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/race/race-1/entries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Race bet screen</a:t>
            </a:r>
          </a:p>
        </p:txBody>
      </p:sp>
      <p:pic>
        <p:nvPicPr>
          <p:cNvPr id="11" name="Picture 10" descr="14-race-bet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/race/race-1/bet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 selection</a:t>
            </a:r>
          </a:p>
        </p:txBody>
      </p:sp>
      <p:pic>
        <p:nvPicPr>
          <p:cNvPr id="14" name="Picture 13" descr="15-bet-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/selection/race-1?market=WIN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16–18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 cart</a:t>
            </a:r>
          </a:p>
        </p:txBody>
      </p:sp>
      <p:pic>
        <p:nvPicPr>
          <p:cNvPr id="8" name="Picture 7" descr="16-bet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/bet-cart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 review</a:t>
            </a:r>
          </a:p>
        </p:txBody>
      </p:sp>
      <p:pic>
        <p:nvPicPr>
          <p:cNvPr id="11" name="Picture 10" descr="17-bet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 confirmation</a:t>
            </a:r>
          </a:p>
        </p:txBody>
      </p:sp>
      <p:pic>
        <p:nvPicPr>
          <p:cNvPr id="14" name="Picture 13" descr="18-bet-confir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/bet-complete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19–21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Ticket detail</a:t>
            </a:r>
          </a:p>
        </p:txBody>
      </p:sp>
      <p:pic>
        <p:nvPicPr>
          <p:cNvPr id="8" name="Picture 7" descr="19-ticke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/ticket/PJA-DEMO-001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Betting history</a:t>
            </a:r>
          </a:p>
        </p:txBody>
      </p:sp>
      <p:pic>
        <p:nvPicPr>
          <p:cNvPr id="11" name="Picture 10" descr="20-betting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/betting-history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Result detail</a:t>
            </a:r>
          </a:p>
        </p:txBody>
      </p:sp>
      <p:pic>
        <p:nvPicPr>
          <p:cNvPr id="14" name="Picture 13" descr="21-result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/result/res-1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22–24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Notifications</a:t>
            </a:r>
          </a:p>
        </p:txBody>
      </p:sp>
      <p:pic>
        <p:nvPicPr>
          <p:cNvPr id="8" name="Picture 7" descr="22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Favorites</a:t>
            </a:r>
          </a:p>
        </p:txBody>
      </p:sp>
      <p:pic>
        <p:nvPicPr>
          <p:cNvPr id="11" name="Picture 10" descr="23-favor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/favorites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Horse profile</a:t>
            </a:r>
          </a:p>
        </p:txBody>
      </p:sp>
      <p:pic>
        <p:nvPicPr>
          <p:cNvPr id="14" name="Picture 13" descr="24-horse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/horse/r1?race=race-1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25–27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Horse statistics</a:t>
            </a:r>
          </a:p>
        </p:txBody>
      </p:sp>
      <p:pic>
        <p:nvPicPr>
          <p:cNvPr id="8" name="Picture 7" descr="25-horse-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/horse/r1/statistics?race=race-1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Jockey profile</a:t>
            </a:r>
          </a:p>
        </p:txBody>
      </p:sp>
      <p:pic>
        <p:nvPicPr>
          <p:cNvPr id="11" name="Picture 10" descr="26-jockey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/jockey/marco-de-leon?race=race-1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Jockey statistics</a:t>
            </a:r>
          </a:p>
        </p:txBody>
      </p:sp>
      <p:pic>
        <p:nvPicPr>
          <p:cNvPr id="14" name="Picture 13" descr="27-jockey-stati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/jockey/marco-de-leon/statistics?race=race-1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28–30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Club profile</a:t>
            </a:r>
          </a:p>
        </p:txBody>
      </p:sp>
      <p:pic>
        <p:nvPicPr>
          <p:cNvPr id="8" name="Picture 7" descr="28-club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/club/manila-turf-club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Live stream</a:t>
            </a:r>
          </a:p>
        </p:txBody>
      </p:sp>
      <p:pic>
        <p:nvPicPr>
          <p:cNvPr id="11" name="Picture 10" descr="29-live-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/live/stream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Live updates</a:t>
            </a:r>
          </a:p>
        </p:txBody>
      </p:sp>
      <p:pic>
        <p:nvPicPr>
          <p:cNvPr id="14" name="Picture 13" descr="30-live-upd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/live/updates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31–33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Games</a:t>
            </a:r>
          </a:p>
        </p:txBody>
      </p:sp>
      <p:pic>
        <p:nvPicPr>
          <p:cNvPr id="8" name="Picture 7" descr="31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/games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Game detail</a:t>
            </a:r>
          </a:p>
        </p:txBody>
      </p:sp>
      <p:pic>
        <p:nvPicPr>
          <p:cNvPr id="11" name="Picture 10" descr="32-gam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/games/win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Racing guide</a:t>
            </a:r>
          </a:p>
        </p:txBody>
      </p:sp>
      <p:pic>
        <p:nvPicPr>
          <p:cNvPr id="14" name="Picture 13" descr="33-racing-gu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/racing-guide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34–36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JockeyPH guide</a:t>
            </a:r>
          </a:p>
        </p:txBody>
      </p:sp>
      <p:pic>
        <p:nvPicPr>
          <p:cNvPr id="8" name="Picture 7" descr="34-jockeyph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/jockeyph-guide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Contender</a:t>
            </a:r>
          </a:p>
        </p:txBody>
      </p:sp>
      <p:pic>
        <p:nvPicPr>
          <p:cNvPr id="11" name="Picture 10" descr="35-cont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/contender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Rewards</a:t>
            </a:r>
          </a:p>
        </p:txBody>
      </p:sp>
      <p:pic>
        <p:nvPicPr>
          <p:cNvPr id="14" name="Picture 13" descr="36-rew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/rewards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37–39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Settings</a:t>
            </a:r>
          </a:p>
        </p:txBody>
      </p:sp>
      <p:pic>
        <p:nvPicPr>
          <p:cNvPr id="8" name="Picture 7" descr="37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Edit profile</a:t>
            </a:r>
          </a:p>
        </p:txBody>
      </p:sp>
      <p:pic>
        <p:nvPicPr>
          <p:cNvPr id="11" name="Picture 10" descr="38-edit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/edit-profile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Withdraw demo balance</a:t>
            </a:r>
          </a:p>
        </p:txBody>
      </p:sp>
      <p:pic>
        <p:nvPicPr>
          <p:cNvPr id="14" name="Picture 13" descr="39-withdraw-demo-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/withdraw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40–42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Totalizer</a:t>
            </a:r>
          </a:p>
        </p:txBody>
      </p:sp>
      <p:pic>
        <p:nvPicPr>
          <p:cNvPr id="8" name="Picture 7" descr="40-total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/totalizer/race-3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Pool detail</a:t>
            </a:r>
          </a:p>
        </p:txBody>
      </p:sp>
      <p:pic>
        <p:nvPicPr>
          <p:cNvPr id="11" name="Picture 10" descr="41-pool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72768"/>
            <a:ext cx="217627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717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/totalizer/pool/pool-win-r3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Dividend detail</a:t>
            </a:r>
          </a:p>
        </p:txBody>
      </p:sp>
      <p:pic>
        <p:nvPicPr>
          <p:cNvPr id="14" name="Picture 13" descr="42-dividend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72768"/>
            <a:ext cx="2176272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625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/totalizer/dividend/pool-place-r3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APPENDIX  /  MOBILE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screen gallery · pages 43–43 of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71016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Registration</a:t>
            </a:r>
          </a:p>
        </p:txBody>
      </p:sp>
      <p:pic>
        <p:nvPicPr>
          <p:cNvPr id="8" name="Picture 7" descr="05-sign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2768"/>
            <a:ext cx="2176272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309360"/>
            <a:ext cx="24688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700" b="0">
                <a:solidFill>
                  <a:srgbClr val="697770"/>
                </a:solidFill>
                <a:latin typeface="Aptos"/>
              </a:rPr>
              <a:t>/register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