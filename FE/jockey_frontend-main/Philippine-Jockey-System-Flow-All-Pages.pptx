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6" r:id="rId17"/>
    <p:sldId id="261" r:id="rId11"/>
    <p:sldId id="262" r:id="rId12"/>
    <p:sldId id="267" r:id="rId18"/>
    <p:sldId id="263" r:id="rId13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65" r:id="rId1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i0pEWZL4Lv1Rav5fm15KbvWrL2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customschemas.google.com/relationships/presentationmetadata" Target="metadata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D2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0A2D2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103B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8302752" y="274320"/>
            <a:ext cx="3017520" cy="6327648"/>
          </a:xfrm>
          <a:prstGeom prst="roundRect">
            <a:avLst>
              <a:gd fmla="val 14000" name="adj"/>
            </a:avLst>
          </a:prstGeom>
          <a:solidFill>
            <a:srgbClr val="0A2D2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bile-login.png"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4192" y="365760"/>
            <a:ext cx="2834640" cy="614476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/>
          <p:nvPr/>
        </p:nvSpPr>
        <p:spPr>
          <a:xfrm>
            <a:off x="621792" y="603504"/>
            <a:ext cx="91440" cy="329184"/>
          </a:xfrm>
          <a:prstGeom prst="rect">
            <a:avLst/>
          </a:prstGeom>
          <a:solidFill>
            <a:srgbClr val="C9A45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868680" y="621792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5D39B"/>
                </a:solidFill>
                <a:latin typeface="Arial"/>
                <a:ea typeface="Arial"/>
                <a:cs typeface="Arial"/>
                <a:sym typeface="Arial"/>
              </a:rPr>
              <a:t>PHILIPPINE JOCKEY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640080" y="1691640"/>
            <a:ext cx="57607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How the system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flows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676656" y="365760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DED8"/>
                </a:solidFill>
                <a:latin typeface="Arial"/>
                <a:ea typeface="Arial"/>
                <a:cs typeface="Arial"/>
                <a:sym typeface="Arial"/>
              </a:rPr>
              <a:t>A visual guide to the Philippine Jockey experience</a:t>
            </a:r>
            <a:endParaRPr/>
          </a:p>
        </p:txBody>
      </p:sp>
      <p:cxnSp>
        <p:nvCxnSpPr>
          <p:cNvPr id="92" name="Google Shape;92;p1"/>
          <p:cNvCxnSpPr/>
          <p:nvPr/>
        </p:nvCxnSpPr>
        <p:spPr>
          <a:xfrm>
            <a:off x="685800" y="4315968"/>
            <a:ext cx="4617720" cy="0"/>
          </a:xfrm>
          <a:prstGeom prst="straightConnector1">
            <a:avLst/>
          </a:prstGeom>
          <a:noFill/>
          <a:ln cap="flat" cmpd="sng" w="17775">
            <a:solidFill>
              <a:srgbClr val="C9A4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3" name="Google Shape;93;p1"/>
          <p:cNvSpPr txBox="1"/>
          <p:nvPr/>
        </p:nvSpPr>
        <p:spPr>
          <a:xfrm>
            <a:off x="685800" y="452628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2D0C8"/>
                </a:solidFill>
                <a:latin typeface="Arial"/>
                <a:ea typeface="Arial"/>
                <a:cs typeface="Arial"/>
                <a:sym typeface="Arial"/>
              </a:rPr>
              <a:t>Visual guide  |  16 October 2026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685800" y="6547104"/>
            <a:ext cx="7498079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AABCB2"/>
                </a:solidFill>
                <a:latin typeface="Arial"/>
                <a:ea typeface="Arial"/>
                <a:cs typeface="Arial"/>
                <a:sym typeface="Arial"/>
              </a:rPr>
              <a:t>PHILIPPINE JOCKEY  ·  SYSTEM OVERVIEW  ·  16 OCT 2026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SYSTEM FLOW MAP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3B2F"/>
                </a:solidFill>
                <a:latin typeface="Georgia"/>
                <a:ea typeface="Georgia"/>
                <a:cs typeface="Georgia"/>
                <a:sym typeface="Georgia"/>
              </a:rPr>
              <a:t>The full race-day journey</a:t>
            </a:r>
            <a:endParaRPr/>
          </a:p>
        </p:txBody>
      </p:sp>
      <p:cxnSp>
        <p:nvCxnSpPr>
          <p:cNvPr id="103" name="Google Shape;103;p2"/>
          <p:cNvCxnSpPr/>
          <p:nvPr/>
        </p:nvCxnSpPr>
        <p:spPr>
          <a:xfrm>
            <a:off x="566928" y="1243584"/>
            <a:ext cx="11064240" cy="0"/>
          </a:xfrm>
          <a:prstGeom prst="straightConnector1">
            <a:avLst/>
          </a:prstGeom>
          <a:noFill/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4" name="Google Shape;104;p2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PHILIPPINE JOCKEY  ·  SYSTEM OVERVIEW  ·  16 OCT 2026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HOW IT ALL CONNECTS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658368" y="1828800"/>
            <a:ext cx="1947672" cy="1572768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768096" y="1975104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01 · DISCOVER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768096" y="228600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Home → Races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768096" y="2761488"/>
            <a:ext cx="1737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Find a featured race or open the schedule.</a:t>
            </a:r>
            <a:endParaRPr/>
          </a:p>
        </p:txBody>
      </p:sp>
      <p:cxnSp>
        <p:nvCxnSpPr>
          <p:cNvPr id="111" name="Google Shape;111;p2"/>
          <p:cNvCxnSpPr/>
          <p:nvPr/>
        </p:nvCxnSpPr>
        <p:spPr>
          <a:xfrm>
            <a:off x="2624328" y="2596896"/>
            <a:ext cx="301752" cy="0"/>
          </a:xfrm>
          <a:prstGeom prst="straightConnector1">
            <a:avLst/>
          </a:prstGeom>
          <a:noFill/>
          <a:ln cap="flat" cmpd="sng" w="19050">
            <a:solidFill>
              <a:srgbClr val="C9A4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2" name="Google Shape;112;p2"/>
          <p:cNvSpPr/>
          <p:nvPr/>
        </p:nvSpPr>
        <p:spPr>
          <a:xfrm>
            <a:off x="2971800" y="1828800"/>
            <a:ext cx="1947672" cy="1572768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3081528" y="1975104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02 · CHOOSE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3081528" y="228600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Club → Date → Race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3081528" y="2761488"/>
            <a:ext cx="1737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Choose where and when to race; open entries.</a:t>
            </a:r>
            <a:endParaRPr/>
          </a:p>
        </p:txBody>
      </p:sp>
      <p:cxnSp>
        <p:nvCxnSpPr>
          <p:cNvPr id="116" name="Google Shape;116;p2"/>
          <p:cNvCxnSpPr/>
          <p:nvPr/>
        </p:nvCxnSpPr>
        <p:spPr>
          <a:xfrm>
            <a:off x="4937760" y="2596896"/>
            <a:ext cx="301752" cy="0"/>
          </a:xfrm>
          <a:prstGeom prst="straightConnector1">
            <a:avLst/>
          </a:prstGeom>
          <a:noFill/>
          <a:ln cap="flat" cmpd="sng" w="19050">
            <a:solidFill>
              <a:srgbClr val="C9A4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7" name="Google Shape;117;p2"/>
          <p:cNvSpPr/>
          <p:nvPr/>
        </p:nvSpPr>
        <p:spPr>
          <a:xfrm>
            <a:off x="5285231" y="1828800"/>
            <a:ext cx="1947672" cy="1572768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5394959" y="1975104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03 · PREPARE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5394959" y="228600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Games → Selections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5394959" y="2761488"/>
            <a:ext cx="1737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Learn the game and select horse(s).</a:t>
            </a:r>
            <a:endParaRPr/>
          </a:p>
        </p:txBody>
      </p:sp>
      <p:cxnSp>
        <p:nvCxnSpPr>
          <p:cNvPr id="121" name="Google Shape;121;p2"/>
          <p:cNvCxnSpPr/>
          <p:nvPr/>
        </p:nvCxnSpPr>
        <p:spPr>
          <a:xfrm>
            <a:off x="7251192" y="2596896"/>
            <a:ext cx="301752" cy="0"/>
          </a:xfrm>
          <a:prstGeom prst="straightConnector1">
            <a:avLst/>
          </a:prstGeom>
          <a:noFill/>
          <a:ln cap="flat" cmpd="sng" w="19050">
            <a:solidFill>
              <a:srgbClr val="C9A4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22" name="Google Shape;122;p2"/>
          <p:cNvSpPr/>
          <p:nvPr/>
        </p:nvSpPr>
        <p:spPr>
          <a:xfrm>
            <a:off x="7598664" y="1828800"/>
            <a:ext cx="1947672" cy="1572768"/>
          </a:xfrm>
          <a:prstGeom prst="roundRect">
            <a:avLst>
              <a:gd fmla="val 14000" name="adj"/>
            </a:avLst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7708392" y="1975104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04 · TAKE PART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7708392" y="2286000"/>
            <a:ext cx="17373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00" u="none" cap="none" strike="noStrike">
                <a:solidFill>
                  <a:schemeClr val="dk1"/>
                </a:solidFill>
              </a:rPr>
              <a:t>Cart → Review → Ticket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7708392" y="2761488"/>
            <a:ext cx="17373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Check selections, set wager, confirm.</a:t>
            </a:r>
            <a:endParaRPr>
              <a:solidFill>
                <a:srgbClr val="888888"/>
              </a:solidFill>
            </a:endParaRPr>
          </a:p>
        </p:txBody>
      </p:sp>
      <p:cxnSp>
        <p:nvCxnSpPr>
          <p:cNvPr id="126" name="Google Shape;126;p2"/>
          <p:cNvCxnSpPr/>
          <p:nvPr/>
        </p:nvCxnSpPr>
        <p:spPr>
          <a:xfrm>
            <a:off x="9564624" y="2596896"/>
            <a:ext cx="301752" cy="0"/>
          </a:xfrm>
          <a:prstGeom prst="straightConnector1">
            <a:avLst/>
          </a:prstGeom>
          <a:noFill/>
          <a:ln cap="flat" cmpd="sng" w="19050">
            <a:solidFill>
              <a:srgbClr val="C9A4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27" name="Google Shape;127;p2"/>
          <p:cNvSpPr/>
          <p:nvPr/>
        </p:nvSpPr>
        <p:spPr>
          <a:xfrm>
            <a:off x="9912096" y="1828800"/>
            <a:ext cx="1947672" cy="1572768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10021824" y="1975104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05 · FOLLOW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10021824" y="228600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Live → Results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10021824" y="2761488"/>
            <a:ext cx="1737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Follow race updates, then see official placings.</a:t>
            </a:r>
            <a:endParaRPr/>
          </a:p>
        </p:txBody>
      </p:sp>
      <p:sp>
        <p:nvSpPr>
          <p:cNvPr id="131" name="Google Shape;131;p2"/>
          <p:cNvSpPr/>
          <p:nvPr/>
        </p:nvSpPr>
        <p:spPr>
          <a:xfrm>
            <a:off x="749808" y="4041648"/>
            <a:ext cx="3273552" cy="1152144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749808" y="4041648"/>
            <a:ext cx="54864" cy="1152144"/>
          </a:xfrm>
          <a:prstGeom prst="rect">
            <a:avLst/>
          </a:prstGeom>
          <a:solidFill>
            <a:srgbClr val="103B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932688" y="4178808"/>
            <a:ext cx="2944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Before the race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932688" y="4572000"/>
            <a:ext cx="2926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D2924"/>
                </a:solidFill>
                <a:latin typeface="Arial"/>
                <a:ea typeface="Arial"/>
                <a:cs typeface="Arial"/>
                <a:sym typeface="Arial"/>
              </a:rPr>
              <a:t>Race schedule · entries · game guide · bet review</a:t>
            </a:r>
            <a:endParaRPr/>
          </a:p>
        </p:txBody>
      </p:sp>
      <p:sp>
        <p:nvSpPr>
          <p:cNvPr id="135" name="Google Shape;135;p2"/>
          <p:cNvSpPr/>
          <p:nvPr/>
        </p:nvSpPr>
        <p:spPr>
          <a:xfrm>
            <a:off x="4443984" y="4041648"/>
            <a:ext cx="3273552" cy="1152144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4443984" y="4041648"/>
            <a:ext cx="54864" cy="1152144"/>
          </a:xfrm>
          <a:prstGeom prst="rect">
            <a:avLst/>
          </a:prstGeom>
          <a:solidFill>
            <a:srgbClr val="C9A45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4626864" y="4178808"/>
            <a:ext cx="2944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During the race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4626864" y="4572000"/>
            <a:ext cx="2926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D2924"/>
                </a:solidFill>
                <a:latin typeface="Arial"/>
                <a:ea typeface="Arial"/>
                <a:cs typeface="Arial"/>
                <a:sym typeface="Arial"/>
              </a:rPr>
              <a:t>Live center · video area · race updates</a:t>
            </a: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8138160" y="4041648"/>
            <a:ext cx="3273552" cy="1152144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8138160" y="4041648"/>
            <a:ext cx="54864" cy="1152144"/>
          </a:xfrm>
          <a:prstGeom prst="rect">
            <a:avLst/>
          </a:prstGeom>
          <a:solidFill>
            <a:srgbClr val="547A9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8321040" y="4178808"/>
            <a:ext cx="2944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After the race</a:t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8321040" y="4572000"/>
            <a:ext cx="2926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D2924"/>
                </a:solidFill>
                <a:latin typeface="Arial"/>
                <a:ea typeface="Arial"/>
                <a:cs typeface="Arial"/>
                <a:sym typeface="Arial"/>
              </a:rPr>
              <a:t>Results · winning horse · winning jockey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804672" y="5559552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Profile, settings, favorites and betting history remain available as supporting destinations.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PRODUCT FLOW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3B2F"/>
                </a:solidFill>
                <a:latin typeface="Georgia"/>
                <a:ea typeface="Georgia"/>
                <a:cs typeface="Georgia"/>
                <a:sym typeface="Georgia"/>
              </a:rPr>
              <a:t>The customer journey at a glance</a:t>
            </a:r>
            <a:endParaRPr/>
          </a:p>
        </p:txBody>
      </p:sp>
      <p:cxnSp>
        <p:nvCxnSpPr>
          <p:cNvPr id="151" name="Google Shape;151;p3"/>
          <p:cNvCxnSpPr/>
          <p:nvPr/>
        </p:nvCxnSpPr>
        <p:spPr>
          <a:xfrm>
            <a:off x="566928" y="1243584"/>
            <a:ext cx="11064240" cy="0"/>
          </a:xfrm>
          <a:prstGeom prst="straightConnector1">
            <a:avLst/>
          </a:prstGeom>
          <a:noFill/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2" name="Google Shape;152;p3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PHILIPPINE JOCKEY  ·  SYSTEM OVERVIEW  ·  16 OCT 2026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EXPERIENCE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658368" y="1828800"/>
            <a:ext cx="2039112" cy="1847088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822959" y="1993392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57" name="Google Shape;157;p3"/>
          <p:cNvSpPr txBox="1"/>
          <p:nvPr/>
        </p:nvSpPr>
        <p:spPr>
          <a:xfrm>
            <a:off x="822959" y="23317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</p:txBody>
      </p:sp>
      <p:sp>
        <p:nvSpPr>
          <p:cNvPr id="158" name="Google Shape;158;p3"/>
          <p:cNvSpPr txBox="1"/>
          <p:nvPr/>
        </p:nvSpPr>
        <p:spPr>
          <a:xfrm>
            <a:off x="822959" y="2724912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Discover today's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meeting and featured race</a:t>
            </a:r>
            <a:endParaRPr/>
          </a:p>
        </p:txBody>
      </p:sp>
      <p:cxnSp>
        <p:nvCxnSpPr>
          <p:cNvPr id="159" name="Google Shape;159;p3"/>
          <p:cNvCxnSpPr/>
          <p:nvPr/>
        </p:nvCxnSpPr>
        <p:spPr>
          <a:xfrm>
            <a:off x="2715768" y="2743200"/>
            <a:ext cx="219456" cy="0"/>
          </a:xfrm>
          <a:prstGeom prst="straightConnector1">
            <a:avLst/>
          </a:prstGeom>
          <a:noFill/>
          <a:ln cap="flat" cmpd="sng" w="19050">
            <a:solidFill>
              <a:srgbClr val="C9A4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0" name="Google Shape;160;p3"/>
          <p:cNvSpPr/>
          <p:nvPr/>
        </p:nvSpPr>
        <p:spPr>
          <a:xfrm>
            <a:off x="2962656" y="1828800"/>
            <a:ext cx="2039112" cy="1847088"/>
          </a:xfrm>
          <a:prstGeom prst="roundRect">
            <a:avLst>
              <a:gd fmla="val 14000" name="adj"/>
            </a:avLst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3127248" y="1993392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62" name="Google Shape;162;p3"/>
          <p:cNvSpPr txBox="1"/>
          <p:nvPr/>
        </p:nvSpPr>
        <p:spPr>
          <a:xfrm>
            <a:off x="3127248" y="2331720"/>
            <a:ext cx="17373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RACES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3127248" y="2724912"/>
            <a:ext cx="17373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Choose club / date,</a:t>
            </a:r>
            <a:endParaRPr>
              <a:solidFill>
                <a:srgbClr val="888888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open a race and entries</a:t>
            </a:r>
            <a:endParaRPr>
              <a:solidFill>
                <a:srgbClr val="888888"/>
              </a:solidFill>
            </a:endParaRPr>
          </a:p>
        </p:txBody>
      </p:sp>
      <p:cxnSp>
        <p:nvCxnSpPr>
          <p:cNvPr id="164" name="Google Shape;164;p3"/>
          <p:cNvCxnSpPr/>
          <p:nvPr/>
        </p:nvCxnSpPr>
        <p:spPr>
          <a:xfrm>
            <a:off x="5020056" y="2743200"/>
            <a:ext cx="219456" cy="0"/>
          </a:xfrm>
          <a:prstGeom prst="straightConnector1">
            <a:avLst/>
          </a:prstGeom>
          <a:noFill/>
          <a:ln cap="flat" cmpd="sng" w="19050">
            <a:solidFill>
              <a:srgbClr val="C9A4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5" name="Google Shape;165;p3"/>
          <p:cNvSpPr/>
          <p:nvPr/>
        </p:nvSpPr>
        <p:spPr>
          <a:xfrm>
            <a:off x="5266944" y="1828800"/>
            <a:ext cx="2039112" cy="1847088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5431536" y="1993392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67" name="Google Shape;167;p3"/>
          <p:cNvSpPr txBox="1"/>
          <p:nvPr/>
        </p:nvSpPr>
        <p:spPr>
          <a:xfrm>
            <a:off x="5431536" y="23317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LIVE</a:t>
            </a:r>
            <a:endParaRPr/>
          </a:p>
        </p:txBody>
      </p:sp>
      <p:sp>
        <p:nvSpPr>
          <p:cNvPr id="168" name="Google Shape;168;p3"/>
          <p:cNvSpPr txBox="1"/>
          <p:nvPr/>
        </p:nvSpPr>
        <p:spPr>
          <a:xfrm>
            <a:off x="5431536" y="2724912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Watch the stream and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follow race updates</a:t>
            </a:r>
            <a:endParaRPr/>
          </a:p>
        </p:txBody>
      </p:sp>
      <p:cxnSp>
        <p:nvCxnSpPr>
          <p:cNvPr id="169" name="Google Shape;169;p3"/>
          <p:cNvCxnSpPr/>
          <p:nvPr/>
        </p:nvCxnSpPr>
        <p:spPr>
          <a:xfrm>
            <a:off x="7324344" y="2743200"/>
            <a:ext cx="219456" cy="0"/>
          </a:xfrm>
          <a:prstGeom prst="straightConnector1">
            <a:avLst/>
          </a:prstGeom>
          <a:noFill/>
          <a:ln cap="flat" cmpd="sng" w="19050">
            <a:solidFill>
              <a:srgbClr val="C9A4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0" name="Google Shape;170;p3"/>
          <p:cNvSpPr/>
          <p:nvPr/>
        </p:nvSpPr>
        <p:spPr>
          <a:xfrm>
            <a:off x="7571232" y="1828800"/>
            <a:ext cx="2039112" cy="1847088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 txBox="1"/>
          <p:nvPr/>
        </p:nvSpPr>
        <p:spPr>
          <a:xfrm>
            <a:off x="7735824" y="1993392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72" name="Google Shape;172;p3"/>
          <p:cNvSpPr txBox="1"/>
          <p:nvPr/>
        </p:nvSpPr>
        <p:spPr>
          <a:xfrm>
            <a:off x="7735824" y="23317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/>
          </a:p>
        </p:txBody>
      </p:sp>
      <p:sp>
        <p:nvSpPr>
          <p:cNvPr id="173" name="Google Shape;173;p3"/>
          <p:cNvSpPr txBox="1"/>
          <p:nvPr/>
        </p:nvSpPr>
        <p:spPr>
          <a:xfrm>
            <a:off x="7735824" y="2724912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Review official placings,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then contender profiles</a:t>
            </a:r>
            <a:endParaRPr/>
          </a:p>
        </p:txBody>
      </p:sp>
      <p:cxnSp>
        <p:nvCxnSpPr>
          <p:cNvPr id="174" name="Google Shape;174;p3"/>
          <p:cNvCxnSpPr/>
          <p:nvPr/>
        </p:nvCxnSpPr>
        <p:spPr>
          <a:xfrm>
            <a:off x="9628632" y="2743200"/>
            <a:ext cx="219456" cy="0"/>
          </a:xfrm>
          <a:prstGeom prst="straightConnector1">
            <a:avLst/>
          </a:prstGeom>
          <a:noFill/>
          <a:ln cap="flat" cmpd="sng" w="19050">
            <a:solidFill>
              <a:srgbClr val="C9A4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5" name="Google Shape;175;p3"/>
          <p:cNvSpPr/>
          <p:nvPr/>
        </p:nvSpPr>
        <p:spPr>
          <a:xfrm>
            <a:off x="9875520" y="1828800"/>
            <a:ext cx="2039112" cy="1847088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10040112" y="1993392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77" name="Google Shape;177;p3"/>
          <p:cNvSpPr txBox="1"/>
          <p:nvPr/>
        </p:nvSpPr>
        <p:spPr>
          <a:xfrm>
            <a:off x="10040112" y="23317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PROFILE</a:t>
            </a:r>
            <a:endParaRPr/>
          </a:p>
        </p:txBody>
      </p:sp>
      <p:sp>
        <p:nvSpPr>
          <p:cNvPr id="178" name="Google Shape;178;p3"/>
          <p:cNvSpPr txBox="1"/>
          <p:nvPr/>
        </p:nvSpPr>
        <p:spPr>
          <a:xfrm>
            <a:off x="10040112" y="2724912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Manage preferences,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favorites and account</a:t>
            </a:r>
            <a:endParaRPr/>
          </a:p>
        </p:txBody>
      </p:sp>
      <p:sp>
        <p:nvSpPr>
          <p:cNvPr id="179" name="Google Shape;179;p3"/>
          <p:cNvSpPr txBox="1"/>
          <p:nvPr/>
        </p:nvSpPr>
        <p:spPr>
          <a:xfrm>
            <a:off x="685800" y="416052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Shared navigation</a:t>
            </a:r>
            <a:endParaRPr/>
          </a:p>
        </p:txBody>
      </p:sp>
      <p:sp>
        <p:nvSpPr>
          <p:cNvPr id="180" name="Google Shape;180;p3"/>
          <p:cNvSpPr txBox="1"/>
          <p:nvPr/>
        </p:nvSpPr>
        <p:spPr>
          <a:xfrm>
            <a:off x="685800" y="44988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D2924"/>
                </a:solidFill>
                <a:latin typeface="Arial"/>
                <a:ea typeface="Arial"/>
                <a:cs typeface="Arial"/>
                <a:sym typeface="Arial"/>
              </a:rPr>
              <a:t>Mobile tab bar: Home · Races · Live · Results · Profile</a:t>
            </a:r>
            <a:endParaRPr/>
          </a:p>
        </p:txBody>
      </p:sp>
      <p:sp>
        <p:nvSpPr>
          <p:cNvPr id="181" name="Google Shape;181;p3"/>
          <p:cNvSpPr/>
          <p:nvPr/>
        </p:nvSpPr>
        <p:spPr>
          <a:xfrm>
            <a:off x="7204911" y="4069080"/>
            <a:ext cx="4572000" cy="11430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7204911" y="4069080"/>
            <a:ext cx="54900" cy="1143000"/>
          </a:xfrm>
          <a:prstGeom prst="rect">
            <a:avLst/>
          </a:prstGeom>
          <a:solidFill>
            <a:srgbClr val="C9A45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7387791" y="4206240"/>
            <a:ext cx="42429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Supporting destinations</a:t>
            </a:r>
            <a:endParaRPr/>
          </a:p>
        </p:txBody>
      </p:sp>
      <p:sp>
        <p:nvSpPr>
          <p:cNvPr id="184" name="Google Shape;184;p3"/>
          <p:cNvSpPr txBox="1"/>
          <p:nvPr/>
        </p:nvSpPr>
        <p:spPr>
          <a:xfrm>
            <a:off x="7387791" y="4599432"/>
            <a:ext cx="4224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D2924"/>
                </a:solidFill>
                <a:latin typeface="Arial"/>
                <a:ea typeface="Arial"/>
                <a:cs typeface="Arial"/>
                <a:sym typeface="Arial"/>
              </a:rPr>
              <a:t>Games &amp; Guide · Totalizer · Betting history · Favorites · Notifications · Settings</a:t>
            </a:r>
            <a:endParaRPr/>
          </a:p>
        </p:txBody>
      </p:sp>
      <p:sp>
        <p:nvSpPr>
          <p:cNvPr id="185" name="Google Shape;185;p3"/>
          <p:cNvSpPr txBox="1"/>
          <p:nvPr/>
        </p:nvSpPr>
        <p:spPr>
          <a:xfrm>
            <a:off x="685800" y="5760720"/>
            <a:ext cx="10058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The five main destinations stay within reach through the mobile navigation.</a:t>
            </a:r>
            <a:endParaRPr/>
          </a:p>
        </p:txBody>
      </p:sp>
      <p:pic>
        <p:nvPicPr>
          <p:cNvPr descr="mobile-dashboard.png" id="186" name="Google Shape;186;p3"/>
          <p:cNvPicPr preferRelativeResize="0"/>
          <p:nvPr/>
        </p:nvPicPr>
        <p:blipFill rotWithShape="1">
          <a:blip r:embed="rId3">
            <a:alphaModFix/>
          </a:blip>
          <a:srcRect b="0" l="0" r="0" t="92967"/>
          <a:stretch/>
        </p:blipFill>
        <p:spPr>
          <a:xfrm>
            <a:off x="7204901" y="5476261"/>
            <a:ext cx="4572000" cy="696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PLACE A BET</a:t>
            </a:r>
            <a:endParaRPr/>
          </a:p>
        </p:txBody>
      </p:sp>
      <p:sp>
        <p:nvSpPr>
          <p:cNvPr id="193" name="Google Shape;193;p4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3B2F"/>
                </a:solidFill>
                <a:latin typeface="Georgia"/>
                <a:ea typeface="Georgia"/>
                <a:cs typeface="Georgia"/>
                <a:sym typeface="Georgia"/>
              </a:rPr>
              <a:t>Betting flow · from race discovery to ticket</a:t>
            </a:r>
            <a:endParaRPr/>
          </a:p>
        </p:txBody>
      </p:sp>
      <p:cxnSp>
        <p:nvCxnSpPr>
          <p:cNvPr id="194" name="Google Shape;194;p4"/>
          <p:cNvCxnSpPr/>
          <p:nvPr/>
        </p:nvCxnSpPr>
        <p:spPr>
          <a:xfrm>
            <a:off x="566928" y="1243584"/>
            <a:ext cx="11064240" cy="0"/>
          </a:xfrm>
          <a:prstGeom prst="straightConnector1">
            <a:avLst/>
          </a:prstGeom>
          <a:noFill/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5" name="Google Shape;195;p4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PHILIPPINE JOCKEY  ·  SYSTEM OVERVIEW  ·  16 OCT 2026</a:t>
            </a:r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BETTING</a:t>
            </a:r>
            <a:endParaRPr/>
          </a:p>
        </p:txBody>
      </p:sp>
      <p:sp>
        <p:nvSpPr>
          <p:cNvPr id="197" name="Google Shape;197;p4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658368" y="1645920"/>
            <a:ext cx="3273552" cy="1389888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822959" y="1810512"/>
            <a:ext cx="384048" cy="384048"/>
          </a:xfrm>
          <a:prstGeom prst="roundRect">
            <a:avLst>
              <a:gd fmla="val 14000" name="adj"/>
            </a:avLst>
          </a:prstGeom>
          <a:solidFill>
            <a:srgbClr val="103B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 txBox="1"/>
          <p:nvPr/>
        </p:nvSpPr>
        <p:spPr>
          <a:xfrm>
            <a:off x="822959" y="1865376"/>
            <a:ext cx="384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01" name="Google Shape;201;p4"/>
          <p:cNvSpPr txBox="1"/>
          <p:nvPr/>
        </p:nvSpPr>
        <p:spPr>
          <a:xfrm>
            <a:off x="1344168" y="181051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Pick a club / race</a:t>
            </a:r>
            <a:endParaRPr/>
          </a:p>
        </p:txBody>
      </p:sp>
      <p:sp>
        <p:nvSpPr>
          <p:cNvPr id="202" name="Google Shape;202;p4"/>
          <p:cNvSpPr txBox="1"/>
          <p:nvPr/>
        </p:nvSpPr>
        <p:spPr>
          <a:xfrm>
            <a:off x="1344168" y="2167128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Browse meeting dates, clubs, race cards, and entries.</a:t>
            </a:r>
            <a:endParaRPr/>
          </a:p>
        </p:txBody>
      </p:sp>
      <p:cxnSp>
        <p:nvCxnSpPr>
          <p:cNvPr id="203" name="Google Shape;203;p4"/>
          <p:cNvCxnSpPr/>
          <p:nvPr/>
        </p:nvCxnSpPr>
        <p:spPr>
          <a:xfrm>
            <a:off x="3959352" y="2331720"/>
            <a:ext cx="320040" cy="0"/>
          </a:xfrm>
          <a:prstGeom prst="straightConnector1">
            <a:avLst/>
          </a:prstGeom>
          <a:noFill/>
          <a:ln cap="flat" cmpd="sng" w="17775">
            <a:solidFill>
              <a:srgbClr val="C9A4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4" name="Google Shape;204;p4"/>
          <p:cNvSpPr/>
          <p:nvPr/>
        </p:nvSpPr>
        <p:spPr>
          <a:xfrm>
            <a:off x="4370832" y="1645920"/>
            <a:ext cx="3273552" cy="1389888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4535424" y="1810512"/>
            <a:ext cx="384048" cy="384048"/>
          </a:xfrm>
          <a:prstGeom prst="roundRect">
            <a:avLst>
              <a:gd fmla="val 14000" name="adj"/>
            </a:avLst>
          </a:prstGeom>
          <a:solidFill>
            <a:srgbClr val="103B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 txBox="1"/>
          <p:nvPr/>
        </p:nvSpPr>
        <p:spPr>
          <a:xfrm>
            <a:off x="4535424" y="1865376"/>
            <a:ext cx="384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07" name="Google Shape;207;p4"/>
          <p:cNvSpPr txBox="1"/>
          <p:nvPr/>
        </p:nvSpPr>
        <p:spPr>
          <a:xfrm>
            <a:off x="5056632" y="181051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Pick a game</a:t>
            </a:r>
            <a:endParaRPr/>
          </a:p>
        </p:txBody>
      </p:sp>
      <p:sp>
        <p:nvSpPr>
          <p:cNvPr id="208" name="Google Shape;208;p4"/>
          <p:cNvSpPr txBox="1"/>
          <p:nvPr/>
        </p:nvSpPr>
        <p:spPr>
          <a:xfrm>
            <a:off x="5056632" y="2167128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WIN · PLACE · FORECAST · TRIFECTA and supported game rules.</a:t>
            </a:r>
            <a:endParaRPr/>
          </a:p>
        </p:txBody>
      </p:sp>
      <p:cxnSp>
        <p:nvCxnSpPr>
          <p:cNvPr id="209" name="Google Shape;209;p4"/>
          <p:cNvCxnSpPr/>
          <p:nvPr/>
        </p:nvCxnSpPr>
        <p:spPr>
          <a:xfrm>
            <a:off x="7671816" y="2331720"/>
            <a:ext cx="320040" cy="0"/>
          </a:xfrm>
          <a:prstGeom prst="straightConnector1">
            <a:avLst/>
          </a:prstGeom>
          <a:noFill/>
          <a:ln cap="flat" cmpd="sng" w="17775">
            <a:solidFill>
              <a:srgbClr val="C9A4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0" name="Google Shape;210;p4"/>
          <p:cNvSpPr/>
          <p:nvPr/>
        </p:nvSpPr>
        <p:spPr>
          <a:xfrm>
            <a:off x="8083296" y="1645920"/>
            <a:ext cx="3273552" cy="1389888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8247888" y="1810512"/>
            <a:ext cx="384048" cy="384048"/>
          </a:xfrm>
          <a:prstGeom prst="roundRect">
            <a:avLst>
              <a:gd fmla="val 14000" name="adj"/>
            </a:avLst>
          </a:prstGeom>
          <a:solidFill>
            <a:srgbClr val="103B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 txBox="1"/>
          <p:nvPr/>
        </p:nvSpPr>
        <p:spPr>
          <a:xfrm>
            <a:off x="8247888" y="1865376"/>
            <a:ext cx="384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13" name="Google Shape;213;p4"/>
          <p:cNvSpPr txBox="1"/>
          <p:nvPr/>
        </p:nvSpPr>
        <p:spPr>
          <a:xfrm>
            <a:off x="8769096" y="181051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Pick runner(s)</a:t>
            </a:r>
            <a:endParaRPr/>
          </a:p>
        </p:txBody>
      </p:sp>
      <p:sp>
        <p:nvSpPr>
          <p:cNvPr id="214" name="Google Shape;214;p4"/>
          <p:cNvSpPr txBox="1"/>
          <p:nvPr/>
        </p:nvSpPr>
        <p:spPr>
          <a:xfrm>
            <a:off x="8769096" y="2167128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Selection count follows the game requirement; review odds snapshot.</a:t>
            </a:r>
            <a:endParaRPr/>
          </a:p>
        </p:txBody>
      </p:sp>
      <p:cxnSp>
        <p:nvCxnSpPr>
          <p:cNvPr id="215" name="Google Shape;215;p4"/>
          <p:cNvCxnSpPr/>
          <p:nvPr/>
        </p:nvCxnSpPr>
        <p:spPr>
          <a:xfrm>
            <a:off x="9720072" y="3063240"/>
            <a:ext cx="0" cy="548640"/>
          </a:xfrm>
          <a:prstGeom prst="straightConnector1">
            <a:avLst/>
          </a:prstGeom>
          <a:noFill/>
          <a:ln cap="flat" cmpd="sng" w="17775">
            <a:solidFill>
              <a:srgbClr val="C9A4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6" name="Google Shape;216;p4"/>
          <p:cNvSpPr/>
          <p:nvPr/>
        </p:nvSpPr>
        <p:spPr>
          <a:xfrm>
            <a:off x="8083296" y="3703320"/>
            <a:ext cx="3273552" cy="1389888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8247888" y="3867911"/>
            <a:ext cx="384048" cy="384048"/>
          </a:xfrm>
          <a:prstGeom prst="roundRect">
            <a:avLst>
              <a:gd fmla="val 14000" name="adj"/>
            </a:avLst>
          </a:prstGeom>
          <a:solidFill>
            <a:srgbClr val="103B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"/>
          <p:cNvSpPr txBox="1"/>
          <p:nvPr/>
        </p:nvSpPr>
        <p:spPr>
          <a:xfrm>
            <a:off x="8247888" y="3922776"/>
            <a:ext cx="384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19" name="Google Shape;219;p4"/>
          <p:cNvSpPr txBox="1"/>
          <p:nvPr/>
        </p:nvSpPr>
        <p:spPr>
          <a:xfrm>
            <a:off x="8769096" y="3867911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Cart &amp; review</a:t>
            </a:r>
            <a:endParaRPr/>
          </a:p>
        </p:txBody>
      </p:sp>
      <p:sp>
        <p:nvSpPr>
          <p:cNvPr id="220" name="Google Shape;220;p4"/>
          <p:cNvSpPr txBox="1"/>
          <p:nvPr/>
        </p:nvSpPr>
        <p:spPr>
          <a:xfrm>
            <a:off x="8769096" y="4224528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Edit or remove tickets; set wager from presets / allowed range.</a:t>
            </a:r>
            <a:endParaRPr/>
          </a:p>
        </p:txBody>
      </p:sp>
      <p:cxnSp>
        <p:nvCxnSpPr>
          <p:cNvPr id="221" name="Google Shape;221;p4"/>
          <p:cNvCxnSpPr/>
          <p:nvPr/>
        </p:nvCxnSpPr>
        <p:spPr>
          <a:xfrm rot="10800000">
            <a:off x="7717536" y="4389120"/>
            <a:ext cx="329184" cy="0"/>
          </a:xfrm>
          <a:prstGeom prst="straightConnector1">
            <a:avLst/>
          </a:prstGeom>
          <a:noFill/>
          <a:ln cap="flat" cmpd="sng" w="17775">
            <a:solidFill>
              <a:srgbClr val="C9A4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2" name="Google Shape;222;p4"/>
          <p:cNvSpPr/>
          <p:nvPr/>
        </p:nvSpPr>
        <p:spPr>
          <a:xfrm>
            <a:off x="4370832" y="3703320"/>
            <a:ext cx="3273552" cy="1389888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4535424" y="3867911"/>
            <a:ext cx="384048" cy="384048"/>
          </a:xfrm>
          <a:prstGeom prst="roundRect">
            <a:avLst>
              <a:gd fmla="val 14000" name="adj"/>
            </a:avLst>
          </a:prstGeom>
          <a:solidFill>
            <a:srgbClr val="103B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"/>
          <p:cNvSpPr txBox="1"/>
          <p:nvPr/>
        </p:nvSpPr>
        <p:spPr>
          <a:xfrm>
            <a:off x="4535424" y="3922776"/>
            <a:ext cx="384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25" name="Google Shape;225;p4"/>
          <p:cNvSpPr txBox="1"/>
          <p:nvPr/>
        </p:nvSpPr>
        <p:spPr>
          <a:xfrm>
            <a:off x="5056632" y="3867911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Confirm</a:t>
            </a:r>
            <a:endParaRPr/>
          </a:p>
        </p:txBody>
      </p:sp>
      <p:sp>
        <p:nvSpPr>
          <p:cNvPr id="226" name="Google Shape;226;p4"/>
          <p:cNvSpPr txBox="1"/>
          <p:nvPr/>
        </p:nvSpPr>
        <p:spPr>
          <a:xfrm>
            <a:off x="5056632" y="4224528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Show confirmation and the ticket reference.</a:t>
            </a:r>
            <a:endParaRPr/>
          </a:p>
        </p:txBody>
      </p:sp>
      <p:cxnSp>
        <p:nvCxnSpPr>
          <p:cNvPr id="227" name="Google Shape;227;p4"/>
          <p:cNvCxnSpPr/>
          <p:nvPr/>
        </p:nvCxnSpPr>
        <p:spPr>
          <a:xfrm rot="10800000">
            <a:off x="4005072" y="4389120"/>
            <a:ext cx="329184" cy="0"/>
          </a:xfrm>
          <a:prstGeom prst="straightConnector1">
            <a:avLst/>
          </a:prstGeom>
          <a:noFill/>
          <a:ln cap="flat" cmpd="sng" w="17775">
            <a:solidFill>
              <a:srgbClr val="C9A4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8" name="Google Shape;228;p4"/>
          <p:cNvSpPr/>
          <p:nvPr/>
        </p:nvSpPr>
        <p:spPr>
          <a:xfrm>
            <a:off x="658368" y="3703320"/>
            <a:ext cx="3273552" cy="1389888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822959" y="3867911"/>
            <a:ext cx="384048" cy="384048"/>
          </a:xfrm>
          <a:prstGeom prst="roundRect">
            <a:avLst>
              <a:gd fmla="val 14000" name="adj"/>
            </a:avLst>
          </a:prstGeom>
          <a:solidFill>
            <a:srgbClr val="103B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"/>
          <p:cNvSpPr txBox="1"/>
          <p:nvPr/>
        </p:nvSpPr>
        <p:spPr>
          <a:xfrm>
            <a:off x="822959" y="3922776"/>
            <a:ext cx="3840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31" name="Google Shape;231;p4"/>
          <p:cNvSpPr txBox="1"/>
          <p:nvPr/>
        </p:nvSpPr>
        <p:spPr>
          <a:xfrm>
            <a:off x="1344168" y="3867911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Track ticket</a:t>
            </a:r>
            <a:endParaRPr/>
          </a:p>
        </p:txBody>
      </p:sp>
      <p:sp>
        <p:nvSpPr>
          <p:cNvPr id="232" name="Google Shape;232;p4"/>
          <p:cNvSpPr txBox="1"/>
          <p:nvPr/>
        </p:nvSpPr>
        <p:spPr>
          <a:xfrm>
            <a:off x="1344168" y="4224528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Betting history and ticket status after placement / settlement.</a:t>
            </a:r>
            <a:endParaRPr/>
          </a:p>
        </p:txBody>
      </p:sp>
      <p:sp>
        <p:nvSpPr>
          <p:cNvPr id="233" name="Google Shape;233;p4"/>
          <p:cNvSpPr txBox="1"/>
          <p:nvPr/>
        </p:nvSpPr>
        <p:spPr>
          <a:xfrm>
            <a:off x="694944" y="562356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74A43"/>
                </a:solidFill>
                <a:latin typeface="Arial"/>
                <a:ea typeface="Arial"/>
                <a:cs typeface="Arial"/>
                <a:sym typeface="Arial"/>
              </a:rPr>
              <a:t>All wagers shown here are play-money only; no real currency is used in this demo.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BETTING FLOW</a:t>
            </a:r>
            <a:endParaRPr/>
          </a:p>
        </p:txBody>
      </p:sp>
      <p:sp>
        <p:nvSpPr>
          <p:cNvPr id="240" name="Google Shape;240;p5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3B2F"/>
                </a:solidFill>
                <a:latin typeface="Georgia"/>
                <a:ea typeface="Georgia"/>
                <a:cs typeface="Georgia"/>
                <a:sym typeface="Georgia"/>
              </a:rPr>
              <a:t>Bet flow · from chosen game to ticket</a:t>
            </a:r>
            <a:endParaRPr/>
          </a:p>
        </p:txBody>
      </p:sp>
      <p:cxnSp>
        <p:nvCxnSpPr>
          <p:cNvPr id="241" name="Google Shape;241;p5"/>
          <p:cNvCxnSpPr/>
          <p:nvPr/>
        </p:nvCxnSpPr>
        <p:spPr>
          <a:xfrm>
            <a:off x="566928" y="1243584"/>
            <a:ext cx="11064240" cy="0"/>
          </a:xfrm>
          <a:prstGeom prst="straightConnector1">
            <a:avLst/>
          </a:prstGeom>
          <a:noFill/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2" name="Google Shape;242;p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PHILIPPINE JOCKEY  ·  SYSTEM OVERVIEW  ·  16 OCT 2026</a:t>
            </a:r>
            <a:endParaRPr/>
          </a:p>
        </p:txBody>
      </p:sp>
      <p:sp>
        <p:nvSpPr>
          <p:cNvPr id="243" name="Google Shape;243;p5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TAKE PART</a:t>
            </a:r>
            <a:endParaRPr/>
          </a:p>
        </p:txBody>
      </p:sp>
      <p:sp>
        <p:nvSpPr>
          <p:cNvPr id="244" name="Google Shape;244;p5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45" name="Google Shape;245;p5"/>
          <p:cNvSpPr/>
          <p:nvPr/>
        </p:nvSpPr>
        <p:spPr>
          <a:xfrm>
            <a:off x="658368" y="1901952"/>
            <a:ext cx="1947672" cy="1444752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 txBox="1"/>
          <p:nvPr/>
        </p:nvSpPr>
        <p:spPr>
          <a:xfrm>
            <a:off x="768096" y="2011680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CHOOSE</a:t>
            </a:r>
            <a:endParaRPr/>
          </a:p>
        </p:txBody>
      </p:sp>
      <p:sp>
        <p:nvSpPr>
          <p:cNvPr id="247" name="Google Shape;247;p5"/>
          <p:cNvSpPr txBox="1"/>
          <p:nvPr/>
        </p:nvSpPr>
        <p:spPr>
          <a:xfrm>
            <a:off x="768096" y="231343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Pick a game</a:t>
            </a:r>
            <a:endParaRPr/>
          </a:p>
        </p:txBody>
      </p:sp>
      <p:sp>
        <p:nvSpPr>
          <p:cNvPr id="248" name="Google Shape;248;p5"/>
          <p:cNvSpPr txBox="1"/>
          <p:nvPr/>
        </p:nvSpPr>
        <p:spPr>
          <a:xfrm>
            <a:off x="768096" y="2706624"/>
            <a:ext cx="1737360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WIN · PLACE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FORECAST · TRIFECTA</a:t>
            </a:r>
            <a:endParaRPr/>
          </a:p>
        </p:txBody>
      </p:sp>
      <p:cxnSp>
        <p:nvCxnSpPr>
          <p:cNvPr id="249" name="Google Shape;249;p5"/>
          <p:cNvCxnSpPr/>
          <p:nvPr/>
        </p:nvCxnSpPr>
        <p:spPr>
          <a:xfrm>
            <a:off x="2624328" y="2615184"/>
            <a:ext cx="301752" cy="0"/>
          </a:xfrm>
          <a:prstGeom prst="straightConnector1">
            <a:avLst/>
          </a:prstGeom>
          <a:noFill/>
          <a:ln cap="flat" cmpd="sng" w="19050">
            <a:solidFill>
              <a:srgbClr val="C9A4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0" name="Google Shape;250;p5"/>
          <p:cNvSpPr/>
          <p:nvPr/>
        </p:nvSpPr>
        <p:spPr>
          <a:xfrm>
            <a:off x="2971800" y="1901952"/>
            <a:ext cx="1947672" cy="1444752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 txBox="1"/>
          <p:nvPr/>
        </p:nvSpPr>
        <p:spPr>
          <a:xfrm>
            <a:off x="3081528" y="2011680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/>
          </a:p>
        </p:txBody>
      </p:sp>
      <p:sp>
        <p:nvSpPr>
          <p:cNvPr id="252" name="Google Shape;252;p5"/>
          <p:cNvSpPr txBox="1"/>
          <p:nvPr/>
        </p:nvSpPr>
        <p:spPr>
          <a:xfrm>
            <a:off x="3081528" y="231343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Choose horses</a:t>
            </a:r>
            <a:endParaRPr/>
          </a:p>
        </p:txBody>
      </p:sp>
      <p:sp>
        <p:nvSpPr>
          <p:cNvPr id="253" name="Google Shape;253;p5"/>
          <p:cNvSpPr txBox="1"/>
          <p:nvPr/>
        </p:nvSpPr>
        <p:spPr>
          <a:xfrm>
            <a:off x="3081528" y="2706624"/>
            <a:ext cx="1737360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Follow the game's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selection guide</a:t>
            </a:r>
            <a:endParaRPr/>
          </a:p>
        </p:txBody>
      </p:sp>
      <p:cxnSp>
        <p:nvCxnSpPr>
          <p:cNvPr id="254" name="Google Shape;254;p5"/>
          <p:cNvCxnSpPr/>
          <p:nvPr/>
        </p:nvCxnSpPr>
        <p:spPr>
          <a:xfrm>
            <a:off x="4937760" y="2615184"/>
            <a:ext cx="301752" cy="0"/>
          </a:xfrm>
          <a:prstGeom prst="straightConnector1">
            <a:avLst/>
          </a:prstGeom>
          <a:noFill/>
          <a:ln cap="flat" cmpd="sng" w="19050">
            <a:solidFill>
              <a:srgbClr val="C9A4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5" name="Google Shape;255;p5"/>
          <p:cNvSpPr/>
          <p:nvPr/>
        </p:nvSpPr>
        <p:spPr>
          <a:xfrm>
            <a:off x="5285231" y="1901952"/>
            <a:ext cx="1947672" cy="1444752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 txBox="1"/>
          <p:nvPr/>
        </p:nvSpPr>
        <p:spPr>
          <a:xfrm>
            <a:off x="5394959" y="2011680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CHECK</a:t>
            </a:r>
            <a:endParaRPr/>
          </a:p>
        </p:txBody>
      </p:sp>
      <p:sp>
        <p:nvSpPr>
          <p:cNvPr id="257" name="Google Shape;257;p5"/>
          <p:cNvSpPr txBox="1"/>
          <p:nvPr/>
        </p:nvSpPr>
        <p:spPr>
          <a:xfrm>
            <a:off x="5394959" y="231343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Review bet cart</a:t>
            </a:r>
            <a:endParaRPr/>
          </a:p>
        </p:txBody>
      </p:sp>
      <p:sp>
        <p:nvSpPr>
          <p:cNvPr id="258" name="Google Shape;258;p5"/>
          <p:cNvSpPr txBox="1"/>
          <p:nvPr/>
        </p:nvSpPr>
        <p:spPr>
          <a:xfrm>
            <a:off x="5394959" y="2706624"/>
            <a:ext cx="1737360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Edit or remove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your selections</a:t>
            </a:r>
            <a:endParaRPr/>
          </a:p>
        </p:txBody>
      </p:sp>
      <p:cxnSp>
        <p:nvCxnSpPr>
          <p:cNvPr id="259" name="Google Shape;259;p5"/>
          <p:cNvCxnSpPr/>
          <p:nvPr/>
        </p:nvCxnSpPr>
        <p:spPr>
          <a:xfrm>
            <a:off x="7251192" y="2615184"/>
            <a:ext cx="301752" cy="0"/>
          </a:xfrm>
          <a:prstGeom prst="straightConnector1">
            <a:avLst/>
          </a:prstGeom>
          <a:noFill/>
          <a:ln cap="flat" cmpd="sng" w="19050">
            <a:solidFill>
              <a:srgbClr val="C9A4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0" name="Google Shape;260;p5"/>
          <p:cNvSpPr/>
          <p:nvPr/>
        </p:nvSpPr>
        <p:spPr>
          <a:xfrm>
            <a:off x="7598664" y="1901952"/>
            <a:ext cx="1947672" cy="1444752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 txBox="1"/>
          <p:nvPr/>
        </p:nvSpPr>
        <p:spPr>
          <a:xfrm>
            <a:off x="7708392" y="2011680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SET</a:t>
            </a:r>
            <a:endParaRPr/>
          </a:p>
        </p:txBody>
      </p:sp>
      <p:sp>
        <p:nvSpPr>
          <p:cNvPr id="262" name="Google Shape;262;p5"/>
          <p:cNvSpPr txBox="1"/>
          <p:nvPr/>
        </p:nvSpPr>
        <p:spPr>
          <a:xfrm>
            <a:off x="7708392" y="231343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Choose wager</a:t>
            </a:r>
            <a:endParaRPr/>
          </a:p>
        </p:txBody>
      </p:sp>
      <p:sp>
        <p:nvSpPr>
          <p:cNvPr id="263" name="Google Shape;263;p5"/>
          <p:cNvSpPr txBox="1"/>
          <p:nvPr/>
        </p:nvSpPr>
        <p:spPr>
          <a:xfrm>
            <a:off x="7708392" y="2706624"/>
            <a:ext cx="1737360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Use a preset or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enter an amount</a:t>
            </a:r>
            <a:endParaRPr/>
          </a:p>
        </p:txBody>
      </p:sp>
      <p:cxnSp>
        <p:nvCxnSpPr>
          <p:cNvPr id="264" name="Google Shape;264;p5"/>
          <p:cNvCxnSpPr/>
          <p:nvPr/>
        </p:nvCxnSpPr>
        <p:spPr>
          <a:xfrm>
            <a:off x="9564624" y="2615184"/>
            <a:ext cx="301752" cy="0"/>
          </a:xfrm>
          <a:prstGeom prst="straightConnector1">
            <a:avLst/>
          </a:prstGeom>
          <a:noFill/>
          <a:ln cap="flat" cmpd="sng" w="19050">
            <a:solidFill>
              <a:srgbClr val="C9A4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5" name="Google Shape;265;p5"/>
          <p:cNvSpPr/>
          <p:nvPr/>
        </p:nvSpPr>
        <p:spPr>
          <a:xfrm>
            <a:off x="9912096" y="1901952"/>
            <a:ext cx="1947672" cy="1444752"/>
          </a:xfrm>
          <a:prstGeom prst="roundRect">
            <a:avLst>
              <a:gd fmla="val 14000" name="adj"/>
            </a:avLst>
          </a:prstGeom>
          <a:solidFill>
            <a:srgbClr val="103B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 txBox="1"/>
          <p:nvPr/>
        </p:nvSpPr>
        <p:spPr>
          <a:xfrm>
            <a:off x="10021824" y="2011680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CONFIRM</a:t>
            </a:r>
            <a:endParaRPr/>
          </a:p>
        </p:txBody>
      </p:sp>
      <p:sp>
        <p:nvSpPr>
          <p:cNvPr id="267" name="Google Shape;267;p5"/>
          <p:cNvSpPr txBox="1"/>
          <p:nvPr/>
        </p:nvSpPr>
        <p:spPr>
          <a:xfrm>
            <a:off x="10021824" y="231343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Receive ticket</a:t>
            </a:r>
            <a:endParaRPr/>
          </a:p>
        </p:txBody>
      </p:sp>
      <p:sp>
        <p:nvSpPr>
          <p:cNvPr id="268" name="Google Shape;268;p5"/>
          <p:cNvSpPr txBox="1"/>
          <p:nvPr/>
        </p:nvSpPr>
        <p:spPr>
          <a:xfrm>
            <a:off x="10021824" y="2706624"/>
            <a:ext cx="1737360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6ECE8"/>
                </a:solidFill>
                <a:latin typeface="Arial"/>
                <a:ea typeface="Arial"/>
                <a:cs typeface="Arial"/>
                <a:sym typeface="Arial"/>
              </a:rPr>
              <a:t>See confirmation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6ECE8"/>
                </a:solidFill>
                <a:latin typeface="Arial"/>
                <a:ea typeface="Arial"/>
                <a:cs typeface="Arial"/>
                <a:sym typeface="Arial"/>
              </a:rPr>
              <a:t>and open history</a:t>
            </a:r>
            <a:endParaRPr/>
          </a:p>
        </p:txBody>
      </p:sp>
      <p:sp>
        <p:nvSpPr>
          <p:cNvPr id="269" name="Google Shape;269;p5"/>
          <p:cNvSpPr/>
          <p:nvPr/>
        </p:nvSpPr>
        <p:spPr>
          <a:xfrm>
            <a:off x="777240" y="3858768"/>
            <a:ext cx="5029200" cy="1243584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777240" y="3858768"/>
            <a:ext cx="54864" cy="1243584"/>
          </a:xfrm>
          <a:prstGeom prst="rect">
            <a:avLst/>
          </a:prstGeom>
          <a:solidFill>
            <a:srgbClr val="103B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5"/>
          <p:cNvSpPr txBox="1"/>
          <p:nvPr/>
        </p:nvSpPr>
        <p:spPr>
          <a:xfrm>
            <a:off x="960120" y="3995928"/>
            <a:ext cx="47000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Before you confirm</a:t>
            </a:r>
            <a:endParaRPr/>
          </a:p>
        </p:txBody>
      </p:sp>
      <p:sp>
        <p:nvSpPr>
          <p:cNvPr id="272" name="Google Shape;272;p5"/>
          <p:cNvSpPr txBox="1"/>
          <p:nvPr/>
        </p:nvSpPr>
        <p:spPr>
          <a:xfrm>
            <a:off x="960120" y="4389120"/>
            <a:ext cx="4681728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D2924"/>
                </a:solidFill>
                <a:latin typeface="Arial"/>
                <a:ea typeface="Arial"/>
                <a:cs typeface="Arial"/>
                <a:sym typeface="Arial"/>
              </a:rPr>
              <a:t>Check the race, game, selected horses and wager total. If a selection is incomplete, return to the relevant step and finish it.</a:t>
            </a:r>
            <a:endParaRPr/>
          </a:p>
        </p:txBody>
      </p:sp>
      <p:sp>
        <p:nvSpPr>
          <p:cNvPr id="273" name="Google Shape;273;p5"/>
          <p:cNvSpPr/>
          <p:nvPr/>
        </p:nvSpPr>
        <p:spPr>
          <a:xfrm>
            <a:off x="6199632" y="3858768"/>
            <a:ext cx="5029200" cy="1243584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6199632" y="3858768"/>
            <a:ext cx="54864" cy="1243584"/>
          </a:xfrm>
          <a:prstGeom prst="rect">
            <a:avLst/>
          </a:prstGeom>
          <a:solidFill>
            <a:srgbClr val="C9A45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"/>
          <p:cNvSpPr txBox="1"/>
          <p:nvPr/>
        </p:nvSpPr>
        <p:spPr>
          <a:xfrm>
            <a:off x="6382512" y="3995928"/>
            <a:ext cx="47000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After you confirm</a:t>
            </a:r>
            <a:endParaRPr/>
          </a:p>
        </p:txBody>
      </p:sp>
      <p:sp>
        <p:nvSpPr>
          <p:cNvPr id="276" name="Google Shape;276;p5"/>
          <p:cNvSpPr txBox="1"/>
          <p:nvPr/>
        </p:nvSpPr>
        <p:spPr>
          <a:xfrm>
            <a:off x="6382512" y="4389120"/>
            <a:ext cx="4681728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D2924"/>
                </a:solidFill>
                <a:latin typeface="Arial"/>
                <a:ea typeface="Arial"/>
                <a:cs typeface="Arial"/>
                <a:sym typeface="Arial"/>
              </a:rPr>
              <a:t>The system shows a ticket confirmation. Open Betting History to find the ticket again and follow its status.</a:t>
            </a:r>
            <a:endParaRPr/>
          </a:p>
        </p:txBody>
      </p:sp>
      <p:sp>
        <p:nvSpPr>
          <p:cNvPr id="277" name="Google Shape;277;p5"/>
          <p:cNvSpPr/>
          <p:nvPr/>
        </p:nvSpPr>
        <p:spPr>
          <a:xfrm>
            <a:off x="822960" y="5431536"/>
            <a:ext cx="2313432" cy="256032"/>
          </a:xfrm>
          <a:prstGeom prst="roundRect">
            <a:avLst>
              <a:gd fmla="val 14000" name="adj"/>
            </a:avLst>
          </a:prstGeom>
          <a:solidFill>
            <a:srgbClr val="F4DED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 txBox="1"/>
          <p:nvPr/>
        </p:nvSpPr>
        <p:spPr>
          <a:xfrm>
            <a:off x="859536" y="5454396"/>
            <a:ext cx="2240279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C74A43"/>
                </a:solidFill>
                <a:latin typeface="Arial"/>
                <a:ea typeface="Arial"/>
                <a:cs typeface="Arial"/>
                <a:sym typeface="Arial"/>
              </a:rPr>
              <a:t>Play-money demonstration</a:t>
            </a:r>
            <a:endParaRPr/>
          </a:p>
        </p:txBody>
      </p:sp>
      <p:sp>
        <p:nvSpPr>
          <p:cNvPr id="279" name="Google Shape;279;p5"/>
          <p:cNvSpPr/>
          <p:nvPr/>
        </p:nvSpPr>
        <p:spPr>
          <a:xfrm>
            <a:off x="3291840" y="5431536"/>
            <a:ext cx="2331720" cy="256032"/>
          </a:xfrm>
          <a:prstGeom prst="roundRect">
            <a:avLst>
              <a:gd fmla="val 14000" name="adj"/>
            </a:avLst>
          </a:prstGeom>
          <a:solidFill>
            <a:srgbClr val="E5EE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5"/>
          <p:cNvSpPr txBox="1"/>
          <p:nvPr/>
        </p:nvSpPr>
        <p:spPr>
          <a:xfrm>
            <a:off x="3328416" y="5454396"/>
            <a:ext cx="2258568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Review before confirming</a:t>
            </a:r>
            <a:endParaRPr/>
          </a:p>
        </p:txBody>
      </p:sp>
      <p:sp>
        <p:nvSpPr>
          <p:cNvPr id="281" name="Google Shape;281;p5"/>
          <p:cNvSpPr/>
          <p:nvPr/>
        </p:nvSpPr>
        <p:spPr>
          <a:xfrm>
            <a:off x="5779008" y="5431536"/>
            <a:ext cx="2286000" cy="256032"/>
          </a:xfrm>
          <a:prstGeom prst="roundRect">
            <a:avLst>
              <a:gd fmla="val 14000" name="adj"/>
            </a:avLst>
          </a:prstGeom>
          <a:solidFill>
            <a:srgbClr val="F1E8D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 txBox="1"/>
          <p:nvPr/>
        </p:nvSpPr>
        <p:spPr>
          <a:xfrm>
            <a:off x="5815584" y="5454396"/>
            <a:ext cx="2212848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Find tickets in history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MOBILE SCREENSHOTS</a:t>
            </a:r>
            <a:endParaRPr/>
          </a:p>
        </p:txBody>
      </p:sp>
      <p:sp>
        <p:nvSpPr>
          <p:cNvPr id="289" name="Google Shape;289;p6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3B2F"/>
                </a:solidFill>
                <a:latin typeface="Georgia"/>
                <a:ea typeface="Georgia"/>
                <a:cs typeface="Georgia"/>
                <a:sym typeface="Georgia"/>
              </a:rPr>
              <a:t>Mobile UI · Home and club selection</a:t>
            </a:r>
            <a:endParaRPr/>
          </a:p>
        </p:txBody>
      </p:sp>
      <p:cxnSp>
        <p:nvCxnSpPr>
          <p:cNvPr id="290" name="Google Shape;290;p6"/>
          <p:cNvCxnSpPr/>
          <p:nvPr/>
        </p:nvCxnSpPr>
        <p:spPr>
          <a:xfrm>
            <a:off x="566928" y="1243584"/>
            <a:ext cx="11064240" cy="0"/>
          </a:xfrm>
          <a:prstGeom prst="straightConnector1">
            <a:avLst/>
          </a:prstGeom>
          <a:noFill/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1" name="Google Shape;291;p6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PHILIPPINE JOCKEY  ·  SYSTEM OVERVIEW  ·  16 OCT 2026</a:t>
            </a:r>
            <a:endParaRPr/>
          </a:p>
        </p:txBody>
      </p:sp>
      <p:sp>
        <p:nvSpPr>
          <p:cNvPr id="292" name="Google Shape;292;p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MOBILE SCREENS</a:t>
            </a:r>
            <a:endParaRPr/>
          </a:p>
        </p:txBody>
      </p:sp>
      <p:sp>
        <p:nvSpPr>
          <p:cNvPr id="293" name="Google Shape;293;p6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94" name="Google Shape;294;p6"/>
          <p:cNvSpPr/>
          <p:nvPr/>
        </p:nvSpPr>
        <p:spPr>
          <a:xfrm>
            <a:off x="2213191" y="1682495"/>
            <a:ext cx="2065857" cy="4306824"/>
          </a:xfrm>
          <a:prstGeom prst="roundRect">
            <a:avLst>
              <a:gd fmla="val 14000" name="adj"/>
            </a:avLst>
          </a:prstGeom>
          <a:solidFill>
            <a:srgbClr val="0A2D2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bile-dashboard.png" id="295" name="Google Shape;2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343" y="1755648"/>
            <a:ext cx="1919553" cy="416052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6"/>
          <p:cNvSpPr txBox="1"/>
          <p:nvPr/>
        </p:nvSpPr>
        <p:spPr>
          <a:xfrm>
            <a:off x="2057400" y="141732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/>
          </a:p>
        </p:txBody>
      </p:sp>
      <p:sp>
        <p:nvSpPr>
          <p:cNvPr id="297" name="Google Shape;297;p6"/>
          <p:cNvSpPr txBox="1"/>
          <p:nvPr/>
        </p:nvSpPr>
        <p:spPr>
          <a:xfrm>
            <a:off x="1801367" y="6044184"/>
            <a:ext cx="2889504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D2924"/>
                </a:solidFill>
                <a:latin typeface="Arial"/>
                <a:ea typeface="Arial"/>
                <a:cs typeface="Arial"/>
                <a:sym typeface="Arial"/>
              </a:rPr>
              <a:t>Featured race, schedule, games and bottom navigation.</a:t>
            </a:r>
            <a:endParaRPr/>
          </a:p>
        </p:txBody>
      </p:sp>
      <p:sp>
        <p:nvSpPr>
          <p:cNvPr id="298" name="Google Shape;298;p6"/>
          <p:cNvSpPr/>
          <p:nvPr/>
        </p:nvSpPr>
        <p:spPr>
          <a:xfrm>
            <a:off x="7909903" y="1682495"/>
            <a:ext cx="2065857" cy="4306824"/>
          </a:xfrm>
          <a:prstGeom prst="roundRect">
            <a:avLst>
              <a:gd fmla="val 14000" name="adj"/>
            </a:avLst>
          </a:prstGeom>
          <a:solidFill>
            <a:srgbClr val="0A2D2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bile-races.png" id="299" name="Google Shape;29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3055" y="1755648"/>
            <a:ext cx="1919553" cy="416052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6"/>
          <p:cNvSpPr txBox="1"/>
          <p:nvPr/>
        </p:nvSpPr>
        <p:spPr>
          <a:xfrm>
            <a:off x="7754111" y="141732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RACES · CLUB PICKER</a:t>
            </a:r>
            <a:endParaRPr/>
          </a:p>
        </p:txBody>
      </p:sp>
      <p:sp>
        <p:nvSpPr>
          <p:cNvPr id="301" name="Google Shape;301;p6"/>
          <p:cNvSpPr txBox="1"/>
          <p:nvPr/>
        </p:nvSpPr>
        <p:spPr>
          <a:xfrm>
            <a:off x="7498079" y="6044184"/>
            <a:ext cx="2889504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D2924"/>
                </a:solidFill>
                <a:latin typeface="Arial"/>
                <a:ea typeface="Arial"/>
                <a:cs typeface="Arial"/>
                <a:sym typeface="Arial"/>
              </a:rPr>
              <a:t>The user chooses a racing club before seeing its card.</a:t>
            </a:r>
            <a:endParaRPr/>
          </a:p>
        </p:txBody>
      </p:sp>
      <p:sp>
        <p:nvSpPr>
          <p:cNvPr id="302" name="Google Shape;302;p6"/>
          <p:cNvSpPr txBox="1"/>
          <p:nvPr/>
        </p:nvSpPr>
        <p:spPr>
          <a:xfrm>
            <a:off x="713232" y="6364224"/>
            <a:ext cx="10652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Captured from the running mobile website at 430 × 932 px. Names and race details may be demo content.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MOBILE SCREENSHOTS</a:t>
            </a:r>
            <a:endParaRPr/>
          </a:p>
        </p:txBody>
      </p:sp>
      <p:sp>
        <p:nvSpPr>
          <p:cNvPr id="309" name="Google Shape;309;p7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3B2F"/>
                </a:solidFill>
                <a:latin typeface="Georgia"/>
                <a:ea typeface="Georgia"/>
                <a:cs typeface="Georgia"/>
                <a:sym typeface="Georgia"/>
              </a:rPr>
              <a:t>Mobile UI · Race card and entries</a:t>
            </a:r>
            <a:endParaRPr/>
          </a:p>
        </p:txBody>
      </p:sp>
      <p:cxnSp>
        <p:nvCxnSpPr>
          <p:cNvPr id="310" name="Google Shape;310;p7"/>
          <p:cNvCxnSpPr/>
          <p:nvPr/>
        </p:nvCxnSpPr>
        <p:spPr>
          <a:xfrm>
            <a:off x="566928" y="1243584"/>
            <a:ext cx="11064240" cy="0"/>
          </a:xfrm>
          <a:prstGeom prst="straightConnector1">
            <a:avLst/>
          </a:prstGeom>
          <a:noFill/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11" name="Google Shape;311;p7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PHILIPPINE JOCKEY  ·  SYSTEM OVERVIEW  ·  16 OCT 2026</a:t>
            </a:r>
            <a:endParaRPr/>
          </a:p>
        </p:txBody>
      </p:sp>
      <p:sp>
        <p:nvSpPr>
          <p:cNvPr id="312" name="Google Shape;312;p7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MOBILE SCREENS</a:t>
            </a:r>
            <a:endParaRPr/>
          </a:p>
        </p:txBody>
      </p:sp>
      <p:sp>
        <p:nvSpPr>
          <p:cNvPr id="313" name="Google Shape;313;p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314" name="Google Shape;314;p7"/>
          <p:cNvSpPr/>
          <p:nvPr/>
        </p:nvSpPr>
        <p:spPr>
          <a:xfrm>
            <a:off x="2213191" y="1682495"/>
            <a:ext cx="2065857" cy="4306824"/>
          </a:xfrm>
          <a:prstGeom prst="roundRect">
            <a:avLst>
              <a:gd fmla="val 14000" name="adj"/>
            </a:avLst>
          </a:prstGeom>
          <a:solidFill>
            <a:srgbClr val="0A2D2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bile-race-schedule.png" id="315" name="Google Shape;3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343" y="1755648"/>
            <a:ext cx="1919553" cy="416052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7"/>
          <p:cNvSpPr txBox="1"/>
          <p:nvPr/>
        </p:nvSpPr>
        <p:spPr>
          <a:xfrm>
            <a:off x="2057400" y="141732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RACE SCHEDULE</a:t>
            </a:r>
            <a:endParaRPr/>
          </a:p>
        </p:txBody>
      </p:sp>
      <p:sp>
        <p:nvSpPr>
          <p:cNvPr id="317" name="Google Shape;317;p7"/>
          <p:cNvSpPr txBox="1"/>
          <p:nvPr/>
        </p:nvSpPr>
        <p:spPr>
          <a:xfrm>
            <a:off x="1801367" y="6044184"/>
            <a:ext cx="2889504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D2924"/>
                </a:solidFill>
                <a:latin typeface="Arial"/>
                <a:ea typeface="Arial"/>
                <a:cs typeface="Arial"/>
                <a:sym typeface="Arial"/>
              </a:rPr>
              <a:t>Date rail, race status filters and club context.</a:t>
            </a:r>
            <a:endParaRPr/>
          </a:p>
        </p:txBody>
      </p:sp>
      <p:sp>
        <p:nvSpPr>
          <p:cNvPr id="318" name="Google Shape;318;p7"/>
          <p:cNvSpPr/>
          <p:nvPr/>
        </p:nvSpPr>
        <p:spPr>
          <a:xfrm>
            <a:off x="7909903" y="1682495"/>
            <a:ext cx="2065857" cy="4306824"/>
          </a:xfrm>
          <a:prstGeom prst="roundRect">
            <a:avLst>
              <a:gd fmla="val 14000" name="adj"/>
            </a:avLst>
          </a:prstGeom>
          <a:solidFill>
            <a:srgbClr val="0A2D2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bile-race-entries.png" id="319" name="Google Shape;31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3055" y="1755648"/>
            <a:ext cx="1919553" cy="416052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7"/>
          <p:cNvSpPr txBox="1"/>
          <p:nvPr/>
        </p:nvSpPr>
        <p:spPr>
          <a:xfrm>
            <a:off x="7754111" y="141732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RACE ENTRIES</a:t>
            </a:r>
            <a:endParaRPr/>
          </a:p>
        </p:txBody>
      </p:sp>
      <p:sp>
        <p:nvSpPr>
          <p:cNvPr id="321" name="Google Shape;321;p7"/>
          <p:cNvSpPr txBox="1"/>
          <p:nvPr/>
        </p:nvSpPr>
        <p:spPr>
          <a:xfrm>
            <a:off x="7498079" y="6044184"/>
            <a:ext cx="2889504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D2924"/>
                </a:solidFill>
                <a:latin typeface="Arial"/>
                <a:ea typeface="Arial"/>
                <a:cs typeface="Arial"/>
                <a:sym typeface="Arial"/>
              </a:rPr>
              <a:t>Runner number, horse, jockey, trainer and owner.</a:t>
            </a:r>
            <a:endParaRPr/>
          </a:p>
        </p:txBody>
      </p:sp>
      <p:sp>
        <p:nvSpPr>
          <p:cNvPr id="322" name="Google Shape;322;p7"/>
          <p:cNvSpPr txBox="1"/>
          <p:nvPr/>
        </p:nvSpPr>
        <p:spPr>
          <a:xfrm>
            <a:off x="713232" y="6364224"/>
            <a:ext cx="10652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Captured from the running mobile website at 430 × 932 px. Names and race details may be demo content.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MOBILE SCREENSHOTS</a:t>
            </a:r>
            <a:endParaRPr/>
          </a:p>
        </p:txBody>
      </p:sp>
      <p:sp>
        <p:nvSpPr>
          <p:cNvPr id="329" name="Google Shape;329;p8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3B2F"/>
                </a:solidFill>
                <a:latin typeface="Georgia"/>
                <a:ea typeface="Georgia"/>
                <a:cs typeface="Georgia"/>
                <a:sym typeface="Georgia"/>
              </a:rPr>
              <a:t>Mobile UI · Games and wager review</a:t>
            </a:r>
            <a:endParaRPr/>
          </a:p>
        </p:txBody>
      </p:sp>
      <p:cxnSp>
        <p:nvCxnSpPr>
          <p:cNvPr id="330" name="Google Shape;330;p8"/>
          <p:cNvCxnSpPr/>
          <p:nvPr/>
        </p:nvCxnSpPr>
        <p:spPr>
          <a:xfrm>
            <a:off x="566928" y="1243584"/>
            <a:ext cx="11064240" cy="0"/>
          </a:xfrm>
          <a:prstGeom prst="straightConnector1">
            <a:avLst/>
          </a:prstGeom>
          <a:noFill/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31" name="Google Shape;331;p8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PHILIPPINE JOCKEY  ·  SYSTEM OVERVIEW  ·  16 OCT 2026</a:t>
            </a:r>
            <a:endParaRPr/>
          </a:p>
        </p:txBody>
      </p:sp>
      <p:sp>
        <p:nvSpPr>
          <p:cNvPr id="332" name="Google Shape;332;p8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MOBILE SCREENS</a:t>
            </a:r>
            <a:endParaRPr/>
          </a:p>
        </p:txBody>
      </p:sp>
      <p:sp>
        <p:nvSpPr>
          <p:cNvPr id="333" name="Google Shape;333;p8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34" name="Google Shape;334;p8"/>
          <p:cNvSpPr/>
          <p:nvPr/>
        </p:nvSpPr>
        <p:spPr>
          <a:xfrm>
            <a:off x="1447185" y="1719072"/>
            <a:ext cx="1951949" cy="4059936"/>
          </a:xfrm>
          <a:prstGeom prst="roundRect">
            <a:avLst>
              <a:gd fmla="val 14000" name="adj"/>
            </a:avLst>
          </a:prstGeom>
          <a:solidFill>
            <a:srgbClr val="0A2D2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bile-games-guide.png" id="335" name="Google Shape;3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0337" y="1792224"/>
            <a:ext cx="1805645" cy="3913632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8"/>
          <p:cNvSpPr txBox="1"/>
          <p:nvPr/>
        </p:nvSpPr>
        <p:spPr>
          <a:xfrm>
            <a:off x="1234439" y="141732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GAMES &amp; GUIDE</a:t>
            </a:r>
            <a:endParaRPr/>
          </a:p>
        </p:txBody>
      </p:sp>
      <p:sp>
        <p:nvSpPr>
          <p:cNvPr id="337" name="Google Shape;337;p8"/>
          <p:cNvSpPr txBox="1"/>
          <p:nvPr/>
        </p:nvSpPr>
        <p:spPr>
          <a:xfrm>
            <a:off x="978407" y="5797296"/>
            <a:ext cx="2889504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D2924"/>
                </a:solidFill>
                <a:latin typeface="Arial"/>
                <a:ea typeface="Arial"/>
                <a:cs typeface="Arial"/>
                <a:sym typeface="Arial"/>
              </a:rPr>
              <a:t>Choose the betting market and learn selection rules.</a:t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5113929" y="1719072"/>
            <a:ext cx="1951949" cy="4059936"/>
          </a:xfrm>
          <a:prstGeom prst="roundRect">
            <a:avLst>
              <a:gd fmla="val 14000" name="adj"/>
            </a:avLst>
          </a:prstGeom>
          <a:solidFill>
            <a:srgbClr val="0A2D2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bile-bet-cart.png" id="339" name="Google Shape;33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7081" y="1792224"/>
            <a:ext cx="1805645" cy="3913632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8"/>
          <p:cNvSpPr txBox="1"/>
          <p:nvPr/>
        </p:nvSpPr>
        <p:spPr>
          <a:xfrm>
            <a:off x="4901184" y="141732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BET CART</a:t>
            </a:r>
            <a:endParaRPr/>
          </a:p>
        </p:txBody>
      </p:sp>
      <p:sp>
        <p:nvSpPr>
          <p:cNvPr id="341" name="Google Shape;341;p8"/>
          <p:cNvSpPr txBox="1"/>
          <p:nvPr/>
        </p:nvSpPr>
        <p:spPr>
          <a:xfrm>
            <a:off x="4645152" y="5797296"/>
            <a:ext cx="2889504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D2924"/>
                </a:solidFill>
                <a:latin typeface="Arial"/>
                <a:ea typeface="Arial"/>
                <a:cs typeface="Arial"/>
                <a:sym typeface="Arial"/>
              </a:rPr>
              <a:t>Review chosen runners and remove or edit a ticket.</a:t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8780673" y="1719072"/>
            <a:ext cx="1951949" cy="4059936"/>
          </a:xfrm>
          <a:prstGeom prst="roundRect">
            <a:avLst>
              <a:gd fmla="val 14000" name="adj"/>
            </a:avLst>
          </a:prstGeom>
          <a:solidFill>
            <a:srgbClr val="0A2D2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bile-bet-review.png" id="343" name="Google Shape;34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3825" y="1792224"/>
            <a:ext cx="1805645" cy="3913632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8"/>
          <p:cNvSpPr txBox="1"/>
          <p:nvPr/>
        </p:nvSpPr>
        <p:spPr>
          <a:xfrm>
            <a:off x="8567928" y="141732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/>
          </a:p>
        </p:txBody>
      </p:sp>
      <p:sp>
        <p:nvSpPr>
          <p:cNvPr id="345" name="Google Shape;345;p8"/>
          <p:cNvSpPr txBox="1"/>
          <p:nvPr/>
        </p:nvSpPr>
        <p:spPr>
          <a:xfrm>
            <a:off x="8311896" y="5797296"/>
            <a:ext cx="2889504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D2924"/>
                </a:solidFill>
                <a:latin typeface="Arial"/>
                <a:ea typeface="Arial"/>
                <a:cs typeface="Arial"/>
                <a:sym typeface="Arial"/>
              </a:rPr>
              <a:t>Set wager, verify total, then confirm the play-money ticket.</a:t>
            </a:r>
            <a:endParaRPr/>
          </a:p>
        </p:txBody>
      </p:sp>
      <p:sp>
        <p:nvSpPr>
          <p:cNvPr id="346" name="Google Shape;346;p8"/>
          <p:cNvSpPr txBox="1"/>
          <p:nvPr/>
        </p:nvSpPr>
        <p:spPr>
          <a:xfrm>
            <a:off x="713232" y="6172200"/>
            <a:ext cx="10652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Captured from the running mobile website at 430 × 932 px. Names and race details may be demo content.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MOBILE SCREENSHOTS</a:t>
            </a:r>
            <a:endParaRPr/>
          </a:p>
        </p:txBody>
      </p:sp>
      <p:sp>
        <p:nvSpPr>
          <p:cNvPr id="353" name="Google Shape;353;p10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3B2F"/>
                </a:solidFill>
                <a:latin typeface="Georgia"/>
                <a:ea typeface="Georgia"/>
                <a:cs typeface="Georgia"/>
                <a:sym typeface="Georgia"/>
              </a:rPr>
              <a:t>Mobile UI · Live and post-race</a:t>
            </a:r>
            <a:endParaRPr/>
          </a:p>
        </p:txBody>
      </p:sp>
      <p:cxnSp>
        <p:nvCxnSpPr>
          <p:cNvPr id="354" name="Google Shape;354;p10"/>
          <p:cNvCxnSpPr/>
          <p:nvPr/>
        </p:nvCxnSpPr>
        <p:spPr>
          <a:xfrm>
            <a:off x="566928" y="1243584"/>
            <a:ext cx="11064240" cy="0"/>
          </a:xfrm>
          <a:prstGeom prst="straightConnector1">
            <a:avLst/>
          </a:prstGeom>
          <a:noFill/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55" name="Google Shape;355;p10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PHILIPPINE JOCKEY  ·  SYSTEM OVERVIEW  ·  16 OCT 2026</a:t>
            </a:r>
            <a:endParaRPr/>
          </a:p>
        </p:txBody>
      </p:sp>
      <p:sp>
        <p:nvSpPr>
          <p:cNvPr id="356" name="Google Shape;356;p10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MOBILE SCREENS</a:t>
            </a:r>
            <a:endParaRPr/>
          </a:p>
        </p:txBody>
      </p:sp>
      <p:sp>
        <p:nvSpPr>
          <p:cNvPr id="357" name="Google Shape;357;p10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1447185" y="1719072"/>
            <a:ext cx="1951949" cy="4059936"/>
          </a:xfrm>
          <a:prstGeom prst="roundRect">
            <a:avLst>
              <a:gd fmla="val 14000" name="adj"/>
            </a:avLst>
          </a:prstGeom>
          <a:solidFill>
            <a:srgbClr val="0A2D2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bile-live-center.png" id="359" name="Google Shape;3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0337" y="1792224"/>
            <a:ext cx="1805645" cy="3913632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0"/>
          <p:cNvSpPr txBox="1"/>
          <p:nvPr/>
        </p:nvSpPr>
        <p:spPr>
          <a:xfrm>
            <a:off x="1234439" y="141732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LIVE CENTER</a:t>
            </a:r>
            <a:endParaRPr/>
          </a:p>
        </p:txBody>
      </p:sp>
      <p:sp>
        <p:nvSpPr>
          <p:cNvPr id="361" name="Google Shape;361;p10"/>
          <p:cNvSpPr txBox="1"/>
          <p:nvPr/>
        </p:nvSpPr>
        <p:spPr>
          <a:xfrm>
            <a:off x="978407" y="5797296"/>
            <a:ext cx="2889504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D2924"/>
                </a:solidFill>
                <a:latin typeface="Arial"/>
                <a:ea typeface="Arial"/>
                <a:cs typeface="Arial"/>
                <a:sym typeface="Arial"/>
              </a:rPr>
              <a:t>Stream entry point and race-day updates.</a:t>
            </a: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5113929" y="1719072"/>
            <a:ext cx="1951949" cy="4059936"/>
          </a:xfrm>
          <a:prstGeom prst="roundRect">
            <a:avLst>
              <a:gd fmla="val 14000" name="adj"/>
            </a:avLst>
          </a:prstGeom>
          <a:solidFill>
            <a:srgbClr val="0A2D2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bile-results.png" id="363" name="Google Shape;36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7081" y="1792224"/>
            <a:ext cx="1805645" cy="3913632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0"/>
          <p:cNvSpPr txBox="1"/>
          <p:nvPr/>
        </p:nvSpPr>
        <p:spPr>
          <a:xfrm>
            <a:off x="4901184" y="141732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/>
          </a:p>
        </p:txBody>
      </p:sp>
      <p:sp>
        <p:nvSpPr>
          <p:cNvPr id="365" name="Google Shape;365;p10"/>
          <p:cNvSpPr txBox="1"/>
          <p:nvPr/>
        </p:nvSpPr>
        <p:spPr>
          <a:xfrm>
            <a:off x="4645152" y="5797296"/>
            <a:ext cx="2889504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D2924"/>
                </a:solidFill>
                <a:latin typeface="Arial"/>
                <a:ea typeface="Arial"/>
                <a:cs typeface="Arial"/>
                <a:sym typeface="Arial"/>
              </a:rPr>
              <a:t>Filter the result list by official / provisional / cancelled.</a:t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8780673" y="1719072"/>
            <a:ext cx="1951949" cy="4059936"/>
          </a:xfrm>
          <a:prstGeom prst="roundRect">
            <a:avLst>
              <a:gd fmla="val 14000" name="adj"/>
            </a:avLst>
          </a:prstGeom>
          <a:solidFill>
            <a:srgbClr val="0A2D2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bile-official-result.png" id="367" name="Google Shape;36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3825" y="1792224"/>
            <a:ext cx="1805645" cy="3913632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0"/>
          <p:cNvSpPr txBox="1"/>
          <p:nvPr/>
        </p:nvSpPr>
        <p:spPr>
          <a:xfrm>
            <a:off x="8567928" y="141732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OFFICIAL RESULT</a:t>
            </a:r>
            <a:endParaRPr/>
          </a:p>
        </p:txBody>
      </p:sp>
      <p:sp>
        <p:nvSpPr>
          <p:cNvPr id="369" name="Google Shape;369;p10"/>
          <p:cNvSpPr txBox="1"/>
          <p:nvPr/>
        </p:nvSpPr>
        <p:spPr>
          <a:xfrm>
            <a:off x="8311896" y="5797296"/>
            <a:ext cx="2889504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D2924"/>
                </a:solidFill>
                <a:latin typeface="Arial"/>
                <a:ea typeface="Arial"/>
                <a:cs typeface="Arial"/>
                <a:sym typeface="Arial"/>
              </a:rPr>
              <a:t>Placings link to horse and jockey profiles.</a:t>
            </a:r>
            <a:endParaRPr/>
          </a:p>
        </p:txBody>
      </p:sp>
      <p:sp>
        <p:nvSpPr>
          <p:cNvPr id="370" name="Google Shape;370;p10"/>
          <p:cNvSpPr txBox="1"/>
          <p:nvPr/>
        </p:nvSpPr>
        <p:spPr>
          <a:xfrm>
            <a:off x="713232" y="6172200"/>
            <a:ext cx="10652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Captured from the running mobile website at 430 × 932 px. Names and race details may be demo content.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8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SYSTEM FLOW</a:t>
            </a:r>
            <a:endParaRPr/>
          </a:p>
        </p:txBody>
      </p:sp>
      <p:sp>
        <p:nvSpPr>
          <p:cNvPr id="377" name="Google Shape;377;p18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3B2F"/>
                </a:solidFill>
                <a:latin typeface="Georgia"/>
                <a:ea typeface="Georgia"/>
                <a:cs typeface="Georgia"/>
                <a:sym typeface="Georgia"/>
              </a:rPr>
              <a:t>One clear journey from race discovery to results</a:t>
            </a:r>
            <a:endParaRPr/>
          </a:p>
        </p:txBody>
      </p:sp>
      <p:cxnSp>
        <p:nvCxnSpPr>
          <p:cNvPr id="378" name="Google Shape;378;p18"/>
          <p:cNvCxnSpPr/>
          <p:nvPr/>
        </p:nvCxnSpPr>
        <p:spPr>
          <a:xfrm>
            <a:off x="566928" y="1243584"/>
            <a:ext cx="11064240" cy="0"/>
          </a:xfrm>
          <a:prstGeom prst="straightConnector1">
            <a:avLst/>
          </a:prstGeom>
          <a:noFill/>
          <a:ln cap="flat" cmpd="sng" w="10150">
            <a:solidFill>
              <a:srgbClr val="DCDD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9" name="Google Shape;379;p18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PHILIPPINE JOCKEY  ·  SYSTEM OVERVIEW  ·  16 OCT 2026</a:t>
            </a:r>
            <a:endParaRPr/>
          </a:p>
        </p:txBody>
      </p:sp>
      <p:sp>
        <p:nvSpPr>
          <p:cNvPr id="380" name="Google Shape;380;p18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718078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381" name="Google Shape;381;p18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03B2F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382" name="Google Shape;382;p18"/>
          <p:cNvSpPr/>
          <p:nvPr/>
        </p:nvSpPr>
        <p:spPr>
          <a:xfrm>
            <a:off x="804672" y="1755648"/>
            <a:ext cx="10469880" cy="1874519"/>
          </a:xfrm>
          <a:prstGeom prst="roundRect">
            <a:avLst>
              <a:gd fmla="val 14000" name="adj"/>
            </a:avLst>
          </a:prstGeom>
          <a:solidFill>
            <a:srgbClr val="103B2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8"/>
          <p:cNvSpPr txBox="1"/>
          <p:nvPr/>
        </p:nvSpPr>
        <p:spPr>
          <a:xfrm>
            <a:off x="1097280" y="2322576"/>
            <a:ext cx="98755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DISCOVER  →  CHOOSE  →  PLACE A PRACTICE BET  →  FOLLOW LIVE  →  SEE RESULTS</a:t>
            </a:r>
            <a:endParaRPr/>
          </a:p>
        </p:txBody>
      </p:sp>
      <p:sp>
        <p:nvSpPr>
          <p:cNvPr id="384" name="Google Shape;384;p18"/>
          <p:cNvSpPr txBox="1"/>
          <p:nvPr/>
        </p:nvSpPr>
        <p:spPr>
          <a:xfrm>
            <a:off x="1097280" y="2999232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8E1DA"/>
                </a:solidFill>
                <a:latin typeface="Arial"/>
                <a:ea typeface="Arial"/>
                <a:cs typeface="Arial"/>
                <a:sym typeface="Arial"/>
              </a:rPr>
              <a:t>Then explore the winning horse, jockey and race history.</a:t>
            </a:r>
            <a:endParaRPr/>
          </a:p>
        </p:txBody>
      </p:sp>
      <p:sp>
        <p:nvSpPr>
          <p:cNvPr id="385" name="Google Shape;385;p18"/>
          <p:cNvSpPr txBox="1"/>
          <p:nvPr/>
        </p:nvSpPr>
        <p:spPr>
          <a:xfrm>
            <a:off x="868680" y="422452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9A451"/>
                </a:solidFill>
                <a:latin typeface="Arial"/>
                <a:ea typeface="Arial"/>
                <a:cs typeface="Arial"/>
                <a:sym typeface="Arial"/>
              </a:rPr>
              <a:t>Discussion prompts</a:t>
            </a:r>
            <a:endParaRPr/>
          </a:p>
        </p:txBody>
      </p:sp>
      <p:sp>
        <p:nvSpPr>
          <p:cNvPr id="386" name="Google Shape;386;p18"/>
          <p:cNvSpPr/>
          <p:nvPr/>
        </p:nvSpPr>
        <p:spPr>
          <a:xfrm>
            <a:off x="914400" y="4654296"/>
            <a:ext cx="73152" cy="73152"/>
          </a:xfrm>
          <a:prstGeom prst="roundRect">
            <a:avLst>
              <a:gd fmla="val 14000" name="adj"/>
            </a:avLst>
          </a:prstGeom>
          <a:solidFill>
            <a:srgbClr val="C9A45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8"/>
          <p:cNvSpPr txBox="1"/>
          <p:nvPr/>
        </p:nvSpPr>
        <p:spPr>
          <a:xfrm>
            <a:off x="1097280" y="4572000"/>
            <a:ext cx="97840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D2924"/>
                </a:solidFill>
                <a:latin typeface="Arial"/>
                <a:ea typeface="Arial"/>
                <a:cs typeface="Arial"/>
                <a:sym typeface="Arial"/>
              </a:rPr>
              <a:t>Does each screen make the next action obvious?</a:t>
            </a:r>
            <a:endParaRPr/>
          </a:p>
        </p:txBody>
      </p:sp>
      <p:sp>
        <p:nvSpPr>
          <p:cNvPr id="388" name="Google Shape;388;p18"/>
          <p:cNvSpPr/>
          <p:nvPr/>
        </p:nvSpPr>
        <p:spPr>
          <a:xfrm>
            <a:off x="914400" y="5047488"/>
            <a:ext cx="73152" cy="73152"/>
          </a:xfrm>
          <a:prstGeom prst="roundRect">
            <a:avLst>
              <a:gd fmla="val 14000" name="adj"/>
            </a:avLst>
          </a:prstGeom>
          <a:solidFill>
            <a:srgbClr val="C9A45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8"/>
          <p:cNvSpPr txBox="1"/>
          <p:nvPr/>
        </p:nvSpPr>
        <p:spPr>
          <a:xfrm>
            <a:off x="1097280" y="4965192"/>
            <a:ext cx="97840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D2924"/>
                </a:solidFill>
                <a:latin typeface="Arial"/>
                <a:ea typeface="Arial"/>
                <a:cs typeface="Arial"/>
                <a:sym typeface="Arial"/>
              </a:rPr>
              <a:t>Where should a visitor be able to return or change a choice?</a:t>
            </a:r>
            <a:endParaRPr/>
          </a:p>
        </p:txBody>
      </p:sp>
      <p:sp>
        <p:nvSpPr>
          <p:cNvPr id="390" name="Google Shape;390;p18"/>
          <p:cNvSpPr/>
          <p:nvPr/>
        </p:nvSpPr>
        <p:spPr>
          <a:xfrm>
            <a:off x="914400" y="5440680"/>
            <a:ext cx="73152" cy="73152"/>
          </a:xfrm>
          <a:prstGeom prst="roundRect">
            <a:avLst>
              <a:gd fmla="val 14000" name="adj"/>
            </a:avLst>
          </a:prstGeom>
          <a:solidFill>
            <a:srgbClr val="C9A45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8"/>
          <p:cNvSpPr txBox="1"/>
          <p:nvPr/>
        </p:nvSpPr>
        <p:spPr>
          <a:xfrm>
            <a:off x="1097280" y="5358384"/>
            <a:ext cx="97840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D2924"/>
                </a:solidFill>
                <a:latin typeface="Arial"/>
                <a:ea typeface="Arial"/>
                <a:cs typeface="Arial"/>
                <a:sym typeface="Arial"/>
              </a:rPr>
              <a:t>What race-day information should be easiest to find?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C9A451"/>
                </a:solidFill>
                <a:latin typeface="Aptos"/>
              </a:rPr>
              <a:t>PRE-RACE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103B2F"/>
                </a:solidFill>
                <a:latin typeface="Georgia"/>
              </a:rPr>
              <a:t>Create an account or sign 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43584"/>
            <a:ext cx="11064240" cy="9144"/>
          </a:xfrm>
          <a:prstGeom prst="rect">
            <a:avLst/>
          </a:prstGeom>
          <a:solidFill>
            <a:srgbClr val="DC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13191" y="1682495"/>
            <a:ext cx="2065857" cy="4306824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343" y="1755648"/>
            <a:ext cx="1919553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57400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SIGN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7" y="6044184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D2924"/>
                </a:solidFill>
                <a:latin typeface="Aptos"/>
              </a:rPr>
              <a:t>Return to the racing experience.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903" y="1682495"/>
            <a:ext cx="2065857" cy="4306824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obile-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055" y="1755648"/>
            <a:ext cx="1919553" cy="416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54111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CREATE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6044184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D2924"/>
                </a:solidFill>
                <a:latin typeface="Aptos"/>
              </a:rPr>
              <a:t>Create a profile to get started.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00" b="1" i="0">
                <a:solidFill>
                  <a:srgbClr val="718078"/>
                </a:solidFill>
                <a:latin typeface="Aptos"/>
              </a:rPr>
              <a:t>PRE-RACE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718078"/>
                </a:solidFill>
                <a:latin typeface="Aptos"/>
              </a:rPr>
              <a:t>PHILIPPINE JOCKEY  |  SYSTEM OVERVIEW  |  16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103B2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  <p:transition spd="med" advClick="1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C9A451"/>
                </a:solidFill>
                <a:latin typeface="Aptos"/>
              </a:rPr>
              <a:t>PRE-RACE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103B2F"/>
                </a:solidFill>
                <a:latin typeface="Georgia"/>
              </a:rPr>
              <a:t>Open a club, race, and game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43584"/>
            <a:ext cx="11064240" cy="9144"/>
          </a:xfrm>
          <a:prstGeom prst="rect">
            <a:avLst/>
          </a:prstGeom>
          <a:solidFill>
            <a:srgbClr val="DC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47185" y="1719072"/>
            <a:ext cx="1951949" cy="4059936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-club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337" y="1792224"/>
            <a:ext cx="1805645" cy="39136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34439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CLUB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5797296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 i="0">
                <a:solidFill>
                  <a:srgbClr val="1D2924"/>
                </a:solidFill>
                <a:latin typeface="Aptos"/>
              </a:rPr>
              <a:t>Browse the club and its race card.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3929" y="1719072"/>
            <a:ext cx="1951949" cy="4059936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obile-race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081" y="1792224"/>
            <a:ext cx="1805645" cy="39136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01184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RACE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5797296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 i="0">
                <a:solidFill>
                  <a:srgbClr val="1D2924"/>
                </a:solidFill>
                <a:latin typeface="Aptos"/>
              </a:rPr>
              <a:t>Check time, distance, entries, and venue.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0673" y="1719072"/>
            <a:ext cx="1951949" cy="4059936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obile-race-game-pic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825" y="1792224"/>
            <a:ext cx="1805645" cy="39136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67928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CHOOSE A GAME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5797296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 i="0">
                <a:solidFill>
                  <a:srgbClr val="1D2924"/>
                </a:solidFill>
                <a:latin typeface="Aptos"/>
              </a:rPr>
              <a:t>Compare the available game types.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00" b="1" i="0">
                <a:solidFill>
                  <a:srgbClr val="718078"/>
                </a:solidFill>
                <a:latin typeface="Aptos"/>
              </a:rPr>
              <a:t>PRE-RACE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718078"/>
                </a:solidFill>
                <a:latin typeface="Aptos"/>
              </a:rPr>
              <a:t>PHILIPPINE JOCKEY  |  SYSTEM OVERVIEW  |  16 OCT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103B2F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  <p:transition spd="med" advClick="1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C9A451"/>
                </a:solidFill>
                <a:latin typeface="Aptos"/>
              </a:rPr>
              <a:t>PRE-RACE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103B2F"/>
                </a:solidFill>
                <a:latin typeface="Georgia"/>
              </a:rPr>
              <a:t>Choose runners and confirm a ticket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43584"/>
            <a:ext cx="11064240" cy="9144"/>
          </a:xfrm>
          <a:prstGeom prst="rect">
            <a:avLst/>
          </a:prstGeom>
          <a:solidFill>
            <a:srgbClr val="DC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13191" y="1682495"/>
            <a:ext cx="2065857" cy="4306824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-runner-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343" y="1755648"/>
            <a:ext cx="1919553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57400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RUNNER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7" y="6044184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D2924"/>
                </a:solidFill>
                <a:latin typeface="Aptos"/>
              </a:rPr>
              <a:t>Pick the horse or horses for the game.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903" y="1682495"/>
            <a:ext cx="2065857" cy="4306824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obile-bet-confir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055" y="1755648"/>
            <a:ext cx="1919553" cy="416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54111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TICKET CONFIRMATION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6044184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D2924"/>
                </a:solidFill>
                <a:latin typeface="Aptos"/>
              </a:rPr>
              <a:t>Review the ticket and its reference.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00" b="1" i="0">
                <a:solidFill>
                  <a:srgbClr val="718078"/>
                </a:solidFill>
                <a:latin typeface="Aptos"/>
              </a:rPr>
              <a:t>PRE-RACE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718078"/>
                </a:solidFill>
                <a:latin typeface="Aptos"/>
              </a:rPr>
              <a:t>PHILIPPINE JOCKEY  |  SYSTEM OVERVIEW  |  16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103B2F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  <p:transition spd="med" advClick="1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C9A451"/>
                </a:solidFill>
                <a:latin typeface="Aptos"/>
              </a:rPr>
              <a:t>DURING THE 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103B2F"/>
                </a:solidFill>
                <a:latin typeface="Georgia"/>
              </a:rPr>
              <a:t>Watch the race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43584"/>
            <a:ext cx="11064240" cy="9144"/>
          </a:xfrm>
          <a:prstGeom prst="rect">
            <a:avLst/>
          </a:prstGeom>
          <a:solidFill>
            <a:srgbClr val="DC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13191" y="1682495"/>
            <a:ext cx="2065857" cy="4306824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343" y="1755648"/>
            <a:ext cx="1919553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57400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LIVE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7" y="6044184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D2924"/>
                </a:solidFill>
                <a:latin typeface="Aptos"/>
              </a:rPr>
              <a:t>Open the race stream and live tools.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903" y="1682495"/>
            <a:ext cx="2065857" cy="4306824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obile-live-st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055" y="1755648"/>
            <a:ext cx="1919553" cy="416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54111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LIVE STREAM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6044184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D2924"/>
                </a:solidFill>
                <a:latin typeface="Aptos"/>
              </a:rPr>
              <a:t>Watch the race and open race updates.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00" b="1" i="0">
                <a:solidFill>
                  <a:srgbClr val="718078"/>
                </a:solidFill>
                <a:latin typeface="Aptos"/>
              </a:rPr>
              <a:t>DURING THE RACE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718078"/>
                </a:solidFill>
                <a:latin typeface="Aptos"/>
              </a:rPr>
              <a:t>PHILIPPINE JOCKEY  |  SYSTEM OVERVIEW  |  16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103B2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  <p:transition spd="med" advClick="1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C9A451"/>
                </a:solidFill>
                <a:latin typeface="Aptos"/>
              </a:rPr>
              <a:t>DURING THE 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103B2F"/>
                </a:solidFill>
                <a:latin typeface="Georgia"/>
              </a:rPr>
              <a:t>Follow updates and pool information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43584"/>
            <a:ext cx="11064240" cy="9144"/>
          </a:xfrm>
          <a:prstGeom prst="rect">
            <a:avLst/>
          </a:prstGeom>
          <a:solidFill>
            <a:srgbClr val="DC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13191" y="1682495"/>
            <a:ext cx="2065857" cy="4306824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-live-upd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343" y="1755648"/>
            <a:ext cx="1919553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57400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RACE UPDATES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7" y="6044184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D2924"/>
                </a:solidFill>
                <a:latin typeface="Aptos"/>
              </a:rPr>
              <a:t>Follow official positions and entrant status.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903" y="1682495"/>
            <a:ext cx="2065857" cy="4306824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obile-totaliz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055" y="1755648"/>
            <a:ext cx="1919553" cy="416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54111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TOTALIZER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6044184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D2924"/>
                </a:solidFill>
                <a:latin typeface="Aptos"/>
              </a:rPr>
              <a:t>Review available pools and current totals.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00" b="1" i="0">
                <a:solidFill>
                  <a:srgbClr val="718078"/>
                </a:solidFill>
                <a:latin typeface="Aptos"/>
              </a:rPr>
              <a:t>DURING THE RACE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718078"/>
                </a:solidFill>
                <a:latin typeface="Aptos"/>
              </a:rPr>
              <a:t>PHILIPPINE JOCKEY  |  SYSTEM OVERVIEW  |  16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103B2F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  <p:transition spd="med" advClick="1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C9A451"/>
                </a:solidFill>
                <a:latin typeface="Aptos"/>
              </a:rPr>
              <a:t>POST-RACE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103B2F"/>
                </a:solidFill>
                <a:latin typeface="Georgia"/>
              </a:rPr>
              <a:t>Review official race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43584"/>
            <a:ext cx="11064240" cy="9144"/>
          </a:xfrm>
          <a:prstGeom prst="rect">
            <a:avLst/>
          </a:prstGeom>
          <a:solidFill>
            <a:srgbClr val="DC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47185" y="1719072"/>
            <a:ext cx="1951949" cy="4059936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337" y="1792224"/>
            <a:ext cx="1805645" cy="39136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34439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5797296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 i="0">
                <a:solidFill>
                  <a:srgbClr val="1D2924"/>
                </a:solidFill>
                <a:latin typeface="Aptos"/>
              </a:rPr>
              <a:t>Browse finished and provisional races.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3929" y="1719072"/>
            <a:ext cx="1951949" cy="4059936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081" y="1792224"/>
            <a:ext cx="1805645" cy="39136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01184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OFFICIAL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5797296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 i="0">
                <a:solidFill>
                  <a:srgbClr val="1D2924"/>
                </a:solidFill>
                <a:latin typeface="Aptos"/>
              </a:rPr>
              <a:t>See confirmed placings and race details.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0673" y="1719072"/>
            <a:ext cx="1951949" cy="4059936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obile-result-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825" y="1792224"/>
            <a:ext cx="1805645" cy="39136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67928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RESULT DETAIL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5797296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 i="0">
                <a:solidFill>
                  <a:srgbClr val="1D2924"/>
                </a:solidFill>
                <a:latin typeface="Aptos"/>
              </a:rPr>
              <a:t>Open a race result and its contenders.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00" b="1" i="0">
                <a:solidFill>
                  <a:srgbClr val="718078"/>
                </a:solidFill>
                <a:latin typeface="Aptos"/>
              </a:rPr>
              <a:t>POST-RACE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718078"/>
                </a:solidFill>
                <a:latin typeface="Aptos"/>
              </a:rPr>
              <a:t>PHILIPPINE JOCKEY  |  SYSTEM OVERVIEW  |  16 OCT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103B2F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  <p:transition spd="med" advClick="1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C9A451"/>
                </a:solidFill>
                <a:latin typeface="Aptos"/>
              </a:rPr>
              <a:t>POST-RACE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103B2F"/>
                </a:solidFill>
                <a:latin typeface="Georgia"/>
              </a:rPr>
              <a:t>Explore the winning horse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43584"/>
            <a:ext cx="11064240" cy="9144"/>
          </a:xfrm>
          <a:prstGeom prst="rect">
            <a:avLst/>
          </a:prstGeom>
          <a:solidFill>
            <a:srgbClr val="DC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13191" y="1682495"/>
            <a:ext cx="2065857" cy="4306824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-horse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343" y="1755648"/>
            <a:ext cx="1919553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57400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HORSE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7" y="6044184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D2924"/>
                </a:solidFill>
                <a:latin typeface="Aptos"/>
              </a:rPr>
              <a:t>Review the horse's details and race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903" y="1682495"/>
            <a:ext cx="2065857" cy="4306824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obile-horse-stati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055" y="1755648"/>
            <a:ext cx="1919553" cy="416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54111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HORSE STATISTICS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6044184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D2924"/>
                </a:solidFill>
                <a:latin typeface="Aptos"/>
              </a:rPr>
              <a:t>See form, finishes, and recent performance.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00" b="1" i="0">
                <a:solidFill>
                  <a:srgbClr val="718078"/>
                </a:solidFill>
                <a:latin typeface="Aptos"/>
              </a:rPr>
              <a:t>POST-RACE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718078"/>
                </a:solidFill>
                <a:latin typeface="Aptos"/>
              </a:rPr>
              <a:t>PHILIPPINE JOCKEY  |  SYSTEM OVERVIEW  |  16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103B2F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  <p:transition spd="med" advClick="1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C9A451"/>
                </a:solidFill>
                <a:latin typeface="Aptos"/>
              </a:rPr>
              <a:t>POST-RACE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103B2F"/>
                </a:solidFill>
                <a:latin typeface="Georgia"/>
              </a:rPr>
              <a:t>Explore the winning jockey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43584"/>
            <a:ext cx="11064240" cy="9144"/>
          </a:xfrm>
          <a:prstGeom prst="rect">
            <a:avLst/>
          </a:prstGeom>
          <a:solidFill>
            <a:srgbClr val="DC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13191" y="1682495"/>
            <a:ext cx="2065857" cy="4306824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-jockey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343" y="1755648"/>
            <a:ext cx="1919553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57400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JOCKEY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7" y="6044184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D2924"/>
                </a:solidFill>
                <a:latin typeface="Aptos"/>
              </a:rPr>
              <a:t>Review the winning jockey's profile.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903" y="1682495"/>
            <a:ext cx="2065857" cy="4306824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obile-jockey-stati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055" y="1755648"/>
            <a:ext cx="1919553" cy="416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54111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JOCKEY STATISTICS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6044184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D2924"/>
                </a:solidFill>
                <a:latin typeface="Aptos"/>
              </a:rPr>
              <a:t>See participation and recent results.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00" b="1" i="0">
                <a:solidFill>
                  <a:srgbClr val="718078"/>
                </a:solidFill>
                <a:latin typeface="Aptos"/>
              </a:rPr>
              <a:t>POST-RACE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718078"/>
                </a:solidFill>
                <a:latin typeface="Aptos"/>
              </a:rPr>
              <a:t>PHILIPPINE JOCKEY  |  SYSTEM OVERVIEW  |  16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103B2F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  <p:transition spd="med" advClick="1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C9A451"/>
                </a:solidFill>
                <a:latin typeface="Aptos"/>
              </a:rPr>
              <a:t>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103B2F"/>
                </a:solidFill>
                <a:latin typeface="Georgia"/>
              </a:rPr>
              <a:t>Manage your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43584"/>
            <a:ext cx="11064240" cy="9144"/>
          </a:xfrm>
          <a:prstGeom prst="rect">
            <a:avLst/>
          </a:prstGeom>
          <a:solidFill>
            <a:srgbClr val="DC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47185" y="1719072"/>
            <a:ext cx="1951949" cy="4059936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337" y="1792224"/>
            <a:ext cx="1805645" cy="39136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34439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5797296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 i="0">
                <a:solidFill>
                  <a:srgbClr val="1D2924"/>
                </a:solidFill>
                <a:latin typeface="Aptos"/>
              </a:rPr>
              <a:t>Open account tools and saved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3929" y="1719072"/>
            <a:ext cx="1951949" cy="4059936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obile-profile-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081" y="1792224"/>
            <a:ext cx="1805645" cy="39136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01184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SETTINGS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5797296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 i="0">
                <a:solidFill>
                  <a:srgbClr val="1D2924"/>
                </a:solidFill>
                <a:latin typeface="Aptos"/>
              </a:rPr>
              <a:t>Manage preferences and account options.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0673" y="1719072"/>
            <a:ext cx="1951949" cy="4059936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obile-edit-pro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825" y="1792224"/>
            <a:ext cx="1805645" cy="39136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67928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EDIT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5797296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0" i="0">
                <a:solidFill>
                  <a:srgbClr val="1D2924"/>
                </a:solidFill>
                <a:latin typeface="Aptos"/>
              </a:rPr>
              <a:t>Update the profile details.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00" b="1" i="0">
                <a:solidFill>
                  <a:srgbClr val="718078"/>
                </a:solidFill>
                <a:latin typeface="Aptos"/>
              </a:rPr>
              <a:t>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718078"/>
                </a:solidFill>
                <a:latin typeface="Aptos"/>
              </a:rPr>
              <a:t>PHILIPPINE JOCKEY  |  SYSTEM OVERVIEW  |  16 OCT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103B2F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  <p:transition spd="med" advClick="1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C9A451"/>
                </a:solidFill>
                <a:latin typeface="Aptos"/>
              </a:rPr>
              <a:t>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103B2F"/>
                </a:solidFill>
                <a:latin typeface="Georgia"/>
              </a:rPr>
              <a:t>Open saved racing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43584"/>
            <a:ext cx="11064240" cy="9144"/>
          </a:xfrm>
          <a:prstGeom prst="rect">
            <a:avLst/>
          </a:prstGeom>
          <a:solidFill>
            <a:srgbClr val="DC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13191" y="1682495"/>
            <a:ext cx="2065857" cy="4306824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-favor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343" y="1755648"/>
            <a:ext cx="1919553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57400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FAVORITES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7" y="6044184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D2924"/>
                </a:solidFill>
                <a:latin typeface="Aptos"/>
              </a:rPr>
              <a:t>Return to saved horses and jockeys.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903" y="1682495"/>
            <a:ext cx="2065857" cy="4306824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obile-betting-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055" y="1755648"/>
            <a:ext cx="1919553" cy="416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54111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BETTING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6044184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D2924"/>
                </a:solidFill>
                <a:latin typeface="Aptos"/>
              </a:rPr>
              <a:t>Review past demo tickets.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00" b="1" i="0">
                <a:solidFill>
                  <a:srgbClr val="718078"/>
                </a:solidFill>
                <a:latin typeface="Aptos"/>
              </a:rPr>
              <a:t>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718078"/>
                </a:solidFill>
                <a:latin typeface="Aptos"/>
              </a:rPr>
              <a:t>PHILIPPINE JOCKEY  |  SYSTEM OVERVIEW  |  16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103B2F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  <p:transition spd="med" advClick="1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C9A451"/>
                </a:solidFill>
                <a:latin typeface="Aptos"/>
              </a:rPr>
              <a:t>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103B2F"/>
                </a:solidFill>
                <a:latin typeface="Georgia"/>
              </a:rPr>
              <a:t>Notifications and rewards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43584"/>
            <a:ext cx="11064240" cy="9144"/>
          </a:xfrm>
          <a:prstGeom prst="rect">
            <a:avLst/>
          </a:prstGeom>
          <a:solidFill>
            <a:srgbClr val="DCD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13191" y="1682495"/>
            <a:ext cx="2065857" cy="4306824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-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343" y="1755648"/>
            <a:ext cx="1919553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57400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NOTIFICATIONS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7" y="6044184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D2924"/>
                </a:solidFill>
                <a:latin typeface="Aptos"/>
              </a:rPr>
              <a:t>Review race-day and account updates.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903" y="1682495"/>
            <a:ext cx="2065857" cy="4306824"/>
          </a:xfrm>
          <a:prstGeom prst="roundRect">
            <a:avLst>
              <a:gd name="adj" fmla="val 12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obile-rewa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055" y="1755648"/>
            <a:ext cx="1919553" cy="416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54111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C9A451"/>
                </a:solidFill>
                <a:latin typeface="Aptos"/>
              </a:rPr>
              <a:t>REWARDS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6044184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1D2924"/>
                </a:solidFill>
                <a:latin typeface="Aptos"/>
              </a:rPr>
              <a:t>Review available rewards and progress.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700" b="1" i="0">
                <a:solidFill>
                  <a:srgbClr val="718078"/>
                </a:solidFill>
                <a:latin typeface="Aptos"/>
              </a:rPr>
              <a:t>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718078"/>
                </a:solidFill>
                <a:latin typeface="Aptos"/>
              </a:rPr>
              <a:t>PHILIPPINE JOCKEY  |  SYSTEM OVERVIEW  |  16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103B2F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  <p:transition spd="med" advClick="1"/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System overview</dc:creator>
  <dc:title>Philippine Jockey - Complete System Flow</dc:title>
  <dc:subject>Pre-race, live race, post-race, and profile screens</dc:subject>
</cp:coreProperties>
</file>