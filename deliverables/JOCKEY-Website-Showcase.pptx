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6256000" cy="9144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850F72-3F02-48FE-ABBC-30BF7C824DC4}"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EEF391-0031-478E-983E-E1DB4CE4E5B8}" type="slidenum">
              <a:rPr lang="en-US" smtClean="0"/>
              <a:t>‹#›</a:t>
            </a:fld>
            <a:endParaRPr lang="en-US"/>
          </a:p>
        </p:txBody>
      </p:sp>
    </p:spTree>
    <p:extLst>
      <p:ext uri="{BB962C8B-B14F-4D97-AF65-F5344CB8AC3E}">
        <p14:creationId xmlns:p14="http://schemas.microsoft.com/office/powerpoint/2010/main" val="3281207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Introduce the reconstructed JOCKEY website as a connected racing information and education platform. The screenshot is the actual About page supplied in ppt images. The following slides follow a visitor from public discovery to membership and deeper racing information.</a:t>
            </a:r>
          </a:p>
          <a:p>
            <a:endParaRPr lang="en-US"/>
          </a:p>
          <a:p>
            <a:r>
              <a:rPr lang="en-US"/>
              <a:t>[Sources]</a:t>
            </a:r>
          </a:p>
          <a:p>
            <a:r>
              <a:rPr lang="en-US"/>
              <a:t>ppt images/aboutus.png: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1</a:t>
            </a:fld>
            <a:endParaRPr lang="en-US"/>
          </a:p>
        </p:txBody>
      </p:sp>
    </p:spTree>
    <p:extLst>
      <p:ext uri="{BB962C8B-B14F-4D97-AF65-F5344CB8AC3E}">
        <p14:creationId xmlns:p14="http://schemas.microsoft.com/office/powerpoint/2010/main" val="2112317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calendar and meeting summaries are public. This exact screenshot shows the selected racing date, two venues, and membership prompts where protected program details would appear. Date navigation stays meaningful even before a visitor subscribes.</a:t>
            </a:r>
          </a:p>
          <a:p>
            <a:endParaRPr lang="en-US"/>
          </a:p>
          <a:p>
            <a:r>
              <a:rPr lang="en-US"/>
              <a:t>[Sources]</a:t>
            </a:r>
          </a:p>
          <a:p>
            <a:r>
              <a:rPr lang="en-US"/>
              <a:t>ppt images/no membership homepage.png: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2</a:t>
            </a:fld>
            <a:endParaRPr lang="en-US"/>
          </a:p>
        </p:txBody>
      </p:sp>
    </p:spTree>
    <p:extLst>
      <p:ext uri="{BB962C8B-B14F-4D97-AF65-F5344CB8AC3E}">
        <p14:creationId xmlns:p14="http://schemas.microsoft.com/office/powerpoint/2010/main" val="1112149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public learning guide covers getting started, programs, horse form, racing statistics, terminology, results, dividends and a glossary. The visible chapter connects racing date, meeting, program and published result. It supports understanding before a subscription decision; no conversion outcome is claimed.</a:t>
            </a:r>
          </a:p>
          <a:p>
            <a:endParaRPr lang="en-US"/>
          </a:p>
          <a:p>
            <a:r>
              <a:rPr lang="en-US"/>
              <a:t>[Sources]</a:t>
            </a:r>
          </a:p>
          <a:p>
            <a:r>
              <a:rPr lang="en-US"/>
              <a:t>ppt images/learn_to_race_free.png: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3</a:t>
            </a:fld>
            <a:endParaRPr lang="en-US"/>
          </a:p>
        </p:txBody>
      </p:sp>
    </p:spTree>
    <p:extLst>
      <p:ext uri="{BB962C8B-B14F-4D97-AF65-F5344CB8AC3E}">
        <p14:creationId xmlns:p14="http://schemas.microsoft.com/office/powerpoint/2010/main" val="1920522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Both plans unlock programs, form, statistics, results and dividends. Daily lasts 24 hours; monthly uses a calendar month. Prices are configurable in admin. The current demo journey is choose a plan, sign in or create an account, then Confirm payment. Confirmation activates membership without collecting money. No real payment provider or automatic renewal is implied. The supplied membership screenshot shows the actual pricing page; signup.png is available as supporting evidence of registration.</a:t>
            </a:r>
          </a:p>
          <a:p>
            <a:endParaRPr lang="en-US"/>
          </a:p>
          <a:p>
            <a:r>
              <a:rPr lang="en-US"/>
              <a:t>[Sources]</a:t>
            </a:r>
          </a:p>
          <a:p>
            <a:r>
              <a:rPr lang="en-US"/>
              <a:t>ppt images/pay_membership.png: user-supplied screenshot of the reconstructed website.</a:t>
            </a:r>
          </a:p>
          <a:p>
            <a:r>
              <a:rPr lang="en-US"/>
              <a:t>ppt images/signup.png: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4</a:t>
            </a:fld>
            <a:endParaRPr lang="en-US"/>
          </a:p>
        </p:txBody>
      </p:sp>
    </p:spTree>
    <p:extLst>
      <p:ext uri="{BB962C8B-B14F-4D97-AF65-F5344CB8AC3E}">
        <p14:creationId xmlns:p14="http://schemas.microsoft.com/office/powerpoint/2010/main" val="1394645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actual subscribed homepage. Compared with the public calendar on slide 2, the meeting card now reveals its scheduled races, post times, distances, surfaces and declarations. The selected date is retained. All screenshot values are supplied example records; membership flow is demonstrated without a real charge.</a:t>
            </a:r>
          </a:p>
          <a:p>
            <a:endParaRPr lang="en-US"/>
          </a:p>
          <a:p>
            <a:r>
              <a:rPr lang="en-US"/>
              <a:t>[Sources]</a:t>
            </a:r>
          </a:p>
          <a:p>
            <a:r>
              <a:rPr lang="en-US"/>
              <a:t>ppt images/paid_homepage.png: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5</a:t>
            </a:fld>
            <a:endParaRPr lang="en-US"/>
          </a:p>
        </p:txBody>
      </p:sp>
    </p:spTree>
    <p:extLst>
      <p:ext uri="{BB962C8B-B14F-4D97-AF65-F5344CB8AC3E}">
        <p14:creationId xmlns:p14="http://schemas.microsoft.com/office/powerpoint/2010/main" val="305984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Sampaguita Sprint as the on-screen example. The program includes race conditions, classifications, purse and declared entries. Links lead to the complete meeting and to horses and participants. The lower table includes recent form and declaration details. Missing comparable times remain unavailable, as shown; no timing is invented.</a:t>
            </a:r>
          </a:p>
          <a:p>
            <a:endParaRPr lang="en-US"/>
          </a:p>
          <a:p>
            <a:r>
              <a:rPr lang="en-US"/>
              <a:t>[Sources]</a:t>
            </a:r>
          </a:p>
          <a:p>
            <a:r>
              <a:rPr lang="en-US"/>
              <a:t>ppt images/paid_racing_info.png: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6</a:t>
            </a:fld>
            <a:endParaRPr lang="en-US"/>
          </a:p>
        </p:txBody>
      </p:sp>
    </p:spTree>
    <p:extLst>
      <p:ext uri="{BB962C8B-B14F-4D97-AF65-F5344CB8AC3E}">
        <p14:creationId xmlns:p14="http://schemas.microsoft.com/office/powerpoint/2010/main" val="1105959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supplied horse profile shows pedigree, current trainer and owner, recorded performance totals and recent form rows. These histories link back to races and their connections. Comparable form depends on an appropriate race context, and the screen explicitly marks unavailable comparable timing. Counts here describe the example horse only.</a:t>
            </a:r>
          </a:p>
          <a:p>
            <a:endParaRPr lang="en-US"/>
          </a:p>
          <a:p>
            <a:r>
              <a:rPr lang="en-US"/>
              <a:t>[Sources]</a:t>
            </a:r>
          </a:p>
          <a:p>
            <a:r>
              <a:rPr lang="en-US"/>
              <a:t>ppt images/horses_zoomed.png: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7</a:t>
            </a:fld>
            <a:endParaRPr lang="en-US"/>
          </a:p>
        </p:txBody>
      </p:sp>
    </p:spTree>
    <p:extLst>
      <p:ext uri="{BB962C8B-B14F-4D97-AF65-F5344CB8AC3E}">
        <p14:creationId xmlns:p14="http://schemas.microsoft.com/office/powerpoint/2010/main" val="992057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screenshot demonstrates the actual compact directory with active category tabs and a name search. Counts are read from this supplied website capture and the corresponding jockey, trainer and owner screenshots: 128 horses, 18 jockeys, 12 trainers and 10 owners. They describe generated demonstration data in that installation, not customers or authoritative coverage. This avoids substituting the different local workspace total.</a:t>
            </a:r>
          </a:p>
          <a:p>
            <a:endParaRPr lang="en-US"/>
          </a:p>
          <a:p>
            <a:r>
              <a:rPr lang="en-US"/>
              <a:t>[Sources]</a:t>
            </a:r>
          </a:p>
          <a:p>
            <a:r>
              <a:rPr lang="en-US"/>
              <a:t>ppt images/horses.png: user-supplied screenshot of the reconstructed website.</a:t>
            </a:r>
          </a:p>
          <a:p>
            <a:r>
              <a:rPr lang="en-US"/>
              <a:t>ppt images/jockeys.png: user-supplied screenshot of the reconstructed website.</a:t>
            </a:r>
          </a:p>
          <a:p>
            <a:r>
              <a:rPr lang="en-US"/>
              <a:t>ppt images/trainers.png: user-supplied screenshot of the reconstructed website.</a:t>
            </a:r>
          </a:p>
          <a:p>
            <a:r>
              <a:rPr lang="en-US"/>
              <a:t>ppt images/owners.png: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8</a:t>
            </a:fld>
            <a:endParaRPr lang="en-US"/>
          </a:p>
        </p:txBody>
      </p:sp>
    </p:spTree>
    <p:extLst>
      <p:ext uri="{BB962C8B-B14F-4D97-AF65-F5344CB8AC3E}">
        <p14:creationId xmlns:p14="http://schemas.microsoft.com/office/powerpoint/2010/main" val="2722370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Adrian Cruz is the example shown. The profile ties recorded performance to associated horses and horse/rider combinations. These are records in the demonstration database, not verified real-world career claims. The detail table below, shown in jockeys_zoomed(1).png, links recent finishes back to races and their connections.</a:t>
            </a:r>
          </a:p>
          <a:p>
            <a:endParaRPr lang="en-US"/>
          </a:p>
          <a:p>
            <a:r>
              <a:rPr lang="en-US"/>
              <a:t>[Sources]</a:t>
            </a:r>
          </a:p>
          <a:p>
            <a:r>
              <a:rPr lang="en-US"/>
              <a:t>ppt images/jockeys_zoomed.png: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9</a:t>
            </a:fld>
            <a:endParaRPr lang="en-US"/>
          </a:p>
        </p:txBody>
      </p:sp>
    </p:spTree>
    <p:extLst>
      <p:ext uri="{BB962C8B-B14F-4D97-AF65-F5344CB8AC3E}">
        <p14:creationId xmlns:p14="http://schemas.microsoft.com/office/powerpoint/2010/main" val="476310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These are the actual trainer and owner profile screenshots supplied by the user. Both share the participant structure: recorded performance, associated horses and combinations, followed by recent results. The consistent pattern helps users explore connections without learning a different screen for every role.</a:t>
            </a:r>
          </a:p>
          <a:p>
            <a:endParaRPr lang="en-US"/>
          </a:p>
          <a:p>
            <a:r>
              <a:rPr lang="en-US"/>
              <a:t>[Sources]</a:t>
            </a:r>
          </a:p>
          <a:p>
            <a:r>
              <a:rPr lang="en-US"/>
              <a:t>ppt images/trainers_zoomed.png: user-supplied screenshot of the reconstructed website.</a:t>
            </a:r>
          </a:p>
          <a:p>
            <a:r>
              <a:rPr lang="en-US"/>
              <a:t>ppt images/owners_zoomed.png: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10</a:t>
            </a:fld>
            <a:endParaRPr lang="en-US"/>
          </a:p>
        </p:txBody>
      </p:sp>
    </p:spTree>
    <p:extLst>
      <p:ext uri="{BB962C8B-B14F-4D97-AF65-F5344CB8AC3E}">
        <p14:creationId xmlns:p14="http://schemas.microsoft.com/office/powerpoint/2010/main" val="21280133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screenshot is the website Results page, despite the source filename races.png. It shows a date filter and linked published race results across venues. The information journey preserves the program after results and can lead into published event/dividend records. No unprovided dividend screenshot is invented here.</a:t>
            </a:r>
          </a:p>
          <a:p>
            <a:endParaRPr lang="en-US"/>
          </a:p>
          <a:p>
            <a:r>
              <a:rPr lang="en-US"/>
              <a:t>[Sources]</a:t>
            </a:r>
          </a:p>
          <a:p>
            <a:r>
              <a:rPr lang="en-US"/>
              <a:t>ppt images/races.png: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11</a:t>
            </a:fld>
            <a:endParaRPr lang="en-US"/>
          </a:p>
        </p:txBody>
      </p:sp>
    </p:spTree>
    <p:extLst>
      <p:ext uri="{BB962C8B-B14F-4D97-AF65-F5344CB8AC3E}">
        <p14:creationId xmlns:p14="http://schemas.microsoft.com/office/powerpoint/2010/main" val="37844793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by bringing the journey together, then move into the live website. Stakeholders can evaluate the public/member boundary and connected information flow. For an operational paid launch, authoritative data, verified payment processing and production validation are still required. The current payment button is a demonstration of access activation, not a money transfer. No launch date, revenue or adoption claim is made.</a:t>
            </a:r>
          </a:p>
          <a:p>
            <a:endParaRPr lang="en-US"/>
          </a:p>
          <a:p>
            <a:r>
              <a:rPr lang="en-US"/>
              <a:t>[Sources]</a:t>
            </a:r>
          </a:p>
          <a:p>
            <a:r>
              <a:rPr lang="en-US"/>
              <a:t>ppt images/aboutus.png: user-supplied screenshot of the reconstructed website.</a:t>
            </a:r>
          </a:p>
          <a:p>
            <a:r>
              <a:rPr lang="en-US"/>
              <a:t>ppt images/pay_membership.png: user-supplied screenshot of the reconstructed website.</a:t>
            </a:r>
          </a:p>
          <a:p>
            <a:r>
              <a:rPr lang="en-US"/>
              <a:t>ppt images/paid_homepage.png: user-supplied screenshot of the reconstructed website.</a:t>
            </a:r>
          </a:p>
          <a:p>
            <a:r>
              <a:rPr lang="en-US"/>
              <a:t>SETUP.md: membership policy, demo activation and deployment requirements.</a:t>
            </a:r>
          </a:p>
          <a:p>
            <a:r>
              <a:rPr lang="en-US"/>
              <a:t>RECONSTRUCTION.md: information model and recorded-history behavior.</a:t>
            </a:r>
          </a:p>
          <a:p>
            <a:r>
              <a:rPr lang="en-US"/>
              <a:t>[/Sources]</a:t>
            </a:r>
          </a:p>
          <a:p>
            <a:endParaRPr lang="en-US"/>
          </a:p>
          <a:p>
            <a:r>
              <a:rPr lang="en-US"/>
              <a:t>Screenshot provenance: the website images supplied in the workspace's ppt images folder. UI text and data are retained; framing uses native PowerPoint cropping. Example racing records do not establish official live coverage.</a:t>
            </a:r>
          </a:p>
        </p:txBody>
      </p:sp>
      <p:sp>
        <p:nvSpPr>
          <p:cNvPr id="4" name="Slide Number Placeholder 3"/>
          <p:cNvSpPr>
            <a:spLocks noGrp="1"/>
          </p:cNvSpPr>
          <p:nvPr>
            <p:ph type="sldNum" sz="quarter" idx="5"/>
          </p:nvPr>
        </p:nvSpPr>
        <p:spPr/>
        <p:txBody>
          <a:bodyPr/>
          <a:lstStyle/>
          <a:p>
            <a:fld id="{DAEEF391-0031-478E-983E-E1DB4CE4E5B8}" type="slidenum">
              <a:rPr lang="en-US" smtClean="0"/>
              <a:t>12</a:t>
            </a:fld>
            <a:endParaRPr lang="en-US"/>
          </a:p>
        </p:txBody>
      </p:sp>
    </p:spTree>
    <p:extLst>
      <p:ext uri="{BB962C8B-B14F-4D97-AF65-F5344CB8AC3E}">
        <p14:creationId xmlns:p14="http://schemas.microsoft.com/office/powerpoint/2010/main" val="2581584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D4CFB-99F8-453F-9782-EC8042A025C3}"/>
              </a:ext>
            </a:extLst>
          </p:cNvPr>
          <p:cNvSpPr>
            <a:spLocks noGrp="1"/>
          </p:cNvSpPr>
          <p:nvPr>
            <p:ph type="ctrTitle"/>
          </p:nvPr>
        </p:nvSpPr>
        <p:spPr>
          <a:xfrm>
            <a:off x="2032000" y="1496484"/>
            <a:ext cx="12192000" cy="3183467"/>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80E4CAE-09FA-49B7-B701-99331B8740E9}"/>
              </a:ext>
            </a:extLst>
          </p:cNvPr>
          <p:cNvSpPr>
            <a:spLocks noGrp="1"/>
          </p:cNvSpPr>
          <p:nvPr>
            <p:ph type="subTitle" idx="1"/>
          </p:nvPr>
        </p:nvSpPr>
        <p:spPr>
          <a:xfrm>
            <a:off x="2032000" y="4802717"/>
            <a:ext cx="12192000" cy="220768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951755-15FF-4C88-880E-7042DB6F691B}"/>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5" name="Footer Placeholder 4">
            <a:extLst>
              <a:ext uri="{FF2B5EF4-FFF2-40B4-BE49-F238E27FC236}">
                <a16:creationId xmlns:a16="http://schemas.microsoft.com/office/drawing/2014/main" id="{2078329E-A31B-4ECC-AEF3-57B19E0876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1C3A99-8529-464D-8354-EA2E46460B9F}"/>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517172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E026F-CB1F-4F84-9838-A652F67E9D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058921-9228-45CF-8462-5E5940E9BA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0485C6-5920-4316-8C3C-289A724EB5AE}"/>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5" name="Footer Placeholder 4">
            <a:extLst>
              <a:ext uri="{FF2B5EF4-FFF2-40B4-BE49-F238E27FC236}">
                <a16:creationId xmlns:a16="http://schemas.microsoft.com/office/drawing/2014/main" id="{000B2511-64FA-49A5-B0F3-2561958D57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C2E6CA-7925-4AC4-B53A-06473A32FED4}"/>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1413612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74D00-CB84-4497-942F-849D7AE9C40F}"/>
              </a:ext>
            </a:extLst>
          </p:cNvPr>
          <p:cNvSpPr>
            <a:spLocks noGrp="1"/>
          </p:cNvSpPr>
          <p:nvPr>
            <p:ph type="title"/>
          </p:nvPr>
        </p:nvSpPr>
        <p:spPr>
          <a:xfrm>
            <a:off x="1109133" y="2279653"/>
            <a:ext cx="14020800" cy="3803649"/>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12FD8B-3159-4D77-A168-5EC370BC6EAC}"/>
              </a:ext>
            </a:extLst>
          </p:cNvPr>
          <p:cNvSpPr>
            <a:spLocks noGrp="1"/>
          </p:cNvSpPr>
          <p:nvPr>
            <p:ph type="body" idx="1"/>
          </p:nvPr>
        </p:nvSpPr>
        <p:spPr>
          <a:xfrm>
            <a:off x="1109133" y="6119286"/>
            <a:ext cx="14020800" cy="2000249"/>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A05A8E-9E4D-427E-A371-FF39584CAB76}"/>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5" name="Footer Placeholder 4">
            <a:extLst>
              <a:ext uri="{FF2B5EF4-FFF2-40B4-BE49-F238E27FC236}">
                <a16:creationId xmlns:a16="http://schemas.microsoft.com/office/drawing/2014/main" id="{02E8CE81-E415-4745-A87E-59D4DAC711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BAB7A9-F9B5-4727-96F9-C5C994695871}"/>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3342991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CDFF3-E69E-49DB-A5EB-8DDCAE067F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4D56890-B6F7-47CA-B9CF-F6853C25FC13}"/>
              </a:ext>
            </a:extLst>
          </p:cNvPr>
          <p:cNvSpPr>
            <a:spLocks noGrp="1"/>
          </p:cNvSpPr>
          <p:nvPr>
            <p:ph sz="half" idx="1"/>
          </p:nvPr>
        </p:nvSpPr>
        <p:spPr>
          <a:xfrm>
            <a:off x="1117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582A14-C99C-4D83-BE0F-03EE6E88F6A0}"/>
              </a:ext>
            </a:extLst>
          </p:cNvPr>
          <p:cNvSpPr>
            <a:spLocks noGrp="1"/>
          </p:cNvSpPr>
          <p:nvPr>
            <p:ph sz="half" idx="2"/>
          </p:nvPr>
        </p:nvSpPr>
        <p:spPr>
          <a:xfrm>
            <a:off x="8229600" y="2434167"/>
            <a:ext cx="690880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5EB6DF6-5466-4B7C-823C-C69AB70BA2BB}"/>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6" name="Footer Placeholder 5">
            <a:extLst>
              <a:ext uri="{FF2B5EF4-FFF2-40B4-BE49-F238E27FC236}">
                <a16:creationId xmlns:a16="http://schemas.microsoft.com/office/drawing/2014/main" id="{9249C326-1A5B-42A3-8E94-1756A2620F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B1BAF1-8059-427D-96F9-340BC917ACBF}"/>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1706134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B49FE-3EBF-40F4-B689-A28E8AF019FA}"/>
              </a:ext>
            </a:extLst>
          </p:cNvPr>
          <p:cNvSpPr>
            <a:spLocks noGrp="1"/>
          </p:cNvSpPr>
          <p:nvPr>
            <p:ph type="title"/>
          </p:nvPr>
        </p:nvSpPr>
        <p:spPr>
          <a:xfrm>
            <a:off x="1119717" y="486836"/>
            <a:ext cx="14020800" cy="1767417"/>
          </a:xfrm>
        </p:spPr>
        <p:txBody>
          <a:bodyPr/>
          <a:lstStyle/>
          <a:p>
            <a:r>
              <a:rPr lang="en-US"/>
              <a:t>Click to edit Master title style</a:t>
            </a:r>
          </a:p>
        </p:txBody>
      </p:sp>
      <p:sp>
        <p:nvSpPr>
          <p:cNvPr id="3" name="Text Placeholder 2">
            <a:extLst>
              <a:ext uri="{FF2B5EF4-FFF2-40B4-BE49-F238E27FC236}">
                <a16:creationId xmlns:a16="http://schemas.microsoft.com/office/drawing/2014/main" id="{667B9E9D-FC44-41D8-ADEE-C72DD0ECE203}"/>
              </a:ext>
            </a:extLst>
          </p:cNvPr>
          <p:cNvSpPr>
            <a:spLocks noGrp="1"/>
          </p:cNvSpPr>
          <p:nvPr>
            <p:ph type="body" idx="1"/>
          </p:nvPr>
        </p:nvSpPr>
        <p:spPr>
          <a:xfrm>
            <a:off x="1119719" y="2241551"/>
            <a:ext cx="6877049"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41B6DA-A1CA-45A2-8CB2-43DE400B50A6}"/>
              </a:ext>
            </a:extLst>
          </p:cNvPr>
          <p:cNvSpPr>
            <a:spLocks noGrp="1"/>
          </p:cNvSpPr>
          <p:nvPr>
            <p:ph sz="half" idx="2"/>
          </p:nvPr>
        </p:nvSpPr>
        <p:spPr>
          <a:xfrm>
            <a:off x="1119719" y="3340100"/>
            <a:ext cx="6877049"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440C90-5756-4618-8622-3C8A6B0DA90A}"/>
              </a:ext>
            </a:extLst>
          </p:cNvPr>
          <p:cNvSpPr>
            <a:spLocks noGrp="1"/>
          </p:cNvSpPr>
          <p:nvPr>
            <p:ph type="body" sz="quarter" idx="3"/>
          </p:nvPr>
        </p:nvSpPr>
        <p:spPr>
          <a:xfrm>
            <a:off x="8229601" y="2241551"/>
            <a:ext cx="6910917" cy="109854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424F3F4-E1C8-4879-8F6D-64F0A612F137}"/>
              </a:ext>
            </a:extLst>
          </p:cNvPr>
          <p:cNvSpPr>
            <a:spLocks noGrp="1"/>
          </p:cNvSpPr>
          <p:nvPr>
            <p:ph sz="quarter" idx="4"/>
          </p:nvPr>
        </p:nvSpPr>
        <p:spPr>
          <a:xfrm>
            <a:off x="8229601" y="3340100"/>
            <a:ext cx="6910917"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1F0E57-BC94-4691-BF58-64FCE1D524B9}"/>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8" name="Footer Placeholder 7">
            <a:extLst>
              <a:ext uri="{FF2B5EF4-FFF2-40B4-BE49-F238E27FC236}">
                <a16:creationId xmlns:a16="http://schemas.microsoft.com/office/drawing/2014/main" id="{A062AD37-68AC-497A-AA3D-739119C0303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A673B4-236E-4A95-B661-C0CD8C24AB59}"/>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235839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58B52-88C4-403C-AC80-2817AE25C2F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C5CA9D5-9E38-4D38-A263-EDC1E834CB5A}"/>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4" name="Footer Placeholder 3">
            <a:extLst>
              <a:ext uri="{FF2B5EF4-FFF2-40B4-BE49-F238E27FC236}">
                <a16:creationId xmlns:a16="http://schemas.microsoft.com/office/drawing/2014/main" id="{A6CF556D-BDF7-4E23-98A5-27040A7FA4C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80B2BFE-B7ED-4511-A30F-E219B4793F67}"/>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1130747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C8984D-A7B8-4EDD-8C42-EEE7B22795FC}"/>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3" name="Footer Placeholder 2">
            <a:extLst>
              <a:ext uri="{FF2B5EF4-FFF2-40B4-BE49-F238E27FC236}">
                <a16:creationId xmlns:a16="http://schemas.microsoft.com/office/drawing/2014/main" id="{6C415479-DF8C-4C99-9585-E90ABBB5E2E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86E1A1-42DD-4424-B81B-0739B8BDDDCC}"/>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873503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C859E-7D86-4A08-8113-353E554DAEC7}"/>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3AEBE8-FA2A-4ACE-B17B-3A5B6123B71B}"/>
              </a:ext>
            </a:extLst>
          </p:cNvPr>
          <p:cNvSpPr>
            <a:spLocks noGrp="1"/>
          </p:cNvSpPr>
          <p:nvPr>
            <p:ph idx="1"/>
          </p:nvPr>
        </p:nvSpPr>
        <p:spPr>
          <a:xfrm>
            <a:off x="6910917" y="1316569"/>
            <a:ext cx="8229600" cy="649816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AB33ED-2567-4FCE-8735-D1DC8E469D98}"/>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55F298-973F-43FB-B4EF-0E7FFA51F45C}"/>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6" name="Footer Placeholder 5">
            <a:extLst>
              <a:ext uri="{FF2B5EF4-FFF2-40B4-BE49-F238E27FC236}">
                <a16:creationId xmlns:a16="http://schemas.microsoft.com/office/drawing/2014/main" id="{B6EA4D93-76FD-4BD9-A78E-0D2AC098A2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E6B10F-B2EE-4A26-A31A-BE5D236F3D70}"/>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1184300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5540F-669E-4CA9-9742-E7939584AFA9}"/>
              </a:ext>
            </a:extLst>
          </p:cNvPr>
          <p:cNvSpPr>
            <a:spLocks noGrp="1"/>
          </p:cNvSpPr>
          <p:nvPr>
            <p:ph type="title"/>
          </p:nvPr>
        </p:nvSpPr>
        <p:spPr>
          <a:xfrm>
            <a:off x="1119719" y="609600"/>
            <a:ext cx="5242983" cy="21336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648D94-E6CB-4A96-ADE8-4F41B6BA50BF}"/>
              </a:ext>
            </a:extLst>
          </p:cNvPr>
          <p:cNvSpPr>
            <a:spLocks noGrp="1"/>
          </p:cNvSpPr>
          <p:nvPr>
            <p:ph type="pic" idx="1"/>
          </p:nvPr>
        </p:nvSpPr>
        <p:spPr>
          <a:xfrm>
            <a:off x="6910917" y="1316569"/>
            <a:ext cx="8229600" cy="649816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DE2AD08-F79F-4493-9DCE-7EB470FE73C9}"/>
              </a:ext>
            </a:extLst>
          </p:cNvPr>
          <p:cNvSpPr>
            <a:spLocks noGrp="1"/>
          </p:cNvSpPr>
          <p:nvPr>
            <p:ph type="body" sz="half" idx="2"/>
          </p:nvPr>
        </p:nvSpPr>
        <p:spPr>
          <a:xfrm>
            <a:off x="1119719" y="2743200"/>
            <a:ext cx="5242983" cy="508211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128BCC-E094-4473-B654-20770028327D}"/>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6" name="Footer Placeholder 5">
            <a:extLst>
              <a:ext uri="{FF2B5EF4-FFF2-40B4-BE49-F238E27FC236}">
                <a16:creationId xmlns:a16="http://schemas.microsoft.com/office/drawing/2014/main" id="{9D4FD1FB-0619-48D2-891E-61E95A393C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4DC4CE-CE61-4441-B640-7E48F3E237EC}"/>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3129564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9FE6A-CA8B-463E-B954-CB0EC495751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36B4C6-1930-4EE0-BA6E-7BF82706FE9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CEF98E-A9F4-4ABA-89A7-5D578E9AF28B}"/>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5" name="Footer Placeholder 4">
            <a:extLst>
              <a:ext uri="{FF2B5EF4-FFF2-40B4-BE49-F238E27FC236}">
                <a16:creationId xmlns:a16="http://schemas.microsoft.com/office/drawing/2014/main" id="{62917FF9-AF81-44FE-8C3F-73A46EC92D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E792C7-9F1A-406C-97D3-FED24012F7EB}"/>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2168151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8B9B35-9484-4173-9D7D-878335007259}"/>
              </a:ext>
            </a:extLst>
          </p:cNvPr>
          <p:cNvSpPr>
            <a:spLocks noGrp="1"/>
          </p:cNvSpPr>
          <p:nvPr>
            <p:ph type="title" orient="vert"/>
          </p:nvPr>
        </p:nvSpPr>
        <p:spPr>
          <a:xfrm>
            <a:off x="11633200" y="486834"/>
            <a:ext cx="3505200" cy="774911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F6A981-7D5A-4389-85C7-12EAFC3B49D8}"/>
              </a:ext>
            </a:extLst>
          </p:cNvPr>
          <p:cNvSpPr>
            <a:spLocks noGrp="1"/>
          </p:cNvSpPr>
          <p:nvPr>
            <p:ph type="body" orient="vert" idx="1"/>
          </p:nvPr>
        </p:nvSpPr>
        <p:spPr>
          <a:xfrm>
            <a:off x="1117600" y="486834"/>
            <a:ext cx="10312400"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72DB14-47DD-463C-BBAE-4427E12FBF77}"/>
              </a:ext>
            </a:extLst>
          </p:cNvPr>
          <p:cNvSpPr>
            <a:spLocks noGrp="1"/>
          </p:cNvSpPr>
          <p:nvPr>
            <p:ph type="dt" sz="half" idx="10"/>
          </p:nvPr>
        </p:nvSpPr>
        <p:spPr/>
        <p:txBody>
          <a:bodyPr/>
          <a:lstStyle/>
          <a:p>
            <a:fld id="{3C44474C-29F8-4B3D-A9C0-91FC1620189D}" type="datetimeFigureOut">
              <a:rPr lang="en-US" smtClean="0"/>
              <a:t>10/19/2026</a:t>
            </a:fld>
            <a:endParaRPr lang="en-US"/>
          </a:p>
        </p:txBody>
      </p:sp>
      <p:sp>
        <p:nvSpPr>
          <p:cNvPr id="5" name="Footer Placeholder 4">
            <a:extLst>
              <a:ext uri="{FF2B5EF4-FFF2-40B4-BE49-F238E27FC236}">
                <a16:creationId xmlns:a16="http://schemas.microsoft.com/office/drawing/2014/main" id="{64DDCC54-199A-473B-8F94-9FB8734BE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C3C92-747A-495E-B8D1-0B8DD3D442FE}"/>
              </a:ext>
            </a:extLst>
          </p:cNvPr>
          <p:cNvSpPr>
            <a:spLocks noGrp="1"/>
          </p:cNvSpPr>
          <p:nvPr>
            <p:ph type="sldNum" sz="quarter" idx="12"/>
          </p:nvPr>
        </p:nvSpPr>
        <p:spPr/>
        <p:txBody>
          <a:bodyPr/>
          <a:lstStyle/>
          <a:p>
            <a:fld id="{E645CA72-27C9-4CD2-9BD0-B38C6202A137}" type="slidenum">
              <a:rPr lang="en-US" smtClean="0"/>
              <a:t>‹#›</a:t>
            </a:fld>
            <a:endParaRPr lang="en-US"/>
          </a:p>
        </p:txBody>
      </p:sp>
    </p:spTree>
    <p:extLst>
      <p:ext uri="{BB962C8B-B14F-4D97-AF65-F5344CB8AC3E}">
        <p14:creationId xmlns:p14="http://schemas.microsoft.com/office/powerpoint/2010/main" val="2266541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72BEA4-3780-4E9E-92FE-61D8FDEFF324}"/>
              </a:ext>
            </a:extLst>
          </p:cNvPr>
          <p:cNvSpPr>
            <a:spLocks noGrp="1"/>
          </p:cNvSpPr>
          <p:nvPr>
            <p:ph type="title"/>
          </p:nvPr>
        </p:nvSpPr>
        <p:spPr>
          <a:xfrm>
            <a:off x="1117600" y="486836"/>
            <a:ext cx="14020800" cy="176741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3FFA33-BF27-4EB8-9457-371BCC43A0AD}"/>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874E36-9D41-4082-8BBF-858B56E8B2D1}"/>
              </a:ext>
            </a:extLst>
          </p:cNvPr>
          <p:cNvSpPr>
            <a:spLocks noGrp="1"/>
          </p:cNvSpPr>
          <p:nvPr>
            <p:ph type="dt" sz="half" idx="2"/>
          </p:nvPr>
        </p:nvSpPr>
        <p:spPr>
          <a:xfrm>
            <a:off x="1117600" y="8475136"/>
            <a:ext cx="36576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3C44474C-29F8-4B3D-A9C0-91FC1620189D}" type="datetimeFigureOut">
              <a:rPr lang="en-US" smtClean="0"/>
              <a:t>10/19/2026</a:t>
            </a:fld>
            <a:endParaRPr lang="en-US"/>
          </a:p>
        </p:txBody>
      </p:sp>
      <p:sp>
        <p:nvSpPr>
          <p:cNvPr id="5" name="Footer Placeholder 4">
            <a:extLst>
              <a:ext uri="{FF2B5EF4-FFF2-40B4-BE49-F238E27FC236}">
                <a16:creationId xmlns:a16="http://schemas.microsoft.com/office/drawing/2014/main" id="{D47FED4F-91BA-4AE4-9286-D46A1E19675A}"/>
              </a:ext>
            </a:extLst>
          </p:cNvPr>
          <p:cNvSpPr>
            <a:spLocks noGrp="1"/>
          </p:cNvSpPr>
          <p:nvPr>
            <p:ph type="ftr" sz="quarter" idx="3"/>
          </p:nvPr>
        </p:nvSpPr>
        <p:spPr>
          <a:xfrm>
            <a:off x="5384800" y="8475136"/>
            <a:ext cx="54864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CCB863E-C0CA-4B8F-ABD2-CAE7B6BE29EB}"/>
              </a:ext>
            </a:extLst>
          </p:cNvPr>
          <p:cNvSpPr>
            <a:spLocks noGrp="1"/>
          </p:cNvSpPr>
          <p:nvPr>
            <p:ph type="sldNum" sz="quarter" idx="4"/>
          </p:nvPr>
        </p:nvSpPr>
        <p:spPr>
          <a:xfrm>
            <a:off x="11480800" y="8475136"/>
            <a:ext cx="36576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E645CA72-27C9-4CD2-9BD0-B38C6202A137}" type="slidenum">
              <a:rPr lang="en-US" smtClean="0"/>
              <a:t>‹#›</a:t>
            </a:fld>
            <a:endParaRPr lang="en-US"/>
          </a:p>
        </p:txBody>
      </p:sp>
    </p:spTree>
    <p:extLst>
      <p:ext uri="{BB962C8B-B14F-4D97-AF65-F5344CB8AC3E}">
        <p14:creationId xmlns:p14="http://schemas.microsoft.com/office/powerpoint/2010/main" val="146357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dev6.comclark.com/"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3B2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5F4D8F-D739-45F5-B3A1-C05F15228A72}"/>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F5F1E8"/>
                </a:solidFill>
                <a:latin typeface="Aptos"/>
              </a:rPr>
              <a:t>JOCKEY</a:t>
            </a:r>
          </a:p>
        </p:txBody>
      </p:sp>
      <p:sp>
        <p:nvSpPr>
          <p:cNvPr id="3" name="TextBox 2">
            <a:extLst>
              <a:ext uri="{FF2B5EF4-FFF2-40B4-BE49-F238E27FC236}">
                <a16:creationId xmlns:a16="http://schemas.microsoft.com/office/drawing/2014/main" id="{5E326E55-83BF-47B3-81B2-FA0497CB5999}"/>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F2D78F"/>
                </a:solidFill>
                <a:latin typeface="Aptos"/>
              </a:rPr>
              <a:t>THE WEBSITE WE BUILT</a:t>
            </a:r>
          </a:p>
        </p:txBody>
      </p:sp>
      <p:sp>
        <p:nvSpPr>
          <p:cNvPr id="4" name="TextBox 3">
            <a:extLst>
              <a:ext uri="{FF2B5EF4-FFF2-40B4-BE49-F238E27FC236}">
                <a16:creationId xmlns:a16="http://schemas.microsoft.com/office/drawing/2014/main" id="{774799ED-5CDA-4EB7-93AE-EA91F145A738}"/>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F2D78F"/>
                </a:solidFill>
                <a:latin typeface="Aptos"/>
              </a:rPr>
              <a:t>WEBSITE SHOWCASE  /  19 OCTOBER 2026</a:t>
            </a:r>
          </a:p>
        </p:txBody>
      </p:sp>
      <p:sp>
        <p:nvSpPr>
          <p:cNvPr id="5" name="TextBox 4">
            <a:extLst>
              <a:ext uri="{FF2B5EF4-FFF2-40B4-BE49-F238E27FC236}">
                <a16:creationId xmlns:a16="http://schemas.microsoft.com/office/drawing/2014/main" id="{78357476-DB2E-4C56-87EB-4F8C243AFB8E}"/>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F2D78F"/>
                </a:solidFill>
                <a:latin typeface="Aptos"/>
              </a:rPr>
              <a:t>01</a:t>
            </a:r>
          </a:p>
        </p:txBody>
      </p:sp>
      <p:sp>
        <p:nvSpPr>
          <p:cNvPr id="6" name="TextBox 5">
            <a:extLst>
              <a:ext uri="{FF2B5EF4-FFF2-40B4-BE49-F238E27FC236}">
                <a16:creationId xmlns:a16="http://schemas.microsoft.com/office/drawing/2014/main" id="{685687A8-538C-40E4-800A-4734AA4C8E60}"/>
              </a:ext>
            </a:extLst>
          </p:cNvPr>
          <p:cNvSpPr txBox="1"/>
          <p:nvPr/>
        </p:nvSpPr>
        <p:spPr>
          <a:xfrm>
            <a:off x="812800" y="1765300"/>
            <a:ext cx="5334000" cy="954107"/>
          </a:xfrm>
          <a:prstGeom prst="rect">
            <a:avLst/>
          </a:prstGeom>
          <a:noFill/>
        </p:spPr>
        <p:txBody>
          <a:bodyPr vert="horz" wrap="square" lIns="0" tIns="0" rIns="0" bIns="0" rtlCol="0">
            <a:spAutoFit/>
          </a:bodyPr>
          <a:lstStyle/>
          <a:p>
            <a:pPr>
              <a:spcAft>
                <a:spcPts val="800"/>
              </a:spcAft>
            </a:pPr>
            <a:r>
              <a:rPr lang="en-US" sz="6200">
                <a:solidFill>
                  <a:srgbClr val="F5F1E8"/>
                </a:solidFill>
                <a:latin typeface="Georgia" panose="02040502050405020303" pitchFamily="18" charset="0"/>
              </a:rPr>
              <a:t>JOCKEY</a:t>
            </a:r>
          </a:p>
        </p:txBody>
      </p:sp>
      <p:sp>
        <p:nvSpPr>
          <p:cNvPr id="7" name="TextBox 6">
            <a:extLst>
              <a:ext uri="{FF2B5EF4-FFF2-40B4-BE49-F238E27FC236}">
                <a16:creationId xmlns:a16="http://schemas.microsoft.com/office/drawing/2014/main" id="{E11F13B1-418B-491F-978F-55F8892DD9D6}"/>
              </a:ext>
            </a:extLst>
          </p:cNvPr>
          <p:cNvSpPr txBox="1"/>
          <p:nvPr/>
        </p:nvSpPr>
        <p:spPr>
          <a:xfrm>
            <a:off x="812800" y="3479800"/>
            <a:ext cx="5334000" cy="1641475"/>
          </a:xfrm>
          <a:prstGeom prst="rect">
            <a:avLst/>
          </a:prstGeom>
          <a:noFill/>
        </p:spPr>
        <p:txBody>
          <a:bodyPr vert="horz" wrap="square" lIns="0" tIns="0" rIns="0" bIns="0" rtlCol="0">
            <a:spAutoFit/>
          </a:bodyPr>
          <a:lstStyle/>
          <a:p>
            <a:pPr>
              <a:spcAft>
                <a:spcPts val="800"/>
              </a:spcAft>
            </a:pPr>
            <a:r>
              <a:rPr lang="en-US" sz="5000">
                <a:solidFill>
                  <a:srgbClr val="F5F1E8"/>
                </a:solidFill>
                <a:latin typeface="Georgia" panose="02040502050405020303" pitchFamily="18" charset="0"/>
              </a:rPr>
              <a:t>Race day,
connected.</a:t>
            </a:r>
          </a:p>
        </p:txBody>
      </p:sp>
      <p:sp>
        <p:nvSpPr>
          <p:cNvPr id="8" name="TextBox 7">
            <a:extLst>
              <a:ext uri="{FF2B5EF4-FFF2-40B4-BE49-F238E27FC236}">
                <a16:creationId xmlns:a16="http://schemas.microsoft.com/office/drawing/2014/main" id="{10302526-881E-47DD-9A4B-BF85820C6231}"/>
              </a:ext>
            </a:extLst>
          </p:cNvPr>
          <p:cNvSpPr txBox="1"/>
          <p:nvPr/>
        </p:nvSpPr>
        <p:spPr>
          <a:xfrm>
            <a:off x="812800" y="6184900"/>
            <a:ext cx="4826000" cy="353943"/>
          </a:xfrm>
          <a:prstGeom prst="rect">
            <a:avLst/>
          </a:prstGeom>
          <a:noFill/>
        </p:spPr>
        <p:txBody>
          <a:bodyPr vert="horz" wrap="square" lIns="0" tIns="0" rIns="0" bIns="0" rtlCol="0">
            <a:spAutoFit/>
          </a:bodyPr>
          <a:lstStyle/>
          <a:p>
            <a:pPr>
              <a:spcAft>
                <a:spcPts val="800"/>
              </a:spcAft>
            </a:pPr>
            <a:r>
              <a:rPr lang="en-US" sz="2300">
                <a:solidFill>
                  <a:srgbClr val="F2D78F"/>
                </a:solidFill>
                <a:latin typeface="Aptos"/>
              </a:rPr>
              <a:t>Calendar. Programs. Form. Results.</a:t>
            </a:r>
          </a:p>
        </p:txBody>
      </p:sp>
      <p:sp>
        <p:nvSpPr>
          <p:cNvPr id="9" name="TextBox 8">
            <a:extLst>
              <a:ext uri="{FF2B5EF4-FFF2-40B4-BE49-F238E27FC236}">
                <a16:creationId xmlns:a16="http://schemas.microsoft.com/office/drawing/2014/main" id="{15E1E1E5-E527-4950-8CC7-E277CCE9147C}"/>
              </a:ext>
            </a:extLst>
          </p:cNvPr>
          <p:cNvSpPr txBox="1"/>
          <p:nvPr/>
        </p:nvSpPr>
        <p:spPr>
          <a:xfrm>
            <a:off x="812800" y="7708900"/>
            <a:ext cx="5461000" cy="307777"/>
          </a:xfrm>
          <a:prstGeom prst="rect">
            <a:avLst/>
          </a:prstGeom>
          <a:noFill/>
        </p:spPr>
        <p:txBody>
          <a:bodyPr vert="horz" wrap="square" lIns="0" tIns="0" rIns="0" bIns="0" rtlCol="0">
            <a:spAutoFit/>
          </a:bodyPr>
          <a:lstStyle/>
          <a:p>
            <a:pPr>
              <a:spcAft>
                <a:spcPts val="800"/>
              </a:spcAft>
            </a:pPr>
            <a:r>
              <a:rPr lang="en-US" sz="2000">
                <a:solidFill>
                  <a:srgbClr val="F5F1E8"/>
                </a:solidFill>
                <a:latin typeface="Aptos"/>
              </a:rPr>
              <a:t>Stakeholder product showcase</a:t>
            </a:r>
          </a:p>
        </p:txBody>
      </p:sp>
      <p:pic>
        <p:nvPicPr>
          <p:cNvPr id="11" name="Picture 10" descr="Actual website screenshot supplied by user: ppt images/aboutus.png. Native presentation crop; original UI unchanged.">
            <a:extLst>
              <a:ext uri="{FF2B5EF4-FFF2-40B4-BE49-F238E27FC236}">
                <a16:creationId xmlns:a16="http://schemas.microsoft.com/office/drawing/2014/main" id="{75B59A72-7020-44CE-BE9A-A74AE3182130}"/>
              </a:ext>
            </a:extLst>
          </p:cNvPr>
          <p:cNvPicPr>
            <a:picLocks noChangeAspect="1"/>
          </p:cNvPicPr>
          <p:nvPr/>
        </p:nvPicPr>
        <p:blipFill rotWithShape="1">
          <a:blip r:embed="rId3">
            <a:extLst>
              <a:ext uri="{28A0092B-C50C-407E-A947-70E740481C1C}">
                <a14:useLocalDpi xmlns:a14="http://schemas.microsoft.com/office/drawing/2010/main" val="0"/>
              </a:ext>
            </a:extLst>
          </a:blip>
          <a:srcRect l="14148" t="11170" r="14898" b="11907"/>
          <a:stretch/>
        </p:blipFill>
        <p:spPr>
          <a:xfrm>
            <a:off x="6477000" y="1562100"/>
            <a:ext cx="8966200" cy="4943600"/>
          </a:xfrm>
          <a:prstGeom prst="rect">
            <a:avLst/>
          </a:prstGeom>
          <a:ln w="6350">
            <a:solidFill>
              <a:srgbClr val="D9DED6"/>
            </a:solidFill>
          </a:ln>
        </p:spPr>
      </p:pic>
    </p:spTree>
    <p:extLst>
      <p:ext uri="{BB962C8B-B14F-4D97-AF65-F5344CB8AC3E}">
        <p14:creationId xmlns:p14="http://schemas.microsoft.com/office/powerpoint/2010/main" val="3727230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6CE381-1354-48E9-95EE-59EF0420FA68}"/>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B9728CFA-EE0D-4117-9ED4-6F791FA96333}"/>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65746C"/>
                </a:solidFill>
                <a:latin typeface="Aptos"/>
              </a:rPr>
              <a:t>01 / DISCOVER</a:t>
            </a:r>
          </a:p>
        </p:txBody>
      </p:sp>
      <p:sp>
        <p:nvSpPr>
          <p:cNvPr id="4" name="TextBox 3">
            <a:extLst>
              <a:ext uri="{FF2B5EF4-FFF2-40B4-BE49-F238E27FC236}">
                <a16:creationId xmlns:a16="http://schemas.microsoft.com/office/drawing/2014/main" id="{2563770F-740C-4010-84FA-B276FE6F69BA}"/>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65746C"/>
                </a:solidFill>
                <a:latin typeface="Aptos"/>
              </a:rPr>
              <a:t>WEBSITE SHOWCASE  /  19 OCTOBER 2026</a:t>
            </a:r>
          </a:p>
        </p:txBody>
      </p:sp>
      <p:sp>
        <p:nvSpPr>
          <p:cNvPr id="5" name="TextBox 4">
            <a:extLst>
              <a:ext uri="{FF2B5EF4-FFF2-40B4-BE49-F238E27FC236}">
                <a16:creationId xmlns:a16="http://schemas.microsoft.com/office/drawing/2014/main" id="{1EC589A2-0D10-4DB8-9B65-6D571F6C199D}"/>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65746C"/>
                </a:solidFill>
                <a:latin typeface="Aptos"/>
              </a:rPr>
              <a:t>02</a:t>
            </a:r>
          </a:p>
        </p:txBody>
      </p:sp>
      <p:sp>
        <p:nvSpPr>
          <p:cNvPr id="6" name="TextBox 5">
            <a:extLst>
              <a:ext uri="{FF2B5EF4-FFF2-40B4-BE49-F238E27FC236}">
                <a16:creationId xmlns:a16="http://schemas.microsoft.com/office/drawing/2014/main" id="{C08A0115-C4AD-4950-B55A-211F75D61372}"/>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103B2F"/>
                </a:solidFill>
                <a:latin typeface="Georgia" panose="02040502050405020303" pitchFamily="18" charset="0"/>
              </a:rPr>
              <a:t>Start with the racing calendar</a:t>
            </a:r>
          </a:p>
        </p:txBody>
      </p:sp>
      <p:pic>
        <p:nvPicPr>
          <p:cNvPr id="8" name="Picture 7" descr="Actual website screenshot supplied by user: ppt images/no membership homepage.png. Native presentation crop; original UI unchanged.">
            <a:extLst>
              <a:ext uri="{FF2B5EF4-FFF2-40B4-BE49-F238E27FC236}">
                <a16:creationId xmlns:a16="http://schemas.microsoft.com/office/drawing/2014/main" id="{3AE23CEE-5707-4F24-B4C7-0E22367AFA69}"/>
              </a:ext>
            </a:extLst>
          </p:cNvPr>
          <p:cNvPicPr>
            <a:picLocks noChangeAspect="1"/>
          </p:cNvPicPr>
          <p:nvPr/>
        </p:nvPicPr>
        <p:blipFill rotWithShape="1">
          <a:blip r:embed="rId3">
            <a:extLst>
              <a:ext uri="{28A0092B-C50C-407E-A947-70E740481C1C}">
                <a14:useLocalDpi xmlns:a14="http://schemas.microsoft.com/office/drawing/2010/main" val="0"/>
              </a:ext>
            </a:extLst>
          </a:blip>
          <a:srcRect l="19004" t="28542" r="19701" b="2960"/>
          <a:stretch/>
        </p:blipFill>
        <p:spPr>
          <a:xfrm>
            <a:off x="812800" y="2311400"/>
            <a:ext cx="10143145" cy="5740400"/>
          </a:xfrm>
          <a:prstGeom prst="rect">
            <a:avLst/>
          </a:prstGeom>
          <a:ln w="6350">
            <a:solidFill>
              <a:srgbClr val="D9DED6"/>
            </a:solidFill>
          </a:ln>
        </p:spPr>
      </p:pic>
      <p:sp>
        <p:nvSpPr>
          <p:cNvPr id="9" name="TextBox 8">
            <a:extLst>
              <a:ext uri="{FF2B5EF4-FFF2-40B4-BE49-F238E27FC236}">
                <a16:creationId xmlns:a16="http://schemas.microsoft.com/office/drawing/2014/main" id="{BA0BC95E-89C2-4F86-8D79-092BAD75A0C6}"/>
              </a:ext>
            </a:extLst>
          </p:cNvPr>
          <p:cNvSpPr txBox="1"/>
          <p:nvPr/>
        </p:nvSpPr>
        <p:spPr>
          <a:xfrm>
            <a:off x="11684000" y="2692400"/>
            <a:ext cx="3759200" cy="384721"/>
          </a:xfrm>
          <a:prstGeom prst="rect">
            <a:avLst/>
          </a:prstGeom>
          <a:noFill/>
        </p:spPr>
        <p:txBody>
          <a:bodyPr vert="horz" wrap="square" lIns="0" tIns="0" rIns="0" bIns="0" rtlCol="0">
            <a:spAutoFit/>
          </a:bodyPr>
          <a:lstStyle/>
          <a:p>
            <a:pPr>
              <a:spcAft>
                <a:spcPts val="800"/>
              </a:spcAft>
            </a:pPr>
            <a:r>
              <a:rPr lang="en-US" sz="2500">
                <a:solidFill>
                  <a:srgbClr val="103B2F"/>
                </a:solidFill>
                <a:latin typeface="Georgia" panose="02040502050405020303" pitchFamily="18" charset="0"/>
              </a:rPr>
              <a:t>Choose a date</a:t>
            </a:r>
          </a:p>
        </p:txBody>
      </p:sp>
      <p:sp>
        <p:nvSpPr>
          <p:cNvPr id="10" name="TextBox 9">
            <a:extLst>
              <a:ext uri="{FF2B5EF4-FFF2-40B4-BE49-F238E27FC236}">
                <a16:creationId xmlns:a16="http://schemas.microsoft.com/office/drawing/2014/main" id="{41E4E0E1-1E20-45F5-B571-747ACD5CECC3}"/>
              </a:ext>
            </a:extLst>
          </p:cNvPr>
          <p:cNvSpPr txBox="1"/>
          <p:nvPr/>
        </p:nvSpPr>
        <p:spPr>
          <a:xfrm>
            <a:off x="11684000" y="3403600"/>
            <a:ext cx="3759200" cy="646331"/>
          </a:xfrm>
          <a:prstGeom prst="rect">
            <a:avLst/>
          </a:prstGeom>
          <a:noFill/>
        </p:spPr>
        <p:txBody>
          <a:bodyPr vert="horz" wrap="square" lIns="0" tIns="0" rIns="0" bIns="0" rtlCol="0">
            <a:spAutoFit/>
          </a:bodyPr>
          <a:lstStyle/>
          <a:p>
            <a:pPr>
              <a:spcAft>
                <a:spcPts val="800"/>
              </a:spcAft>
            </a:pPr>
            <a:r>
              <a:rPr lang="en-US" sz="2100">
                <a:solidFill>
                  <a:srgbClr val="103B2F"/>
                </a:solidFill>
                <a:latin typeface="Aptos"/>
              </a:rPr>
              <a:t>See venues and meeting summaries.</a:t>
            </a:r>
          </a:p>
        </p:txBody>
      </p:sp>
      <p:sp>
        <p:nvSpPr>
          <p:cNvPr id="11" name="TextBox 10">
            <a:extLst>
              <a:ext uri="{FF2B5EF4-FFF2-40B4-BE49-F238E27FC236}">
                <a16:creationId xmlns:a16="http://schemas.microsoft.com/office/drawing/2014/main" id="{86F2F155-3DF9-41CD-85F4-DAA3051A538E}"/>
              </a:ext>
            </a:extLst>
          </p:cNvPr>
          <p:cNvSpPr txBox="1"/>
          <p:nvPr/>
        </p:nvSpPr>
        <p:spPr>
          <a:xfrm>
            <a:off x="11684000" y="5207000"/>
            <a:ext cx="3759200" cy="384721"/>
          </a:xfrm>
          <a:prstGeom prst="rect">
            <a:avLst/>
          </a:prstGeom>
          <a:noFill/>
        </p:spPr>
        <p:txBody>
          <a:bodyPr vert="horz" wrap="square" lIns="0" tIns="0" rIns="0" bIns="0" rtlCol="0">
            <a:spAutoFit/>
          </a:bodyPr>
          <a:lstStyle/>
          <a:p>
            <a:pPr>
              <a:spcAft>
                <a:spcPts val="800"/>
              </a:spcAft>
            </a:pPr>
            <a:r>
              <a:rPr lang="en-US" sz="2500">
                <a:solidFill>
                  <a:srgbClr val="103B2F"/>
                </a:solidFill>
                <a:latin typeface="Georgia" panose="02040502050405020303" pitchFamily="18" charset="0"/>
              </a:rPr>
              <a:t>Explore freely</a:t>
            </a:r>
          </a:p>
        </p:txBody>
      </p:sp>
      <p:sp>
        <p:nvSpPr>
          <p:cNvPr id="12" name="TextBox 11">
            <a:extLst>
              <a:ext uri="{FF2B5EF4-FFF2-40B4-BE49-F238E27FC236}">
                <a16:creationId xmlns:a16="http://schemas.microsoft.com/office/drawing/2014/main" id="{EBA23030-27EB-4816-B31D-25C5368D5639}"/>
              </a:ext>
            </a:extLst>
          </p:cNvPr>
          <p:cNvSpPr txBox="1"/>
          <p:nvPr/>
        </p:nvSpPr>
        <p:spPr>
          <a:xfrm>
            <a:off x="11684000" y="5918200"/>
            <a:ext cx="3759200" cy="646331"/>
          </a:xfrm>
          <a:prstGeom prst="rect">
            <a:avLst/>
          </a:prstGeom>
          <a:noFill/>
        </p:spPr>
        <p:txBody>
          <a:bodyPr vert="horz" wrap="square" lIns="0" tIns="0" rIns="0" bIns="0" rtlCol="0">
            <a:spAutoFit/>
          </a:bodyPr>
          <a:lstStyle/>
          <a:p>
            <a:pPr>
              <a:spcAft>
                <a:spcPts val="800"/>
              </a:spcAft>
            </a:pPr>
            <a:r>
              <a:rPr lang="en-US" sz="2100">
                <a:solidFill>
                  <a:srgbClr val="103B2F"/>
                </a:solidFill>
                <a:latin typeface="Aptos"/>
              </a:rPr>
              <a:t>Full programs open through membership.</a:t>
            </a:r>
          </a:p>
        </p:txBody>
      </p:sp>
    </p:spTree>
    <p:extLst>
      <p:ext uri="{BB962C8B-B14F-4D97-AF65-F5344CB8AC3E}">
        <p14:creationId xmlns:p14="http://schemas.microsoft.com/office/powerpoint/2010/main" val="38381846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E400C1-B27A-4F44-A02B-596EADF5E68D}"/>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FF3AF032-EC27-4511-8EE8-8C3667C711DF}"/>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65746C"/>
                </a:solidFill>
                <a:latin typeface="Aptos"/>
              </a:rPr>
              <a:t>02 / LEARN</a:t>
            </a:r>
          </a:p>
        </p:txBody>
      </p:sp>
      <p:sp>
        <p:nvSpPr>
          <p:cNvPr id="4" name="TextBox 3">
            <a:extLst>
              <a:ext uri="{FF2B5EF4-FFF2-40B4-BE49-F238E27FC236}">
                <a16:creationId xmlns:a16="http://schemas.microsoft.com/office/drawing/2014/main" id="{A14FC0A5-E452-497B-9D0F-35365A16D67F}"/>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65746C"/>
                </a:solidFill>
                <a:latin typeface="Aptos"/>
              </a:rPr>
              <a:t>WEBSITE SHOWCASE  /  19 OCTOBER 2026</a:t>
            </a:r>
          </a:p>
        </p:txBody>
      </p:sp>
      <p:sp>
        <p:nvSpPr>
          <p:cNvPr id="5" name="TextBox 4">
            <a:extLst>
              <a:ext uri="{FF2B5EF4-FFF2-40B4-BE49-F238E27FC236}">
                <a16:creationId xmlns:a16="http://schemas.microsoft.com/office/drawing/2014/main" id="{EE81B6CB-1B80-40EC-8540-C653D14F71AD}"/>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65746C"/>
                </a:solidFill>
                <a:latin typeface="Aptos"/>
              </a:rPr>
              <a:t>03</a:t>
            </a:r>
          </a:p>
        </p:txBody>
      </p:sp>
      <p:sp>
        <p:nvSpPr>
          <p:cNvPr id="6" name="TextBox 5">
            <a:extLst>
              <a:ext uri="{FF2B5EF4-FFF2-40B4-BE49-F238E27FC236}">
                <a16:creationId xmlns:a16="http://schemas.microsoft.com/office/drawing/2014/main" id="{743A20AD-8C32-4789-A69E-7F2955C6A228}"/>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103B2F"/>
                </a:solidFill>
                <a:latin typeface="Georgia" panose="02040502050405020303" pitchFamily="18" charset="0"/>
              </a:rPr>
              <a:t>Give newcomers a way into racing</a:t>
            </a:r>
          </a:p>
        </p:txBody>
      </p:sp>
      <p:sp>
        <p:nvSpPr>
          <p:cNvPr id="7" name="TextBox 6">
            <a:extLst>
              <a:ext uri="{FF2B5EF4-FFF2-40B4-BE49-F238E27FC236}">
                <a16:creationId xmlns:a16="http://schemas.microsoft.com/office/drawing/2014/main" id="{5A804CED-A2D3-4609-9157-4A70BBAC9CCF}"/>
              </a:ext>
            </a:extLst>
          </p:cNvPr>
          <p:cNvSpPr txBox="1"/>
          <p:nvPr/>
        </p:nvSpPr>
        <p:spPr>
          <a:xfrm>
            <a:off x="812800" y="2857500"/>
            <a:ext cx="4826000" cy="446276"/>
          </a:xfrm>
          <a:prstGeom prst="rect">
            <a:avLst/>
          </a:prstGeom>
          <a:noFill/>
        </p:spPr>
        <p:txBody>
          <a:bodyPr vert="horz" wrap="square" lIns="0" tIns="0" rIns="0" bIns="0" rtlCol="0">
            <a:spAutoFit/>
          </a:bodyPr>
          <a:lstStyle/>
          <a:p>
            <a:pPr>
              <a:spcAft>
                <a:spcPts val="800"/>
              </a:spcAft>
            </a:pPr>
            <a:r>
              <a:rPr lang="en-US" sz="2900">
                <a:solidFill>
                  <a:srgbClr val="103B2F"/>
                </a:solidFill>
                <a:latin typeface="Georgia" panose="02040502050405020303" pitchFamily="18" charset="0"/>
              </a:rPr>
              <a:t>Read the program.</a:t>
            </a:r>
          </a:p>
        </p:txBody>
      </p:sp>
      <p:sp>
        <p:nvSpPr>
          <p:cNvPr id="8" name="TextBox 7">
            <a:extLst>
              <a:ext uri="{FF2B5EF4-FFF2-40B4-BE49-F238E27FC236}">
                <a16:creationId xmlns:a16="http://schemas.microsoft.com/office/drawing/2014/main" id="{EEAB4ACA-A287-412C-9482-E1D1E00CCBB7}"/>
              </a:ext>
            </a:extLst>
          </p:cNvPr>
          <p:cNvSpPr txBox="1"/>
          <p:nvPr/>
        </p:nvSpPr>
        <p:spPr>
          <a:xfrm>
            <a:off x="812800" y="4203700"/>
            <a:ext cx="4826000" cy="446276"/>
          </a:xfrm>
          <a:prstGeom prst="rect">
            <a:avLst/>
          </a:prstGeom>
          <a:noFill/>
        </p:spPr>
        <p:txBody>
          <a:bodyPr vert="horz" wrap="square" lIns="0" tIns="0" rIns="0" bIns="0" rtlCol="0">
            <a:spAutoFit/>
          </a:bodyPr>
          <a:lstStyle/>
          <a:p>
            <a:pPr>
              <a:spcAft>
                <a:spcPts val="800"/>
              </a:spcAft>
            </a:pPr>
            <a:r>
              <a:rPr lang="en-US" sz="2900">
                <a:solidFill>
                  <a:srgbClr val="103B2F"/>
                </a:solidFill>
                <a:latin typeface="Georgia" panose="02040502050405020303" pitchFamily="18" charset="0"/>
              </a:rPr>
              <a:t>Understand form.</a:t>
            </a:r>
          </a:p>
        </p:txBody>
      </p:sp>
      <p:sp>
        <p:nvSpPr>
          <p:cNvPr id="9" name="TextBox 8">
            <a:extLst>
              <a:ext uri="{FF2B5EF4-FFF2-40B4-BE49-F238E27FC236}">
                <a16:creationId xmlns:a16="http://schemas.microsoft.com/office/drawing/2014/main" id="{E797135E-9324-4E7D-B4E9-097442F968D4}"/>
              </a:ext>
            </a:extLst>
          </p:cNvPr>
          <p:cNvSpPr txBox="1"/>
          <p:nvPr/>
        </p:nvSpPr>
        <p:spPr>
          <a:xfrm>
            <a:off x="812800" y="5549900"/>
            <a:ext cx="4826000" cy="446276"/>
          </a:xfrm>
          <a:prstGeom prst="rect">
            <a:avLst/>
          </a:prstGeom>
          <a:noFill/>
        </p:spPr>
        <p:txBody>
          <a:bodyPr vert="horz" wrap="square" lIns="0" tIns="0" rIns="0" bIns="0" rtlCol="0">
            <a:spAutoFit/>
          </a:bodyPr>
          <a:lstStyle/>
          <a:p>
            <a:pPr>
              <a:spcAft>
                <a:spcPts val="800"/>
              </a:spcAft>
            </a:pPr>
            <a:r>
              <a:rPr lang="en-US" sz="2900">
                <a:solidFill>
                  <a:srgbClr val="103B2F"/>
                </a:solidFill>
                <a:latin typeface="Georgia" panose="02040502050405020303" pitchFamily="18" charset="0"/>
              </a:rPr>
              <a:t>Interpret results.</a:t>
            </a:r>
          </a:p>
        </p:txBody>
      </p:sp>
      <p:sp>
        <p:nvSpPr>
          <p:cNvPr id="10" name="TextBox 9">
            <a:extLst>
              <a:ext uri="{FF2B5EF4-FFF2-40B4-BE49-F238E27FC236}">
                <a16:creationId xmlns:a16="http://schemas.microsoft.com/office/drawing/2014/main" id="{EF0E2D6F-C275-45EB-8BF2-1E29A2569945}"/>
              </a:ext>
            </a:extLst>
          </p:cNvPr>
          <p:cNvSpPr txBox="1"/>
          <p:nvPr/>
        </p:nvSpPr>
        <p:spPr>
          <a:xfrm>
            <a:off x="812800" y="7162800"/>
            <a:ext cx="4826000" cy="677108"/>
          </a:xfrm>
          <a:prstGeom prst="rect">
            <a:avLst/>
          </a:prstGeom>
          <a:noFill/>
        </p:spPr>
        <p:txBody>
          <a:bodyPr vert="horz" wrap="square" lIns="0" tIns="0" rIns="0" bIns="0" rtlCol="0">
            <a:spAutoFit/>
          </a:bodyPr>
          <a:lstStyle/>
          <a:p>
            <a:pPr>
              <a:spcAft>
                <a:spcPts val="800"/>
              </a:spcAft>
            </a:pPr>
            <a:r>
              <a:rPr lang="en-US" sz="2200">
                <a:solidFill>
                  <a:srgbClr val="65746C"/>
                </a:solidFill>
                <a:latin typeface="Aptos"/>
              </a:rPr>
              <a:t>Eight illustrated chapters, open to everyone.</a:t>
            </a:r>
          </a:p>
        </p:txBody>
      </p:sp>
      <p:pic>
        <p:nvPicPr>
          <p:cNvPr id="12" name="Picture 11" descr="Actual website screenshot supplied by user: ppt images/learn_to_race_free.png. Native presentation crop; original UI unchanged.">
            <a:extLst>
              <a:ext uri="{FF2B5EF4-FFF2-40B4-BE49-F238E27FC236}">
                <a16:creationId xmlns:a16="http://schemas.microsoft.com/office/drawing/2014/main" id="{F7297ADD-5B7F-47A1-B272-CF9F39280F9D}"/>
              </a:ext>
            </a:extLst>
          </p:cNvPr>
          <p:cNvPicPr>
            <a:picLocks noChangeAspect="1"/>
          </p:cNvPicPr>
          <p:nvPr/>
        </p:nvPicPr>
        <p:blipFill rotWithShape="1">
          <a:blip r:embed="rId3">
            <a:extLst>
              <a:ext uri="{28A0092B-C50C-407E-A947-70E740481C1C}">
                <a14:useLocalDpi xmlns:a14="http://schemas.microsoft.com/office/drawing/2010/main" val="0"/>
              </a:ext>
            </a:extLst>
          </a:blip>
          <a:srcRect l="18191" t="10283" r="18887" b="1574"/>
          <a:stretch/>
        </p:blipFill>
        <p:spPr>
          <a:xfrm>
            <a:off x="6477000" y="2146300"/>
            <a:ext cx="8392160" cy="5994400"/>
          </a:xfrm>
          <a:prstGeom prst="rect">
            <a:avLst/>
          </a:prstGeom>
          <a:ln w="6350">
            <a:solidFill>
              <a:srgbClr val="D9DED6"/>
            </a:solidFill>
          </a:ln>
        </p:spPr>
      </p:pic>
    </p:spTree>
    <p:extLst>
      <p:ext uri="{BB962C8B-B14F-4D97-AF65-F5344CB8AC3E}">
        <p14:creationId xmlns:p14="http://schemas.microsoft.com/office/powerpoint/2010/main" val="3730173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10E332-3D4A-4D39-8D43-858DA199A8BB}"/>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276A6474-4655-4B4D-9BFE-A8E90EC2C326}"/>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65746C"/>
                </a:solidFill>
                <a:latin typeface="Aptos"/>
              </a:rPr>
              <a:t>03 / JOIN</a:t>
            </a:r>
          </a:p>
        </p:txBody>
      </p:sp>
      <p:sp>
        <p:nvSpPr>
          <p:cNvPr id="4" name="TextBox 3">
            <a:extLst>
              <a:ext uri="{FF2B5EF4-FFF2-40B4-BE49-F238E27FC236}">
                <a16:creationId xmlns:a16="http://schemas.microsoft.com/office/drawing/2014/main" id="{EE3378D2-E998-4BAB-8BEC-BB1A90CE3FE3}"/>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65746C"/>
                </a:solidFill>
                <a:latin typeface="Aptos"/>
              </a:rPr>
              <a:t>WEBSITE SHOWCASE  /  19 OCTOBER 2026</a:t>
            </a:r>
          </a:p>
        </p:txBody>
      </p:sp>
      <p:sp>
        <p:nvSpPr>
          <p:cNvPr id="5" name="TextBox 4">
            <a:extLst>
              <a:ext uri="{FF2B5EF4-FFF2-40B4-BE49-F238E27FC236}">
                <a16:creationId xmlns:a16="http://schemas.microsoft.com/office/drawing/2014/main" id="{451D2541-3AC6-4B13-8D94-A601B54F5DE1}"/>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65746C"/>
                </a:solidFill>
                <a:latin typeface="Aptos"/>
              </a:rPr>
              <a:t>04</a:t>
            </a:r>
          </a:p>
        </p:txBody>
      </p:sp>
      <p:sp>
        <p:nvSpPr>
          <p:cNvPr id="6" name="TextBox 5">
            <a:extLst>
              <a:ext uri="{FF2B5EF4-FFF2-40B4-BE49-F238E27FC236}">
                <a16:creationId xmlns:a16="http://schemas.microsoft.com/office/drawing/2014/main" id="{8DE02088-1A94-4BCB-B7E4-9E95CC8FD77A}"/>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103B2F"/>
                </a:solidFill>
                <a:latin typeface="Georgia" panose="02040502050405020303" pitchFamily="18" charset="0"/>
              </a:rPr>
              <a:t>Two plans. The same racing access.</a:t>
            </a:r>
          </a:p>
        </p:txBody>
      </p:sp>
      <p:sp>
        <p:nvSpPr>
          <p:cNvPr id="7" name="TextBox 6">
            <a:extLst>
              <a:ext uri="{FF2B5EF4-FFF2-40B4-BE49-F238E27FC236}">
                <a16:creationId xmlns:a16="http://schemas.microsoft.com/office/drawing/2014/main" id="{15023815-C459-4114-BFB0-4A8209D624C3}"/>
              </a:ext>
            </a:extLst>
          </p:cNvPr>
          <p:cNvSpPr txBox="1"/>
          <p:nvPr/>
        </p:nvSpPr>
        <p:spPr>
          <a:xfrm>
            <a:off x="812800" y="2565400"/>
            <a:ext cx="3810000" cy="246221"/>
          </a:xfrm>
          <a:prstGeom prst="rect">
            <a:avLst/>
          </a:prstGeom>
          <a:noFill/>
        </p:spPr>
        <p:txBody>
          <a:bodyPr vert="horz" wrap="square" lIns="0" tIns="0" rIns="0" bIns="0" rtlCol="0">
            <a:spAutoFit/>
          </a:bodyPr>
          <a:lstStyle/>
          <a:p>
            <a:pPr>
              <a:spcAft>
                <a:spcPts val="800"/>
              </a:spcAft>
            </a:pPr>
            <a:r>
              <a:rPr lang="en-US" sz="1600" b="1">
                <a:solidFill>
                  <a:srgbClr val="65746C"/>
                </a:solidFill>
                <a:latin typeface="Aptos"/>
              </a:rPr>
              <a:t>DAILY ACCESS</a:t>
            </a:r>
          </a:p>
        </p:txBody>
      </p:sp>
      <p:sp>
        <p:nvSpPr>
          <p:cNvPr id="8" name="TextBox 7">
            <a:extLst>
              <a:ext uri="{FF2B5EF4-FFF2-40B4-BE49-F238E27FC236}">
                <a16:creationId xmlns:a16="http://schemas.microsoft.com/office/drawing/2014/main" id="{DB7D7BA9-0559-41B6-867B-039CF560F9BD}"/>
              </a:ext>
            </a:extLst>
          </p:cNvPr>
          <p:cNvSpPr txBox="1"/>
          <p:nvPr/>
        </p:nvSpPr>
        <p:spPr>
          <a:xfrm>
            <a:off x="812800" y="3086100"/>
            <a:ext cx="3810000" cy="892552"/>
          </a:xfrm>
          <a:prstGeom prst="rect">
            <a:avLst/>
          </a:prstGeom>
          <a:noFill/>
        </p:spPr>
        <p:txBody>
          <a:bodyPr vert="horz" wrap="square" lIns="0" tIns="0" rIns="0" bIns="0" rtlCol="0">
            <a:spAutoFit/>
          </a:bodyPr>
          <a:lstStyle/>
          <a:p>
            <a:pPr>
              <a:spcAft>
                <a:spcPts val="800"/>
              </a:spcAft>
            </a:pPr>
            <a:r>
              <a:rPr lang="en-US" sz="5800">
                <a:solidFill>
                  <a:srgbClr val="103B2F"/>
                </a:solidFill>
                <a:latin typeface="Georgia" panose="02040502050405020303" pitchFamily="18" charset="0"/>
              </a:rPr>
              <a:t>₱50</a:t>
            </a:r>
          </a:p>
        </p:txBody>
      </p:sp>
      <p:sp>
        <p:nvSpPr>
          <p:cNvPr id="9" name="TextBox 8">
            <a:extLst>
              <a:ext uri="{FF2B5EF4-FFF2-40B4-BE49-F238E27FC236}">
                <a16:creationId xmlns:a16="http://schemas.microsoft.com/office/drawing/2014/main" id="{D98703F8-ACDD-4772-9C39-E31D4481BAA2}"/>
              </a:ext>
            </a:extLst>
          </p:cNvPr>
          <p:cNvSpPr txBox="1"/>
          <p:nvPr/>
        </p:nvSpPr>
        <p:spPr>
          <a:xfrm>
            <a:off x="812800" y="4343400"/>
            <a:ext cx="3810000" cy="369332"/>
          </a:xfrm>
          <a:prstGeom prst="rect">
            <a:avLst/>
          </a:prstGeom>
          <a:noFill/>
        </p:spPr>
        <p:txBody>
          <a:bodyPr vert="horz" wrap="square" lIns="0" tIns="0" rIns="0" bIns="0" rtlCol="0">
            <a:spAutoFit/>
          </a:bodyPr>
          <a:lstStyle/>
          <a:p>
            <a:pPr>
              <a:spcAft>
                <a:spcPts val="800"/>
              </a:spcAft>
            </a:pPr>
            <a:r>
              <a:rPr lang="en-US" sz="2400">
                <a:solidFill>
                  <a:srgbClr val="103B2F"/>
                </a:solidFill>
                <a:latin typeface="Aptos"/>
              </a:rPr>
              <a:t>24 hours</a:t>
            </a:r>
          </a:p>
        </p:txBody>
      </p:sp>
      <p:sp>
        <p:nvSpPr>
          <p:cNvPr id="10" name="TextBox 9">
            <a:extLst>
              <a:ext uri="{FF2B5EF4-FFF2-40B4-BE49-F238E27FC236}">
                <a16:creationId xmlns:a16="http://schemas.microsoft.com/office/drawing/2014/main" id="{16A74126-00C2-4FEE-ABA2-2927975511DA}"/>
              </a:ext>
            </a:extLst>
          </p:cNvPr>
          <p:cNvSpPr txBox="1"/>
          <p:nvPr/>
        </p:nvSpPr>
        <p:spPr>
          <a:xfrm>
            <a:off x="812800" y="5461000"/>
            <a:ext cx="3810000" cy="246221"/>
          </a:xfrm>
          <a:prstGeom prst="rect">
            <a:avLst/>
          </a:prstGeom>
          <a:noFill/>
        </p:spPr>
        <p:txBody>
          <a:bodyPr vert="horz" wrap="square" lIns="0" tIns="0" rIns="0" bIns="0" rtlCol="0">
            <a:spAutoFit/>
          </a:bodyPr>
          <a:lstStyle/>
          <a:p>
            <a:pPr>
              <a:spcAft>
                <a:spcPts val="800"/>
              </a:spcAft>
            </a:pPr>
            <a:r>
              <a:rPr lang="en-US" sz="1600" b="1">
                <a:solidFill>
                  <a:srgbClr val="65746C"/>
                </a:solidFill>
                <a:latin typeface="Aptos"/>
              </a:rPr>
              <a:t>MONTHLY ACCESS</a:t>
            </a:r>
          </a:p>
        </p:txBody>
      </p:sp>
      <p:sp>
        <p:nvSpPr>
          <p:cNvPr id="11" name="TextBox 10">
            <a:extLst>
              <a:ext uri="{FF2B5EF4-FFF2-40B4-BE49-F238E27FC236}">
                <a16:creationId xmlns:a16="http://schemas.microsoft.com/office/drawing/2014/main" id="{1D4C6BDB-1F19-4A57-9105-6879E7B83656}"/>
              </a:ext>
            </a:extLst>
          </p:cNvPr>
          <p:cNvSpPr txBox="1"/>
          <p:nvPr/>
        </p:nvSpPr>
        <p:spPr>
          <a:xfrm>
            <a:off x="812800" y="5981700"/>
            <a:ext cx="3810000" cy="892552"/>
          </a:xfrm>
          <a:prstGeom prst="rect">
            <a:avLst/>
          </a:prstGeom>
          <a:noFill/>
        </p:spPr>
        <p:txBody>
          <a:bodyPr vert="horz" wrap="square" lIns="0" tIns="0" rIns="0" bIns="0" rtlCol="0">
            <a:spAutoFit/>
          </a:bodyPr>
          <a:lstStyle/>
          <a:p>
            <a:pPr>
              <a:spcAft>
                <a:spcPts val="800"/>
              </a:spcAft>
            </a:pPr>
            <a:r>
              <a:rPr lang="en-US" sz="5800">
                <a:solidFill>
                  <a:srgbClr val="103B2F"/>
                </a:solidFill>
                <a:latin typeface="Georgia" panose="02040502050405020303" pitchFamily="18" charset="0"/>
              </a:rPr>
              <a:t>₱499</a:t>
            </a:r>
          </a:p>
        </p:txBody>
      </p:sp>
      <p:sp>
        <p:nvSpPr>
          <p:cNvPr id="12" name="TextBox 11">
            <a:extLst>
              <a:ext uri="{FF2B5EF4-FFF2-40B4-BE49-F238E27FC236}">
                <a16:creationId xmlns:a16="http://schemas.microsoft.com/office/drawing/2014/main" id="{747E70BD-C343-49DD-A252-C62A196F0FFF}"/>
              </a:ext>
            </a:extLst>
          </p:cNvPr>
          <p:cNvSpPr txBox="1"/>
          <p:nvPr/>
        </p:nvSpPr>
        <p:spPr>
          <a:xfrm>
            <a:off x="812800" y="7188200"/>
            <a:ext cx="3810000" cy="338554"/>
          </a:xfrm>
          <a:prstGeom prst="rect">
            <a:avLst/>
          </a:prstGeom>
          <a:noFill/>
        </p:spPr>
        <p:txBody>
          <a:bodyPr vert="horz" wrap="square" lIns="0" tIns="0" rIns="0" bIns="0" rtlCol="0">
            <a:spAutoFit/>
          </a:bodyPr>
          <a:lstStyle/>
          <a:p>
            <a:pPr>
              <a:spcAft>
                <a:spcPts val="800"/>
              </a:spcAft>
            </a:pPr>
            <a:r>
              <a:rPr lang="en-US" sz="2200">
                <a:solidFill>
                  <a:srgbClr val="103B2F"/>
                </a:solidFill>
                <a:latin typeface="Aptos"/>
              </a:rPr>
              <a:t>One calendar month</a:t>
            </a:r>
          </a:p>
        </p:txBody>
      </p:sp>
      <p:pic>
        <p:nvPicPr>
          <p:cNvPr id="14" name="Picture 13" descr="Actual website screenshot supplied by user: ppt images/pay_membership.png. Native presentation crop; original UI unchanged.">
            <a:extLst>
              <a:ext uri="{FF2B5EF4-FFF2-40B4-BE49-F238E27FC236}">
                <a16:creationId xmlns:a16="http://schemas.microsoft.com/office/drawing/2014/main" id="{2DE01F34-36A5-4CFE-A922-1800F56771C8}"/>
              </a:ext>
            </a:extLst>
          </p:cNvPr>
          <p:cNvPicPr>
            <a:picLocks noChangeAspect="1"/>
          </p:cNvPicPr>
          <p:nvPr/>
        </p:nvPicPr>
        <p:blipFill rotWithShape="1">
          <a:blip r:embed="rId3">
            <a:extLst>
              <a:ext uri="{28A0092B-C50C-407E-A947-70E740481C1C}">
                <a14:useLocalDpi xmlns:a14="http://schemas.microsoft.com/office/drawing/2010/main" val="0"/>
              </a:ext>
            </a:extLst>
          </a:blip>
          <a:srcRect l="21812" t="30000" r="22669" b="6422"/>
          <a:stretch/>
        </p:blipFill>
        <p:spPr>
          <a:xfrm>
            <a:off x="5257800" y="2286000"/>
            <a:ext cx="9889683" cy="5765800"/>
          </a:xfrm>
          <a:prstGeom prst="rect">
            <a:avLst/>
          </a:prstGeom>
          <a:ln w="6350">
            <a:solidFill>
              <a:srgbClr val="D9DED6"/>
            </a:solidFill>
          </a:ln>
        </p:spPr>
      </p:pic>
    </p:spTree>
    <p:extLst>
      <p:ext uri="{BB962C8B-B14F-4D97-AF65-F5344CB8AC3E}">
        <p14:creationId xmlns:p14="http://schemas.microsoft.com/office/powerpoint/2010/main" val="3113458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3B2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126A71-B62E-4F2A-B65F-9AD5C134F905}"/>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F5F1E8"/>
                </a:solidFill>
                <a:latin typeface="Aptos"/>
              </a:rPr>
              <a:t>JOCKEY</a:t>
            </a:r>
          </a:p>
        </p:txBody>
      </p:sp>
      <p:sp>
        <p:nvSpPr>
          <p:cNvPr id="3" name="TextBox 2">
            <a:extLst>
              <a:ext uri="{FF2B5EF4-FFF2-40B4-BE49-F238E27FC236}">
                <a16:creationId xmlns:a16="http://schemas.microsoft.com/office/drawing/2014/main" id="{D313E2C7-9123-42FB-B9D8-17943C718704}"/>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F2D78F"/>
                </a:solidFill>
                <a:latin typeface="Aptos"/>
              </a:rPr>
              <a:t>04 / UNLOCK</a:t>
            </a:r>
          </a:p>
        </p:txBody>
      </p:sp>
      <p:sp>
        <p:nvSpPr>
          <p:cNvPr id="4" name="TextBox 3">
            <a:extLst>
              <a:ext uri="{FF2B5EF4-FFF2-40B4-BE49-F238E27FC236}">
                <a16:creationId xmlns:a16="http://schemas.microsoft.com/office/drawing/2014/main" id="{9757A736-484C-4D20-A759-919EFFBF74E6}"/>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F2D78F"/>
                </a:solidFill>
                <a:latin typeface="Aptos"/>
              </a:rPr>
              <a:t>WEBSITE SHOWCASE  /  19 OCTOBER 2026</a:t>
            </a:r>
          </a:p>
        </p:txBody>
      </p:sp>
      <p:sp>
        <p:nvSpPr>
          <p:cNvPr id="5" name="TextBox 4">
            <a:extLst>
              <a:ext uri="{FF2B5EF4-FFF2-40B4-BE49-F238E27FC236}">
                <a16:creationId xmlns:a16="http://schemas.microsoft.com/office/drawing/2014/main" id="{09CCDD19-8978-4D97-9474-BCA256CFDA55}"/>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F2D78F"/>
                </a:solidFill>
                <a:latin typeface="Aptos"/>
              </a:rPr>
              <a:t>05</a:t>
            </a:r>
          </a:p>
        </p:txBody>
      </p:sp>
      <p:sp>
        <p:nvSpPr>
          <p:cNvPr id="6" name="TextBox 5">
            <a:extLst>
              <a:ext uri="{FF2B5EF4-FFF2-40B4-BE49-F238E27FC236}">
                <a16:creationId xmlns:a16="http://schemas.microsoft.com/office/drawing/2014/main" id="{BBB1A31D-05BC-4ACB-A56A-828DC2048324}"/>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F5F1E8"/>
                </a:solidFill>
                <a:latin typeface="Georgia" panose="02040502050405020303" pitchFamily="18" charset="0"/>
              </a:rPr>
              <a:t>Membership opens the race program</a:t>
            </a:r>
          </a:p>
        </p:txBody>
      </p:sp>
      <p:pic>
        <p:nvPicPr>
          <p:cNvPr id="8" name="Picture 7" descr="Actual website screenshot supplied by user: ppt images/paid_homepage.png. Native presentation crop; original UI unchanged.">
            <a:extLst>
              <a:ext uri="{FF2B5EF4-FFF2-40B4-BE49-F238E27FC236}">
                <a16:creationId xmlns:a16="http://schemas.microsoft.com/office/drawing/2014/main" id="{78B7FB44-25A4-4604-9B8B-FDBB69131AFD}"/>
              </a:ext>
            </a:extLst>
          </p:cNvPr>
          <p:cNvPicPr>
            <a:picLocks noChangeAspect="1"/>
          </p:cNvPicPr>
          <p:nvPr/>
        </p:nvPicPr>
        <p:blipFill rotWithShape="1">
          <a:blip r:embed="rId3">
            <a:extLst>
              <a:ext uri="{28A0092B-C50C-407E-A947-70E740481C1C}">
                <a14:useLocalDpi xmlns:a14="http://schemas.microsoft.com/office/drawing/2010/main" val="0"/>
              </a:ext>
            </a:extLst>
          </a:blip>
          <a:srcRect l="14930" t="31746" r="15897" b="740"/>
          <a:stretch/>
        </p:blipFill>
        <p:spPr>
          <a:xfrm>
            <a:off x="812800" y="2311400"/>
            <a:ext cx="10795000" cy="5347213"/>
          </a:xfrm>
          <a:prstGeom prst="rect">
            <a:avLst/>
          </a:prstGeom>
          <a:ln w="6350">
            <a:solidFill>
              <a:srgbClr val="D9DED6"/>
            </a:solidFill>
          </a:ln>
        </p:spPr>
      </p:pic>
      <p:sp>
        <p:nvSpPr>
          <p:cNvPr id="9" name="TextBox 8">
            <a:extLst>
              <a:ext uri="{FF2B5EF4-FFF2-40B4-BE49-F238E27FC236}">
                <a16:creationId xmlns:a16="http://schemas.microsoft.com/office/drawing/2014/main" id="{F0150ABA-F9E3-4730-84F2-54AE2EEB7FA2}"/>
              </a:ext>
            </a:extLst>
          </p:cNvPr>
          <p:cNvSpPr txBox="1"/>
          <p:nvPr/>
        </p:nvSpPr>
        <p:spPr>
          <a:xfrm>
            <a:off x="12230100" y="2832100"/>
            <a:ext cx="3213100" cy="430887"/>
          </a:xfrm>
          <a:prstGeom prst="rect">
            <a:avLst/>
          </a:prstGeom>
          <a:noFill/>
        </p:spPr>
        <p:txBody>
          <a:bodyPr vert="horz" wrap="square" lIns="0" tIns="0" rIns="0" bIns="0" rtlCol="0">
            <a:spAutoFit/>
          </a:bodyPr>
          <a:lstStyle/>
          <a:p>
            <a:pPr>
              <a:spcAft>
                <a:spcPts val="800"/>
              </a:spcAft>
            </a:pPr>
            <a:r>
              <a:rPr lang="en-US" sz="2800">
                <a:solidFill>
                  <a:srgbClr val="F2D78F"/>
                </a:solidFill>
                <a:latin typeface="Georgia" panose="02040502050405020303" pitchFamily="18" charset="0"/>
              </a:rPr>
              <a:t>Same calendar.</a:t>
            </a:r>
          </a:p>
        </p:txBody>
      </p:sp>
      <p:sp>
        <p:nvSpPr>
          <p:cNvPr id="10" name="TextBox 9">
            <a:extLst>
              <a:ext uri="{FF2B5EF4-FFF2-40B4-BE49-F238E27FC236}">
                <a16:creationId xmlns:a16="http://schemas.microsoft.com/office/drawing/2014/main" id="{BEBD98AA-4173-43C7-A4BA-6CF22C2EBCB5}"/>
              </a:ext>
            </a:extLst>
          </p:cNvPr>
          <p:cNvSpPr txBox="1"/>
          <p:nvPr/>
        </p:nvSpPr>
        <p:spPr>
          <a:xfrm>
            <a:off x="12230100" y="4368800"/>
            <a:ext cx="3213100" cy="430887"/>
          </a:xfrm>
          <a:prstGeom prst="rect">
            <a:avLst/>
          </a:prstGeom>
          <a:noFill/>
        </p:spPr>
        <p:txBody>
          <a:bodyPr vert="horz" wrap="square" lIns="0" tIns="0" rIns="0" bIns="0" rtlCol="0">
            <a:spAutoFit/>
          </a:bodyPr>
          <a:lstStyle/>
          <a:p>
            <a:pPr>
              <a:spcAft>
                <a:spcPts val="800"/>
              </a:spcAft>
            </a:pPr>
            <a:r>
              <a:rPr lang="en-US" sz="2800">
                <a:solidFill>
                  <a:srgbClr val="F2D78F"/>
                </a:solidFill>
                <a:latin typeface="Georgia" panose="02040502050405020303" pitchFamily="18" charset="0"/>
              </a:rPr>
              <a:t>More detail.</a:t>
            </a:r>
          </a:p>
        </p:txBody>
      </p:sp>
      <p:sp>
        <p:nvSpPr>
          <p:cNvPr id="11" name="TextBox 10">
            <a:extLst>
              <a:ext uri="{FF2B5EF4-FFF2-40B4-BE49-F238E27FC236}">
                <a16:creationId xmlns:a16="http://schemas.microsoft.com/office/drawing/2014/main" id="{D7A5EDB5-678E-426F-BB3E-A71EF6790F0A}"/>
              </a:ext>
            </a:extLst>
          </p:cNvPr>
          <p:cNvSpPr txBox="1"/>
          <p:nvPr/>
        </p:nvSpPr>
        <p:spPr>
          <a:xfrm>
            <a:off x="12230100" y="6019800"/>
            <a:ext cx="3213100" cy="707886"/>
          </a:xfrm>
          <a:prstGeom prst="rect">
            <a:avLst/>
          </a:prstGeom>
          <a:noFill/>
        </p:spPr>
        <p:txBody>
          <a:bodyPr vert="horz" wrap="square" lIns="0" tIns="0" rIns="0" bIns="0" rtlCol="0">
            <a:spAutoFit/>
          </a:bodyPr>
          <a:lstStyle/>
          <a:p>
            <a:pPr>
              <a:spcAft>
                <a:spcPts val="800"/>
              </a:spcAft>
            </a:pPr>
            <a:r>
              <a:rPr lang="en-US" sz="2300">
                <a:solidFill>
                  <a:srgbClr val="F5F1E8"/>
                </a:solidFill>
                <a:latin typeface="Aptos"/>
              </a:rPr>
              <a:t>Open the races within each meeting.</a:t>
            </a:r>
          </a:p>
        </p:txBody>
      </p:sp>
    </p:spTree>
    <p:extLst>
      <p:ext uri="{BB962C8B-B14F-4D97-AF65-F5344CB8AC3E}">
        <p14:creationId xmlns:p14="http://schemas.microsoft.com/office/powerpoint/2010/main" val="1184713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4EAF52-FF4E-4AF6-8A6E-AC14312D736F}"/>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4A709486-724C-454A-80AB-00E8426677EF}"/>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65746C"/>
                </a:solidFill>
                <a:latin typeface="Aptos"/>
              </a:rPr>
              <a:t>05 / STUDY THE FIELD</a:t>
            </a:r>
          </a:p>
        </p:txBody>
      </p:sp>
      <p:sp>
        <p:nvSpPr>
          <p:cNvPr id="4" name="TextBox 3">
            <a:extLst>
              <a:ext uri="{FF2B5EF4-FFF2-40B4-BE49-F238E27FC236}">
                <a16:creationId xmlns:a16="http://schemas.microsoft.com/office/drawing/2014/main" id="{C02013D4-2AAB-4EEE-9486-6C35BF9D5A4F}"/>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65746C"/>
                </a:solidFill>
                <a:latin typeface="Aptos"/>
              </a:rPr>
              <a:t>WEBSITE SHOWCASE  /  19 OCTOBER 2026</a:t>
            </a:r>
          </a:p>
        </p:txBody>
      </p:sp>
      <p:sp>
        <p:nvSpPr>
          <p:cNvPr id="5" name="TextBox 4">
            <a:extLst>
              <a:ext uri="{FF2B5EF4-FFF2-40B4-BE49-F238E27FC236}">
                <a16:creationId xmlns:a16="http://schemas.microsoft.com/office/drawing/2014/main" id="{BDE5009F-5135-442C-BA45-519031B2E828}"/>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65746C"/>
                </a:solidFill>
                <a:latin typeface="Aptos"/>
              </a:rPr>
              <a:t>06</a:t>
            </a:r>
          </a:p>
        </p:txBody>
      </p:sp>
      <p:sp>
        <p:nvSpPr>
          <p:cNvPr id="6" name="TextBox 5">
            <a:extLst>
              <a:ext uri="{FF2B5EF4-FFF2-40B4-BE49-F238E27FC236}">
                <a16:creationId xmlns:a16="http://schemas.microsoft.com/office/drawing/2014/main" id="{98FBA467-97AC-4C26-A587-61CDD0E1D7B1}"/>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103B2F"/>
                </a:solidFill>
                <a:latin typeface="Georgia" panose="02040502050405020303" pitchFamily="18" charset="0"/>
              </a:rPr>
              <a:t>One program connects the racing detail</a:t>
            </a:r>
          </a:p>
        </p:txBody>
      </p:sp>
      <p:sp>
        <p:nvSpPr>
          <p:cNvPr id="7" name="TextBox 6">
            <a:extLst>
              <a:ext uri="{FF2B5EF4-FFF2-40B4-BE49-F238E27FC236}">
                <a16:creationId xmlns:a16="http://schemas.microsoft.com/office/drawing/2014/main" id="{A0301F7F-4265-49E8-873C-878F59CAA534}"/>
              </a:ext>
            </a:extLst>
          </p:cNvPr>
          <p:cNvSpPr txBox="1"/>
          <p:nvPr/>
        </p:nvSpPr>
        <p:spPr>
          <a:xfrm>
            <a:off x="812800" y="2794000"/>
            <a:ext cx="4445000" cy="430887"/>
          </a:xfrm>
          <a:prstGeom prst="rect">
            <a:avLst/>
          </a:prstGeom>
          <a:noFill/>
        </p:spPr>
        <p:txBody>
          <a:bodyPr vert="horz" wrap="square" lIns="0" tIns="0" rIns="0" bIns="0" rtlCol="0">
            <a:spAutoFit/>
          </a:bodyPr>
          <a:lstStyle/>
          <a:p>
            <a:pPr>
              <a:spcAft>
                <a:spcPts val="800"/>
              </a:spcAft>
            </a:pPr>
            <a:r>
              <a:rPr lang="en-US" sz="2800">
                <a:solidFill>
                  <a:srgbClr val="103B2F"/>
                </a:solidFill>
                <a:latin typeface="Georgia" panose="02040502050405020303" pitchFamily="18" charset="0"/>
              </a:rPr>
              <a:t>Race conditions</a:t>
            </a:r>
          </a:p>
        </p:txBody>
      </p:sp>
      <p:sp>
        <p:nvSpPr>
          <p:cNvPr id="8" name="TextBox 7">
            <a:extLst>
              <a:ext uri="{FF2B5EF4-FFF2-40B4-BE49-F238E27FC236}">
                <a16:creationId xmlns:a16="http://schemas.microsoft.com/office/drawing/2014/main" id="{0B23D155-972F-4AE6-8C8D-9977EB96354E}"/>
              </a:ext>
            </a:extLst>
          </p:cNvPr>
          <p:cNvSpPr txBox="1"/>
          <p:nvPr/>
        </p:nvSpPr>
        <p:spPr>
          <a:xfrm>
            <a:off x="812800" y="3581400"/>
            <a:ext cx="4445000" cy="323165"/>
          </a:xfrm>
          <a:prstGeom prst="rect">
            <a:avLst/>
          </a:prstGeom>
          <a:noFill/>
        </p:spPr>
        <p:txBody>
          <a:bodyPr vert="horz" wrap="square" lIns="0" tIns="0" rIns="0" bIns="0" rtlCol="0">
            <a:spAutoFit/>
          </a:bodyPr>
          <a:lstStyle/>
          <a:p>
            <a:pPr>
              <a:spcAft>
                <a:spcPts val="800"/>
              </a:spcAft>
            </a:pPr>
            <a:r>
              <a:rPr lang="en-US" sz="2100">
                <a:solidFill>
                  <a:srgbClr val="103B2F"/>
                </a:solidFill>
                <a:latin typeface="Aptos"/>
              </a:rPr>
              <a:t>Distance, surface, class and purse.</a:t>
            </a:r>
          </a:p>
        </p:txBody>
      </p:sp>
      <p:sp>
        <p:nvSpPr>
          <p:cNvPr id="9" name="TextBox 8">
            <a:extLst>
              <a:ext uri="{FF2B5EF4-FFF2-40B4-BE49-F238E27FC236}">
                <a16:creationId xmlns:a16="http://schemas.microsoft.com/office/drawing/2014/main" id="{95291584-C581-4269-9620-500769E9C859}"/>
              </a:ext>
            </a:extLst>
          </p:cNvPr>
          <p:cNvSpPr txBox="1"/>
          <p:nvPr/>
        </p:nvSpPr>
        <p:spPr>
          <a:xfrm>
            <a:off x="812800" y="5219700"/>
            <a:ext cx="4445000" cy="430887"/>
          </a:xfrm>
          <a:prstGeom prst="rect">
            <a:avLst/>
          </a:prstGeom>
          <a:noFill/>
        </p:spPr>
        <p:txBody>
          <a:bodyPr vert="horz" wrap="square" lIns="0" tIns="0" rIns="0" bIns="0" rtlCol="0">
            <a:spAutoFit/>
          </a:bodyPr>
          <a:lstStyle/>
          <a:p>
            <a:pPr>
              <a:spcAft>
                <a:spcPts val="800"/>
              </a:spcAft>
            </a:pPr>
            <a:r>
              <a:rPr lang="en-US" sz="2800">
                <a:solidFill>
                  <a:srgbClr val="103B2F"/>
                </a:solidFill>
                <a:latin typeface="Georgia" panose="02040502050405020303" pitchFamily="18" charset="0"/>
              </a:rPr>
              <a:t>Declared entries</a:t>
            </a:r>
          </a:p>
        </p:txBody>
      </p:sp>
      <p:sp>
        <p:nvSpPr>
          <p:cNvPr id="10" name="TextBox 9">
            <a:extLst>
              <a:ext uri="{FF2B5EF4-FFF2-40B4-BE49-F238E27FC236}">
                <a16:creationId xmlns:a16="http://schemas.microsoft.com/office/drawing/2014/main" id="{AC070DD8-970B-44F3-BD58-B3D9FA16C66F}"/>
              </a:ext>
            </a:extLst>
          </p:cNvPr>
          <p:cNvSpPr txBox="1"/>
          <p:nvPr/>
        </p:nvSpPr>
        <p:spPr>
          <a:xfrm>
            <a:off x="812800" y="6007100"/>
            <a:ext cx="4445000" cy="646331"/>
          </a:xfrm>
          <a:prstGeom prst="rect">
            <a:avLst/>
          </a:prstGeom>
          <a:noFill/>
        </p:spPr>
        <p:txBody>
          <a:bodyPr vert="horz" wrap="square" lIns="0" tIns="0" rIns="0" bIns="0" rtlCol="0">
            <a:spAutoFit/>
          </a:bodyPr>
          <a:lstStyle/>
          <a:p>
            <a:pPr>
              <a:spcAft>
                <a:spcPts val="800"/>
              </a:spcAft>
            </a:pPr>
            <a:r>
              <a:rPr lang="en-US" sz="2100">
                <a:solidFill>
                  <a:srgbClr val="103B2F"/>
                </a:solidFill>
                <a:latin typeface="Aptos"/>
              </a:rPr>
              <a:t>Runners, riders, weights and profile links.</a:t>
            </a:r>
          </a:p>
        </p:txBody>
      </p:sp>
      <p:pic>
        <p:nvPicPr>
          <p:cNvPr id="12" name="Picture 11" descr="Actual website screenshot supplied by user: ppt images/paid_racing_info.png. Native presentation crop; original UI unchanged.">
            <a:extLst>
              <a:ext uri="{FF2B5EF4-FFF2-40B4-BE49-F238E27FC236}">
                <a16:creationId xmlns:a16="http://schemas.microsoft.com/office/drawing/2014/main" id="{B145F07A-FE59-461B-85EC-087E37A7B0B4}"/>
              </a:ext>
            </a:extLst>
          </p:cNvPr>
          <p:cNvPicPr>
            <a:picLocks noChangeAspect="1"/>
          </p:cNvPicPr>
          <p:nvPr/>
        </p:nvPicPr>
        <p:blipFill rotWithShape="1">
          <a:blip r:embed="rId3">
            <a:extLst>
              <a:ext uri="{28A0092B-C50C-407E-A947-70E740481C1C}">
                <a14:useLocalDpi xmlns:a14="http://schemas.microsoft.com/office/drawing/2010/main" val="0"/>
              </a:ext>
            </a:extLst>
          </a:blip>
          <a:srcRect l="15086" t="16508" r="15517" b="2011"/>
          <a:stretch/>
        </p:blipFill>
        <p:spPr>
          <a:xfrm>
            <a:off x="6096000" y="2235200"/>
            <a:ext cx="9347200" cy="5588000"/>
          </a:xfrm>
          <a:prstGeom prst="rect">
            <a:avLst/>
          </a:prstGeom>
          <a:ln w="6350">
            <a:solidFill>
              <a:srgbClr val="D9DED6"/>
            </a:solidFill>
          </a:ln>
        </p:spPr>
      </p:pic>
    </p:spTree>
    <p:extLst>
      <p:ext uri="{BB962C8B-B14F-4D97-AF65-F5344CB8AC3E}">
        <p14:creationId xmlns:p14="http://schemas.microsoft.com/office/powerpoint/2010/main" val="33287499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D47C85-4296-4D62-B28A-22B9D127625D}"/>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A86A7BB5-0D43-422D-943E-43913CCCB0B5}"/>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65746C"/>
                </a:solidFill>
                <a:latin typeface="Aptos"/>
              </a:rPr>
              <a:t>06 / FOLLOW THE HORSE</a:t>
            </a:r>
          </a:p>
        </p:txBody>
      </p:sp>
      <p:sp>
        <p:nvSpPr>
          <p:cNvPr id="4" name="TextBox 3">
            <a:extLst>
              <a:ext uri="{FF2B5EF4-FFF2-40B4-BE49-F238E27FC236}">
                <a16:creationId xmlns:a16="http://schemas.microsoft.com/office/drawing/2014/main" id="{0E0A8D9C-AEC1-4678-8D48-EA272D39A101}"/>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65746C"/>
                </a:solidFill>
                <a:latin typeface="Aptos"/>
              </a:rPr>
              <a:t>WEBSITE SHOWCASE  /  19 OCTOBER 2026</a:t>
            </a:r>
          </a:p>
        </p:txBody>
      </p:sp>
      <p:sp>
        <p:nvSpPr>
          <p:cNvPr id="5" name="TextBox 4">
            <a:extLst>
              <a:ext uri="{FF2B5EF4-FFF2-40B4-BE49-F238E27FC236}">
                <a16:creationId xmlns:a16="http://schemas.microsoft.com/office/drawing/2014/main" id="{F2D90DF1-502A-404D-8939-E8FA754B9FCD}"/>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65746C"/>
                </a:solidFill>
                <a:latin typeface="Aptos"/>
              </a:rPr>
              <a:t>07</a:t>
            </a:r>
          </a:p>
        </p:txBody>
      </p:sp>
      <p:sp>
        <p:nvSpPr>
          <p:cNvPr id="6" name="TextBox 5">
            <a:extLst>
              <a:ext uri="{FF2B5EF4-FFF2-40B4-BE49-F238E27FC236}">
                <a16:creationId xmlns:a16="http://schemas.microsoft.com/office/drawing/2014/main" id="{771D77DA-CE5C-4152-AA5D-CB79AC3A28BA}"/>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103B2F"/>
                </a:solidFill>
                <a:latin typeface="Georgia" panose="02040502050405020303" pitchFamily="18" charset="0"/>
              </a:rPr>
              <a:t>Trace the horse beyond one race</a:t>
            </a:r>
          </a:p>
        </p:txBody>
      </p:sp>
      <p:pic>
        <p:nvPicPr>
          <p:cNvPr id="8" name="Picture 7" descr="Actual website screenshot supplied by user: ppt images/horses_zoomed.png. Native presentation crop; original UI unchanged.">
            <a:extLst>
              <a:ext uri="{FF2B5EF4-FFF2-40B4-BE49-F238E27FC236}">
                <a16:creationId xmlns:a16="http://schemas.microsoft.com/office/drawing/2014/main" id="{532B7B10-A68D-4071-85B3-E409B1BD05C0}"/>
              </a:ext>
            </a:extLst>
          </p:cNvPr>
          <p:cNvPicPr>
            <a:picLocks noChangeAspect="1"/>
          </p:cNvPicPr>
          <p:nvPr/>
        </p:nvPicPr>
        <p:blipFill rotWithShape="1">
          <a:blip r:embed="rId3">
            <a:extLst>
              <a:ext uri="{28A0092B-C50C-407E-A947-70E740481C1C}">
                <a14:useLocalDpi xmlns:a14="http://schemas.microsoft.com/office/drawing/2010/main" val="0"/>
              </a:ext>
            </a:extLst>
          </a:blip>
          <a:srcRect l="15158" t="8404" r="15961" b="2311"/>
          <a:stretch/>
        </p:blipFill>
        <p:spPr>
          <a:xfrm>
            <a:off x="812800" y="2438400"/>
            <a:ext cx="8070028" cy="5334000"/>
          </a:xfrm>
          <a:prstGeom prst="rect">
            <a:avLst/>
          </a:prstGeom>
          <a:ln w="6350">
            <a:solidFill>
              <a:srgbClr val="D9DED6"/>
            </a:solidFill>
          </a:ln>
        </p:spPr>
      </p:pic>
      <p:sp>
        <p:nvSpPr>
          <p:cNvPr id="9" name="TextBox 8">
            <a:extLst>
              <a:ext uri="{FF2B5EF4-FFF2-40B4-BE49-F238E27FC236}">
                <a16:creationId xmlns:a16="http://schemas.microsoft.com/office/drawing/2014/main" id="{2D64B792-C9C0-4891-8A70-8A776536A173}"/>
              </a:ext>
            </a:extLst>
          </p:cNvPr>
          <p:cNvSpPr txBox="1"/>
          <p:nvPr/>
        </p:nvSpPr>
        <p:spPr>
          <a:xfrm>
            <a:off x="12179300" y="2730500"/>
            <a:ext cx="3263900" cy="384721"/>
          </a:xfrm>
          <a:prstGeom prst="rect">
            <a:avLst/>
          </a:prstGeom>
          <a:noFill/>
        </p:spPr>
        <p:txBody>
          <a:bodyPr vert="horz" wrap="square" lIns="0" tIns="0" rIns="0" bIns="0" rtlCol="0">
            <a:spAutoFit/>
          </a:bodyPr>
          <a:lstStyle/>
          <a:p>
            <a:pPr>
              <a:spcAft>
                <a:spcPts val="800"/>
              </a:spcAft>
            </a:pPr>
            <a:r>
              <a:rPr lang="en-US" sz="2500">
                <a:solidFill>
                  <a:srgbClr val="103B2F"/>
                </a:solidFill>
                <a:latin typeface="Georgia" panose="02040502050405020303" pitchFamily="18" charset="0"/>
              </a:rPr>
              <a:t>Pedigree</a:t>
            </a:r>
          </a:p>
        </p:txBody>
      </p:sp>
      <p:sp>
        <p:nvSpPr>
          <p:cNvPr id="10" name="TextBox 9">
            <a:extLst>
              <a:ext uri="{FF2B5EF4-FFF2-40B4-BE49-F238E27FC236}">
                <a16:creationId xmlns:a16="http://schemas.microsoft.com/office/drawing/2014/main" id="{2ECC7196-2428-40E6-BE0F-FF1E0B11D833}"/>
              </a:ext>
            </a:extLst>
          </p:cNvPr>
          <p:cNvSpPr txBox="1"/>
          <p:nvPr/>
        </p:nvSpPr>
        <p:spPr>
          <a:xfrm>
            <a:off x="12179300" y="3403600"/>
            <a:ext cx="3263900" cy="615553"/>
          </a:xfrm>
          <a:prstGeom prst="rect">
            <a:avLst/>
          </a:prstGeom>
          <a:noFill/>
        </p:spPr>
        <p:txBody>
          <a:bodyPr vert="horz" wrap="square" lIns="0" tIns="0" rIns="0" bIns="0" rtlCol="0">
            <a:spAutoFit/>
          </a:bodyPr>
          <a:lstStyle/>
          <a:p>
            <a:pPr>
              <a:spcAft>
                <a:spcPts val="800"/>
              </a:spcAft>
            </a:pPr>
            <a:r>
              <a:rPr lang="en-US" sz="2000">
                <a:solidFill>
                  <a:srgbClr val="103B2F"/>
                </a:solidFill>
                <a:latin typeface="Aptos"/>
              </a:rPr>
              <a:t>Sire, dam and current connections.</a:t>
            </a:r>
          </a:p>
        </p:txBody>
      </p:sp>
      <p:sp>
        <p:nvSpPr>
          <p:cNvPr id="11" name="TextBox 10">
            <a:extLst>
              <a:ext uri="{FF2B5EF4-FFF2-40B4-BE49-F238E27FC236}">
                <a16:creationId xmlns:a16="http://schemas.microsoft.com/office/drawing/2014/main" id="{33E00FF1-065D-45F4-BB15-3D0DE61F3C7D}"/>
              </a:ext>
            </a:extLst>
          </p:cNvPr>
          <p:cNvSpPr txBox="1"/>
          <p:nvPr/>
        </p:nvSpPr>
        <p:spPr>
          <a:xfrm>
            <a:off x="12179300" y="5422900"/>
            <a:ext cx="3263900" cy="384721"/>
          </a:xfrm>
          <a:prstGeom prst="rect">
            <a:avLst/>
          </a:prstGeom>
          <a:noFill/>
        </p:spPr>
        <p:txBody>
          <a:bodyPr vert="horz" wrap="square" lIns="0" tIns="0" rIns="0" bIns="0" rtlCol="0">
            <a:spAutoFit/>
          </a:bodyPr>
          <a:lstStyle/>
          <a:p>
            <a:pPr>
              <a:spcAft>
                <a:spcPts val="800"/>
              </a:spcAft>
            </a:pPr>
            <a:r>
              <a:rPr lang="en-US" sz="2500">
                <a:solidFill>
                  <a:srgbClr val="103B2F"/>
                </a:solidFill>
                <a:latin typeface="Georgia" panose="02040502050405020303" pitchFamily="18" charset="0"/>
              </a:rPr>
              <a:t>Recorded form</a:t>
            </a:r>
          </a:p>
        </p:txBody>
      </p:sp>
      <p:sp>
        <p:nvSpPr>
          <p:cNvPr id="12" name="TextBox 11">
            <a:extLst>
              <a:ext uri="{FF2B5EF4-FFF2-40B4-BE49-F238E27FC236}">
                <a16:creationId xmlns:a16="http://schemas.microsoft.com/office/drawing/2014/main" id="{962E9735-AE0E-4138-B52D-7DAEBA2281E4}"/>
              </a:ext>
            </a:extLst>
          </p:cNvPr>
          <p:cNvSpPr txBox="1"/>
          <p:nvPr/>
        </p:nvSpPr>
        <p:spPr>
          <a:xfrm>
            <a:off x="12179300" y="6096000"/>
            <a:ext cx="3263900" cy="615553"/>
          </a:xfrm>
          <a:prstGeom prst="rect">
            <a:avLst/>
          </a:prstGeom>
          <a:noFill/>
        </p:spPr>
        <p:txBody>
          <a:bodyPr vert="horz" wrap="square" lIns="0" tIns="0" rIns="0" bIns="0" rtlCol="0">
            <a:spAutoFit/>
          </a:bodyPr>
          <a:lstStyle/>
          <a:p>
            <a:pPr>
              <a:spcAft>
                <a:spcPts val="800"/>
              </a:spcAft>
            </a:pPr>
            <a:r>
              <a:rPr lang="en-US" sz="2000">
                <a:solidFill>
                  <a:srgbClr val="103B2F"/>
                </a:solidFill>
                <a:latin typeface="Aptos"/>
              </a:rPr>
              <a:t>Finishes, timing and the latest five races.</a:t>
            </a:r>
          </a:p>
        </p:txBody>
      </p:sp>
    </p:spTree>
    <p:extLst>
      <p:ext uri="{BB962C8B-B14F-4D97-AF65-F5344CB8AC3E}">
        <p14:creationId xmlns:p14="http://schemas.microsoft.com/office/powerpoint/2010/main" val="7070850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9A21EC6-7A9F-4798-93DC-3C2B44AF078E}"/>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D6AE7A9A-6FCD-4C12-8EAC-F1254266BDCE}"/>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65746C"/>
                </a:solidFill>
                <a:latin typeface="Aptos"/>
              </a:rPr>
              <a:t>07 / EXPLORE THE DIRECTORY</a:t>
            </a:r>
          </a:p>
        </p:txBody>
      </p:sp>
      <p:sp>
        <p:nvSpPr>
          <p:cNvPr id="4" name="TextBox 3">
            <a:extLst>
              <a:ext uri="{FF2B5EF4-FFF2-40B4-BE49-F238E27FC236}">
                <a16:creationId xmlns:a16="http://schemas.microsoft.com/office/drawing/2014/main" id="{0045A1E7-A424-4FC9-A8F5-72E56BEE7D40}"/>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65746C"/>
                </a:solidFill>
                <a:latin typeface="Aptos"/>
              </a:rPr>
              <a:t>WEBSITE SHOWCASE  /  19 OCTOBER 2026</a:t>
            </a:r>
          </a:p>
        </p:txBody>
      </p:sp>
      <p:sp>
        <p:nvSpPr>
          <p:cNvPr id="5" name="TextBox 4">
            <a:extLst>
              <a:ext uri="{FF2B5EF4-FFF2-40B4-BE49-F238E27FC236}">
                <a16:creationId xmlns:a16="http://schemas.microsoft.com/office/drawing/2014/main" id="{49AA2476-9784-429A-A98B-1A87CB211762}"/>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65746C"/>
                </a:solidFill>
                <a:latin typeface="Aptos"/>
              </a:rPr>
              <a:t>08</a:t>
            </a:r>
          </a:p>
        </p:txBody>
      </p:sp>
      <p:sp>
        <p:nvSpPr>
          <p:cNvPr id="6" name="TextBox 5">
            <a:extLst>
              <a:ext uri="{FF2B5EF4-FFF2-40B4-BE49-F238E27FC236}">
                <a16:creationId xmlns:a16="http://schemas.microsoft.com/office/drawing/2014/main" id="{400C1E58-0065-41E9-A394-BA48C1555BEF}"/>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103B2F"/>
                </a:solidFill>
                <a:latin typeface="Georgia" panose="02040502050405020303" pitchFamily="18" charset="0"/>
              </a:rPr>
              <a:t>Find the horses and people behind racing</a:t>
            </a:r>
          </a:p>
        </p:txBody>
      </p:sp>
      <p:pic>
        <p:nvPicPr>
          <p:cNvPr id="8" name="Picture 7" descr="Actual website screenshot supplied by user: ppt images/horses.png. Native presentation crop; original UI unchanged.">
            <a:extLst>
              <a:ext uri="{FF2B5EF4-FFF2-40B4-BE49-F238E27FC236}">
                <a16:creationId xmlns:a16="http://schemas.microsoft.com/office/drawing/2014/main" id="{8B697ED8-6F5A-4636-826E-4B6424339F1E}"/>
              </a:ext>
            </a:extLst>
          </p:cNvPr>
          <p:cNvPicPr>
            <a:picLocks noChangeAspect="1"/>
          </p:cNvPicPr>
          <p:nvPr/>
        </p:nvPicPr>
        <p:blipFill rotWithShape="1">
          <a:blip r:embed="rId3">
            <a:extLst>
              <a:ext uri="{28A0092B-C50C-407E-A947-70E740481C1C}">
                <a14:useLocalDpi xmlns:a14="http://schemas.microsoft.com/office/drawing/2010/main" val="0"/>
              </a:ext>
            </a:extLst>
          </a:blip>
          <a:srcRect l="14930" t="28722" r="15897" b="2640"/>
          <a:stretch/>
        </p:blipFill>
        <p:spPr>
          <a:xfrm>
            <a:off x="812800" y="2260600"/>
            <a:ext cx="10795000" cy="5447787"/>
          </a:xfrm>
          <a:prstGeom prst="rect">
            <a:avLst/>
          </a:prstGeom>
          <a:ln w="6350">
            <a:solidFill>
              <a:srgbClr val="D9DED6"/>
            </a:solidFill>
          </a:ln>
        </p:spPr>
      </p:pic>
      <p:sp>
        <p:nvSpPr>
          <p:cNvPr id="9" name="TextBox 8">
            <a:extLst>
              <a:ext uri="{FF2B5EF4-FFF2-40B4-BE49-F238E27FC236}">
                <a16:creationId xmlns:a16="http://schemas.microsoft.com/office/drawing/2014/main" id="{9F40986B-A4A8-4A6B-8403-96677FED0584}"/>
              </a:ext>
            </a:extLst>
          </p:cNvPr>
          <p:cNvSpPr txBox="1"/>
          <p:nvPr/>
        </p:nvSpPr>
        <p:spPr>
          <a:xfrm>
            <a:off x="12242800" y="2374900"/>
            <a:ext cx="3175000" cy="600164"/>
          </a:xfrm>
          <a:prstGeom prst="rect">
            <a:avLst/>
          </a:prstGeom>
          <a:noFill/>
        </p:spPr>
        <p:txBody>
          <a:bodyPr vert="horz" wrap="square" lIns="0" tIns="0" rIns="0" bIns="0" rtlCol="0">
            <a:spAutoFit/>
          </a:bodyPr>
          <a:lstStyle/>
          <a:p>
            <a:pPr>
              <a:spcAft>
                <a:spcPts val="800"/>
              </a:spcAft>
            </a:pPr>
            <a:r>
              <a:rPr lang="en-US" sz="3900">
                <a:solidFill>
                  <a:srgbClr val="103B2F"/>
                </a:solidFill>
                <a:latin typeface="Georgia" panose="02040502050405020303" pitchFamily="18" charset="0"/>
              </a:rPr>
              <a:t>128</a:t>
            </a:r>
          </a:p>
        </p:txBody>
      </p:sp>
      <p:sp>
        <p:nvSpPr>
          <p:cNvPr id="10" name="TextBox 9">
            <a:extLst>
              <a:ext uri="{FF2B5EF4-FFF2-40B4-BE49-F238E27FC236}">
                <a16:creationId xmlns:a16="http://schemas.microsoft.com/office/drawing/2014/main" id="{2B8D0A83-79E7-4A0B-956C-2996FC5E6F4F}"/>
              </a:ext>
            </a:extLst>
          </p:cNvPr>
          <p:cNvSpPr txBox="1"/>
          <p:nvPr/>
        </p:nvSpPr>
        <p:spPr>
          <a:xfrm>
            <a:off x="12242800" y="3149600"/>
            <a:ext cx="3175000" cy="323165"/>
          </a:xfrm>
          <a:prstGeom prst="rect">
            <a:avLst/>
          </a:prstGeom>
          <a:noFill/>
        </p:spPr>
        <p:txBody>
          <a:bodyPr vert="horz" wrap="square" lIns="0" tIns="0" rIns="0" bIns="0" rtlCol="0">
            <a:spAutoFit/>
          </a:bodyPr>
          <a:lstStyle/>
          <a:p>
            <a:pPr>
              <a:spcAft>
                <a:spcPts val="800"/>
              </a:spcAft>
            </a:pPr>
            <a:r>
              <a:rPr lang="en-US" sz="2100">
                <a:solidFill>
                  <a:srgbClr val="103B2F"/>
                </a:solidFill>
                <a:latin typeface="Aptos"/>
              </a:rPr>
              <a:t>horses</a:t>
            </a:r>
          </a:p>
        </p:txBody>
      </p:sp>
      <p:sp>
        <p:nvSpPr>
          <p:cNvPr id="11" name="TextBox 10">
            <a:extLst>
              <a:ext uri="{FF2B5EF4-FFF2-40B4-BE49-F238E27FC236}">
                <a16:creationId xmlns:a16="http://schemas.microsoft.com/office/drawing/2014/main" id="{BB5AE511-A8E9-4514-831F-C4ADD52074FB}"/>
              </a:ext>
            </a:extLst>
          </p:cNvPr>
          <p:cNvSpPr txBox="1"/>
          <p:nvPr/>
        </p:nvSpPr>
        <p:spPr>
          <a:xfrm>
            <a:off x="12242800" y="3937000"/>
            <a:ext cx="3175000" cy="600164"/>
          </a:xfrm>
          <a:prstGeom prst="rect">
            <a:avLst/>
          </a:prstGeom>
          <a:noFill/>
        </p:spPr>
        <p:txBody>
          <a:bodyPr vert="horz" wrap="square" lIns="0" tIns="0" rIns="0" bIns="0" rtlCol="0">
            <a:spAutoFit/>
          </a:bodyPr>
          <a:lstStyle/>
          <a:p>
            <a:pPr>
              <a:spcAft>
                <a:spcPts val="800"/>
              </a:spcAft>
            </a:pPr>
            <a:r>
              <a:rPr lang="en-US" sz="3900">
                <a:solidFill>
                  <a:srgbClr val="103B2F"/>
                </a:solidFill>
                <a:latin typeface="Georgia" panose="02040502050405020303" pitchFamily="18" charset="0"/>
              </a:rPr>
              <a:t>18</a:t>
            </a:r>
          </a:p>
        </p:txBody>
      </p:sp>
      <p:sp>
        <p:nvSpPr>
          <p:cNvPr id="12" name="TextBox 11">
            <a:extLst>
              <a:ext uri="{FF2B5EF4-FFF2-40B4-BE49-F238E27FC236}">
                <a16:creationId xmlns:a16="http://schemas.microsoft.com/office/drawing/2014/main" id="{91076DBB-1342-4582-B503-2D6EEEC271B4}"/>
              </a:ext>
            </a:extLst>
          </p:cNvPr>
          <p:cNvSpPr txBox="1"/>
          <p:nvPr/>
        </p:nvSpPr>
        <p:spPr>
          <a:xfrm>
            <a:off x="12242800" y="4711700"/>
            <a:ext cx="3175000" cy="323165"/>
          </a:xfrm>
          <a:prstGeom prst="rect">
            <a:avLst/>
          </a:prstGeom>
          <a:noFill/>
        </p:spPr>
        <p:txBody>
          <a:bodyPr vert="horz" wrap="square" lIns="0" tIns="0" rIns="0" bIns="0" rtlCol="0">
            <a:spAutoFit/>
          </a:bodyPr>
          <a:lstStyle/>
          <a:p>
            <a:pPr>
              <a:spcAft>
                <a:spcPts val="800"/>
              </a:spcAft>
            </a:pPr>
            <a:r>
              <a:rPr lang="en-US" sz="2100">
                <a:solidFill>
                  <a:srgbClr val="103B2F"/>
                </a:solidFill>
                <a:latin typeface="Aptos"/>
              </a:rPr>
              <a:t>jockeys</a:t>
            </a:r>
          </a:p>
        </p:txBody>
      </p:sp>
      <p:sp>
        <p:nvSpPr>
          <p:cNvPr id="13" name="TextBox 12">
            <a:extLst>
              <a:ext uri="{FF2B5EF4-FFF2-40B4-BE49-F238E27FC236}">
                <a16:creationId xmlns:a16="http://schemas.microsoft.com/office/drawing/2014/main" id="{2860BC0F-83D9-4B4C-A7A7-4CE7708411F9}"/>
              </a:ext>
            </a:extLst>
          </p:cNvPr>
          <p:cNvSpPr txBox="1"/>
          <p:nvPr/>
        </p:nvSpPr>
        <p:spPr>
          <a:xfrm>
            <a:off x="12242800" y="5588000"/>
            <a:ext cx="3175000" cy="384721"/>
          </a:xfrm>
          <a:prstGeom prst="rect">
            <a:avLst/>
          </a:prstGeom>
          <a:noFill/>
        </p:spPr>
        <p:txBody>
          <a:bodyPr vert="horz" wrap="square" lIns="0" tIns="0" rIns="0" bIns="0" rtlCol="0">
            <a:spAutoFit/>
          </a:bodyPr>
          <a:lstStyle/>
          <a:p>
            <a:pPr>
              <a:spcAft>
                <a:spcPts val="800"/>
              </a:spcAft>
            </a:pPr>
            <a:r>
              <a:rPr lang="en-US" sz="2500">
                <a:solidFill>
                  <a:srgbClr val="103B2F"/>
                </a:solidFill>
                <a:latin typeface="Georgia" panose="02040502050405020303" pitchFamily="18" charset="0"/>
              </a:rPr>
              <a:t>12 trainers</a:t>
            </a:r>
          </a:p>
        </p:txBody>
      </p:sp>
      <p:sp>
        <p:nvSpPr>
          <p:cNvPr id="14" name="TextBox 13">
            <a:extLst>
              <a:ext uri="{FF2B5EF4-FFF2-40B4-BE49-F238E27FC236}">
                <a16:creationId xmlns:a16="http://schemas.microsoft.com/office/drawing/2014/main" id="{0AD2F868-E1CC-4947-93AD-3FF3BCA48217}"/>
              </a:ext>
            </a:extLst>
          </p:cNvPr>
          <p:cNvSpPr txBox="1"/>
          <p:nvPr/>
        </p:nvSpPr>
        <p:spPr>
          <a:xfrm>
            <a:off x="12242800" y="6553200"/>
            <a:ext cx="3175000" cy="384721"/>
          </a:xfrm>
          <a:prstGeom prst="rect">
            <a:avLst/>
          </a:prstGeom>
          <a:noFill/>
        </p:spPr>
        <p:txBody>
          <a:bodyPr vert="horz" wrap="square" lIns="0" tIns="0" rIns="0" bIns="0" rtlCol="0">
            <a:spAutoFit/>
          </a:bodyPr>
          <a:lstStyle/>
          <a:p>
            <a:pPr>
              <a:spcAft>
                <a:spcPts val="800"/>
              </a:spcAft>
            </a:pPr>
            <a:r>
              <a:rPr lang="en-US" sz="2500">
                <a:solidFill>
                  <a:srgbClr val="103B2F"/>
                </a:solidFill>
                <a:latin typeface="Georgia" panose="02040502050405020303" pitchFamily="18" charset="0"/>
              </a:rPr>
              <a:t>10 owners</a:t>
            </a:r>
          </a:p>
        </p:txBody>
      </p:sp>
      <p:sp>
        <p:nvSpPr>
          <p:cNvPr id="15" name="TextBox 14">
            <a:extLst>
              <a:ext uri="{FF2B5EF4-FFF2-40B4-BE49-F238E27FC236}">
                <a16:creationId xmlns:a16="http://schemas.microsoft.com/office/drawing/2014/main" id="{E8672209-0E77-4E41-B704-A7F53C721A46}"/>
              </a:ext>
            </a:extLst>
          </p:cNvPr>
          <p:cNvSpPr txBox="1"/>
          <p:nvPr/>
        </p:nvSpPr>
        <p:spPr>
          <a:xfrm>
            <a:off x="812800" y="7899400"/>
            <a:ext cx="10795000" cy="353943"/>
          </a:xfrm>
          <a:prstGeom prst="rect">
            <a:avLst/>
          </a:prstGeom>
          <a:noFill/>
        </p:spPr>
        <p:txBody>
          <a:bodyPr vert="horz" wrap="square" lIns="0" tIns="0" rIns="0" bIns="0" rtlCol="0">
            <a:spAutoFit/>
          </a:bodyPr>
          <a:lstStyle/>
          <a:p>
            <a:pPr>
              <a:spcAft>
                <a:spcPts val="800"/>
              </a:spcAft>
            </a:pPr>
            <a:r>
              <a:rPr lang="en-US" sz="2300">
                <a:solidFill>
                  <a:srgbClr val="65746C"/>
                </a:solidFill>
                <a:latin typeface="Aptos"/>
              </a:rPr>
              <a:t>Search by name. Open any profile.</a:t>
            </a:r>
          </a:p>
        </p:txBody>
      </p:sp>
    </p:spTree>
    <p:extLst>
      <p:ext uri="{BB962C8B-B14F-4D97-AF65-F5344CB8AC3E}">
        <p14:creationId xmlns:p14="http://schemas.microsoft.com/office/powerpoint/2010/main" val="5080761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3B2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BC23B1-EF62-46EE-B37A-283F3C09DFD6}"/>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F5F1E8"/>
                </a:solidFill>
                <a:latin typeface="Aptos"/>
              </a:rPr>
              <a:t>JOCKEY</a:t>
            </a:r>
          </a:p>
        </p:txBody>
      </p:sp>
      <p:sp>
        <p:nvSpPr>
          <p:cNvPr id="3" name="TextBox 2">
            <a:extLst>
              <a:ext uri="{FF2B5EF4-FFF2-40B4-BE49-F238E27FC236}">
                <a16:creationId xmlns:a16="http://schemas.microsoft.com/office/drawing/2014/main" id="{6A511519-DEB6-4EAA-9E46-661517263A15}"/>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F2D78F"/>
                </a:solidFill>
                <a:latin typeface="Aptos"/>
              </a:rPr>
              <a:t>08 / UNDERSTAND THE CONNECTIONS</a:t>
            </a:r>
          </a:p>
        </p:txBody>
      </p:sp>
      <p:sp>
        <p:nvSpPr>
          <p:cNvPr id="4" name="TextBox 3">
            <a:extLst>
              <a:ext uri="{FF2B5EF4-FFF2-40B4-BE49-F238E27FC236}">
                <a16:creationId xmlns:a16="http://schemas.microsoft.com/office/drawing/2014/main" id="{4675991E-1948-4439-B5FA-661C2F150801}"/>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F2D78F"/>
                </a:solidFill>
                <a:latin typeface="Aptos"/>
              </a:rPr>
              <a:t>WEBSITE SHOWCASE  /  19 OCTOBER 2026</a:t>
            </a:r>
          </a:p>
        </p:txBody>
      </p:sp>
      <p:sp>
        <p:nvSpPr>
          <p:cNvPr id="5" name="TextBox 4">
            <a:extLst>
              <a:ext uri="{FF2B5EF4-FFF2-40B4-BE49-F238E27FC236}">
                <a16:creationId xmlns:a16="http://schemas.microsoft.com/office/drawing/2014/main" id="{79D94838-9E04-4FA4-AEE3-5908614D839A}"/>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F2D78F"/>
                </a:solidFill>
                <a:latin typeface="Aptos"/>
              </a:rPr>
              <a:t>09</a:t>
            </a:r>
          </a:p>
        </p:txBody>
      </p:sp>
      <p:sp>
        <p:nvSpPr>
          <p:cNvPr id="6" name="TextBox 5">
            <a:extLst>
              <a:ext uri="{FF2B5EF4-FFF2-40B4-BE49-F238E27FC236}">
                <a16:creationId xmlns:a16="http://schemas.microsoft.com/office/drawing/2014/main" id="{BFD642A8-DF3C-4E5E-BDD5-38AF5AB12387}"/>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F5F1E8"/>
                </a:solidFill>
                <a:latin typeface="Georgia" panose="02040502050405020303" pitchFamily="18" charset="0"/>
              </a:rPr>
              <a:t>Every rider has a recorded history</a:t>
            </a:r>
          </a:p>
        </p:txBody>
      </p:sp>
      <p:sp>
        <p:nvSpPr>
          <p:cNvPr id="7" name="TextBox 6">
            <a:extLst>
              <a:ext uri="{FF2B5EF4-FFF2-40B4-BE49-F238E27FC236}">
                <a16:creationId xmlns:a16="http://schemas.microsoft.com/office/drawing/2014/main" id="{206485D9-F28A-4CC4-A0B7-47772EDAC104}"/>
              </a:ext>
            </a:extLst>
          </p:cNvPr>
          <p:cNvSpPr txBox="1"/>
          <p:nvPr/>
        </p:nvSpPr>
        <p:spPr>
          <a:xfrm>
            <a:off x="812800" y="2819400"/>
            <a:ext cx="4826000" cy="446276"/>
          </a:xfrm>
          <a:prstGeom prst="rect">
            <a:avLst/>
          </a:prstGeom>
          <a:noFill/>
        </p:spPr>
        <p:txBody>
          <a:bodyPr vert="horz" wrap="square" lIns="0" tIns="0" rIns="0" bIns="0" rtlCol="0">
            <a:spAutoFit/>
          </a:bodyPr>
          <a:lstStyle/>
          <a:p>
            <a:pPr>
              <a:spcAft>
                <a:spcPts val="800"/>
              </a:spcAft>
            </a:pPr>
            <a:r>
              <a:rPr lang="en-US" sz="2900">
                <a:solidFill>
                  <a:srgbClr val="F2D78F"/>
                </a:solidFill>
                <a:latin typeface="Georgia" panose="02040502050405020303" pitchFamily="18" charset="0"/>
              </a:rPr>
              <a:t>Performance at a glance</a:t>
            </a:r>
          </a:p>
        </p:txBody>
      </p:sp>
      <p:sp>
        <p:nvSpPr>
          <p:cNvPr id="8" name="TextBox 7">
            <a:extLst>
              <a:ext uri="{FF2B5EF4-FFF2-40B4-BE49-F238E27FC236}">
                <a16:creationId xmlns:a16="http://schemas.microsoft.com/office/drawing/2014/main" id="{BFBF17C2-0299-4D7A-B91E-B5B510EBF286}"/>
              </a:ext>
            </a:extLst>
          </p:cNvPr>
          <p:cNvSpPr txBox="1"/>
          <p:nvPr/>
        </p:nvSpPr>
        <p:spPr>
          <a:xfrm>
            <a:off x="812800" y="4254500"/>
            <a:ext cx="4826000" cy="353943"/>
          </a:xfrm>
          <a:prstGeom prst="rect">
            <a:avLst/>
          </a:prstGeom>
          <a:noFill/>
        </p:spPr>
        <p:txBody>
          <a:bodyPr vert="horz" wrap="square" lIns="0" tIns="0" rIns="0" bIns="0" rtlCol="0">
            <a:spAutoFit/>
          </a:bodyPr>
          <a:lstStyle/>
          <a:p>
            <a:pPr>
              <a:spcAft>
                <a:spcPts val="800"/>
              </a:spcAft>
            </a:pPr>
            <a:r>
              <a:rPr lang="en-US" sz="2300">
                <a:solidFill>
                  <a:srgbClr val="F5F1E8"/>
                </a:solidFill>
                <a:latin typeface="Aptos"/>
              </a:rPr>
              <a:t>Finishes, wins and top-three results.</a:t>
            </a:r>
          </a:p>
        </p:txBody>
      </p:sp>
      <p:sp>
        <p:nvSpPr>
          <p:cNvPr id="9" name="TextBox 8">
            <a:extLst>
              <a:ext uri="{FF2B5EF4-FFF2-40B4-BE49-F238E27FC236}">
                <a16:creationId xmlns:a16="http://schemas.microsoft.com/office/drawing/2014/main" id="{913B8BEE-BBF8-4B76-B9BD-04CB9F6E90C8}"/>
              </a:ext>
            </a:extLst>
          </p:cNvPr>
          <p:cNvSpPr txBox="1"/>
          <p:nvPr/>
        </p:nvSpPr>
        <p:spPr>
          <a:xfrm>
            <a:off x="812800" y="6045200"/>
            <a:ext cx="4826000" cy="446276"/>
          </a:xfrm>
          <a:prstGeom prst="rect">
            <a:avLst/>
          </a:prstGeom>
          <a:noFill/>
        </p:spPr>
        <p:txBody>
          <a:bodyPr vert="horz" wrap="square" lIns="0" tIns="0" rIns="0" bIns="0" rtlCol="0">
            <a:spAutoFit/>
          </a:bodyPr>
          <a:lstStyle/>
          <a:p>
            <a:pPr>
              <a:spcAft>
                <a:spcPts val="800"/>
              </a:spcAft>
            </a:pPr>
            <a:r>
              <a:rPr lang="en-US" sz="2900">
                <a:solidFill>
                  <a:srgbClr val="F2D78F"/>
                </a:solidFill>
                <a:latin typeface="Georgia" panose="02040502050405020303" pitchFamily="18" charset="0"/>
              </a:rPr>
              <a:t>Follow the partnerships</a:t>
            </a:r>
          </a:p>
        </p:txBody>
      </p:sp>
      <p:sp>
        <p:nvSpPr>
          <p:cNvPr id="10" name="TextBox 9">
            <a:extLst>
              <a:ext uri="{FF2B5EF4-FFF2-40B4-BE49-F238E27FC236}">
                <a16:creationId xmlns:a16="http://schemas.microsoft.com/office/drawing/2014/main" id="{CCC6E418-9654-4ED7-A1B1-BD1036899A6C}"/>
              </a:ext>
            </a:extLst>
          </p:cNvPr>
          <p:cNvSpPr txBox="1"/>
          <p:nvPr/>
        </p:nvSpPr>
        <p:spPr>
          <a:xfrm>
            <a:off x="812800" y="7239000"/>
            <a:ext cx="4826000" cy="677108"/>
          </a:xfrm>
          <a:prstGeom prst="rect">
            <a:avLst/>
          </a:prstGeom>
          <a:noFill/>
        </p:spPr>
        <p:txBody>
          <a:bodyPr vert="horz" wrap="square" lIns="0" tIns="0" rIns="0" bIns="0" rtlCol="0">
            <a:spAutoFit/>
          </a:bodyPr>
          <a:lstStyle/>
          <a:p>
            <a:pPr>
              <a:spcAft>
                <a:spcPts val="800"/>
              </a:spcAft>
            </a:pPr>
            <a:r>
              <a:rPr lang="en-US" sz="2200">
                <a:solidFill>
                  <a:srgbClr val="F5F1E8"/>
                </a:solidFill>
                <a:latin typeface="Aptos"/>
              </a:rPr>
              <a:t>Horse associations and combination records.</a:t>
            </a:r>
          </a:p>
        </p:txBody>
      </p:sp>
      <p:pic>
        <p:nvPicPr>
          <p:cNvPr id="12" name="Picture 11" descr="Actual website screenshot supplied by user: ppt images/jockeys_zoomed.png. Native presentation crop; original UI unchanged.">
            <a:extLst>
              <a:ext uri="{FF2B5EF4-FFF2-40B4-BE49-F238E27FC236}">
                <a16:creationId xmlns:a16="http://schemas.microsoft.com/office/drawing/2014/main" id="{B7306885-AB32-4A41-A1DF-500D05A825AF}"/>
              </a:ext>
            </a:extLst>
          </p:cNvPr>
          <p:cNvPicPr>
            <a:picLocks noChangeAspect="1"/>
          </p:cNvPicPr>
          <p:nvPr/>
        </p:nvPicPr>
        <p:blipFill rotWithShape="1">
          <a:blip r:embed="rId3">
            <a:extLst>
              <a:ext uri="{28A0092B-C50C-407E-A947-70E740481C1C}">
                <a14:useLocalDpi xmlns:a14="http://schemas.microsoft.com/office/drawing/2010/main" val="0"/>
              </a:ext>
            </a:extLst>
          </a:blip>
          <a:srcRect l="15106" t="7408" r="15214" b="1587"/>
          <a:stretch/>
        </p:blipFill>
        <p:spPr>
          <a:xfrm>
            <a:off x="6477000" y="2260600"/>
            <a:ext cx="8799638" cy="5880100"/>
          </a:xfrm>
          <a:prstGeom prst="rect">
            <a:avLst/>
          </a:prstGeom>
          <a:ln w="6350">
            <a:solidFill>
              <a:srgbClr val="D9DED6"/>
            </a:solidFill>
          </a:ln>
        </p:spPr>
      </p:pic>
    </p:spTree>
    <p:extLst>
      <p:ext uri="{BB962C8B-B14F-4D97-AF65-F5344CB8AC3E}">
        <p14:creationId xmlns:p14="http://schemas.microsoft.com/office/powerpoint/2010/main" val="42544316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F7862F-A037-4162-8128-D8BD8B648785}"/>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70AD8719-F37D-4F05-82C9-A8C1847DCEE3}"/>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65746C"/>
                </a:solidFill>
                <a:latin typeface="Aptos"/>
              </a:rPr>
              <a:t>09 / CONNECT THE WIDER TEAM</a:t>
            </a:r>
          </a:p>
        </p:txBody>
      </p:sp>
      <p:sp>
        <p:nvSpPr>
          <p:cNvPr id="4" name="TextBox 3">
            <a:extLst>
              <a:ext uri="{FF2B5EF4-FFF2-40B4-BE49-F238E27FC236}">
                <a16:creationId xmlns:a16="http://schemas.microsoft.com/office/drawing/2014/main" id="{EDFAE138-9DEF-4ADF-97BC-BED2F4B58A98}"/>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65746C"/>
                </a:solidFill>
                <a:latin typeface="Aptos"/>
              </a:rPr>
              <a:t>WEBSITE SHOWCASE  /  19 OCTOBER 2026</a:t>
            </a:r>
          </a:p>
        </p:txBody>
      </p:sp>
      <p:sp>
        <p:nvSpPr>
          <p:cNvPr id="5" name="TextBox 4">
            <a:extLst>
              <a:ext uri="{FF2B5EF4-FFF2-40B4-BE49-F238E27FC236}">
                <a16:creationId xmlns:a16="http://schemas.microsoft.com/office/drawing/2014/main" id="{4BA76890-B465-4493-B77E-EF2AE859EA15}"/>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65746C"/>
                </a:solidFill>
                <a:latin typeface="Aptos"/>
              </a:rPr>
              <a:t>10</a:t>
            </a:r>
          </a:p>
        </p:txBody>
      </p:sp>
      <p:sp>
        <p:nvSpPr>
          <p:cNvPr id="6" name="TextBox 5">
            <a:extLst>
              <a:ext uri="{FF2B5EF4-FFF2-40B4-BE49-F238E27FC236}">
                <a16:creationId xmlns:a16="http://schemas.microsoft.com/office/drawing/2014/main" id="{38B10E7E-9E24-41A5-9024-EB4D3AB5419E}"/>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103B2F"/>
                </a:solidFill>
                <a:latin typeface="Georgia" panose="02040502050405020303" pitchFamily="18" charset="0"/>
              </a:rPr>
              <a:t>Trainers and owners complete the picture</a:t>
            </a:r>
          </a:p>
        </p:txBody>
      </p:sp>
      <p:sp>
        <p:nvSpPr>
          <p:cNvPr id="7" name="TextBox 6">
            <a:extLst>
              <a:ext uri="{FF2B5EF4-FFF2-40B4-BE49-F238E27FC236}">
                <a16:creationId xmlns:a16="http://schemas.microsoft.com/office/drawing/2014/main" id="{BE73ABA3-0AC4-4FAF-9FF5-AE43EAA53ADA}"/>
              </a:ext>
            </a:extLst>
          </p:cNvPr>
          <p:cNvSpPr txBox="1"/>
          <p:nvPr/>
        </p:nvSpPr>
        <p:spPr>
          <a:xfrm>
            <a:off x="812800" y="2235200"/>
            <a:ext cx="6959600" cy="246221"/>
          </a:xfrm>
          <a:prstGeom prst="rect">
            <a:avLst/>
          </a:prstGeom>
          <a:noFill/>
        </p:spPr>
        <p:txBody>
          <a:bodyPr vert="horz" wrap="square" lIns="0" tIns="0" rIns="0" bIns="0" rtlCol="0">
            <a:spAutoFit/>
          </a:bodyPr>
          <a:lstStyle/>
          <a:p>
            <a:pPr>
              <a:spcAft>
                <a:spcPts val="800"/>
              </a:spcAft>
            </a:pPr>
            <a:r>
              <a:rPr lang="en-US" sz="1600" b="1">
                <a:solidFill>
                  <a:srgbClr val="65746C"/>
                </a:solidFill>
                <a:latin typeface="Aptos"/>
              </a:rPr>
              <a:t>TRAINER RECORD</a:t>
            </a:r>
          </a:p>
        </p:txBody>
      </p:sp>
      <p:sp>
        <p:nvSpPr>
          <p:cNvPr id="8" name="TextBox 7">
            <a:extLst>
              <a:ext uri="{FF2B5EF4-FFF2-40B4-BE49-F238E27FC236}">
                <a16:creationId xmlns:a16="http://schemas.microsoft.com/office/drawing/2014/main" id="{D17F5DE5-11C0-42E6-8472-73CEADF531A0}"/>
              </a:ext>
            </a:extLst>
          </p:cNvPr>
          <p:cNvSpPr txBox="1"/>
          <p:nvPr/>
        </p:nvSpPr>
        <p:spPr>
          <a:xfrm>
            <a:off x="8483600" y="2235200"/>
            <a:ext cx="6959600" cy="246221"/>
          </a:xfrm>
          <a:prstGeom prst="rect">
            <a:avLst/>
          </a:prstGeom>
          <a:noFill/>
        </p:spPr>
        <p:txBody>
          <a:bodyPr vert="horz" wrap="square" lIns="0" tIns="0" rIns="0" bIns="0" rtlCol="0">
            <a:spAutoFit/>
          </a:bodyPr>
          <a:lstStyle/>
          <a:p>
            <a:pPr>
              <a:spcAft>
                <a:spcPts val="800"/>
              </a:spcAft>
            </a:pPr>
            <a:r>
              <a:rPr lang="en-US" sz="1600" b="1">
                <a:solidFill>
                  <a:srgbClr val="65746C"/>
                </a:solidFill>
                <a:latin typeface="Aptos"/>
              </a:rPr>
              <a:t>OWNER RECORD</a:t>
            </a:r>
          </a:p>
        </p:txBody>
      </p:sp>
      <p:pic>
        <p:nvPicPr>
          <p:cNvPr id="10" name="Picture 9" descr="Actual website screenshot supplied by user: ppt images/trainers_zoomed.png. Native presentation crop; original UI unchanged.">
            <a:extLst>
              <a:ext uri="{FF2B5EF4-FFF2-40B4-BE49-F238E27FC236}">
                <a16:creationId xmlns:a16="http://schemas.microsoft.com/office/drawing/2014/main" id="{8FE78215-EE95-416C-A0BD-14CBE198B5A4}"/>
              </a:ext>
            </a:extLst>
          </p:cNvPr>
          <p:cNvPicPr>
            <a:picLocks noChangeAspect="1"/>
          </p:cNvPicPr>
          <p:nvPr/>
        </p:nvPicPr>
        <p:blipFill rotWithShape="1">
          <a:blip r:embed="rId3">
            <a:extLst>
              <a:ext uri="{28A0092B-C50C-407E-A947-70E740481C1C}">
                <a14:useLocalDpi xmlns:a14="http://schemas.microsoft.com/office/drawing/2010/main" val="0"/>
              </a:ext>
            </a:extLst>
          </a:blip>
          <a:srcRect l="15340" t="8439" r="15873" b="5696"/>
          <a:stretch/>
        </p:blipFill>
        <p:spPr>
          <a:xfrm>
            <a:off x="812800" y="2819400"/>
            <a:ext cx="6959600" cy="4401798"/>
          </a:xfrm>
          <a:prstGeom prst="rect">
            <a:avLst/>
          </a:prstGeom>
          <a:ln w="6350">
            <a:solidFill>
              <a:srgbClr val="D9DED6"/>
            </a:solidFill>
          </a:ln>
        </p:spPr>
      </p:pic>
      <p:pic>
        <p:nvPicPr>
          <p:cNvPr id="12" name="Picture 11" descr="Actual website screenshot supplied by user: ppt images/owners_zoomed.png. Native presentation crop; original UI unchanged.">
            <a:extLst>
              <a:ext uri="{FF2B5EF4-FFF2-40B4-BE49-F238E27FC236}">
                <a16:creationId xmlns:a16="http://schemas.microsoft.com/office/drawing/2014/main" id="{93FC0B71-2AC3-410F-B73A-1260847CD353}"/>
              </a:ext>
            </a:extLst>
          </p:cNvPr>
          <p:cNvPicPr>
            <a:picLocks noChangeAspect="1"/>
          </p:cNvPicPr>
          <p:nvPr/>
        </p:nvPicPr>
        <p:blipFill rotWithShape="1">
          <a:blip r:embed="rId4">
            <a:extLst>
              <a:ext uri="{28A0092B-C50C-407E-A947-70E740481C1C}">
                <a14:useLocalDpi xmlns:a14="http://schemas.microsoft.com/office/drawing/2010/main" val="0"/>
              </a:ext>
            </a:extLst>
          </a:blip>
          <a:srcRect l="14930" t="16437" r="15897" b="2969"/>
          <a:stretch/>
        </p:blipFill>
        <p:spPr>
          <a:xfrm>
            <a:off x="8483600" y="2819400"/>
            <a:ext cx="6959600" cy="4106596"/>
          </a:xfrm>
          <a:prstGeom prst="rect">
            <a:avLst/>
          </a:prstGeom>
          <a:ln w="6350">
            <a:solidFill>
              <a:srgbClr val="D9DED6"/>
            </a:solidFill>
          </a:ln>
        </p:spPr>
      </p:pic>
      <p:sp>
        <p:nvSpPr>
          <p:cNvPr id="13" name="TextBox 12">
            <a:extLst>
              <a:ext uri="{FF2B5EF4-FFF2-40B4-BE49-F238E27FC236}">
                <a16:creationId xmlns:a16="http://schemas.microsoft.com/office/drawing/2014/main" id="{AEC9FA8E-5AC1-4458-84C2-41762A0E02BF}"/>
              </a:ext>
            </a:extLst>
          </p:cNvPr>
          <p:cNvSpPr txBox="1"/>
          <p:nvPr/>
        </p:nvSpPr>
        <p:spPr>
          <a:xfrm>
            <a:off x="812800" y="7874000"/>
            <a:ext cx="14630400" cy="353943"/>
          </a:xfrm>
          <a:prstGeom prst="rect">
            <a:avLst/>
          </a:prstGeom>
          <a:noFill/>
        </p:spPr>
        <p:txBody>
          <a:bodyPr vert="horz" wrap="square" lIns="0" tIns="0" rIns="0" bIns="0" rtlCol="0">
            <a:spAutoFit/>
          </a:bodyPr>
          <a:lstStyle/>
          <a:p>
            <a:pPr>
              <a:spcAft>
                <a:spcPts val="800"/>
              </a:spcAft>
            </a:pPr>
            <a:r>
              <a:rPr lang="en-US" sz="2300">
                <a:solidFill>
                  <a:srgbClr val="103B2F"/>
                </a:solidFill>
                <a:latin typeface="Aptos"/>
              </a:rPr>
              <a:t>Each profile leads back to horses, combinations and finishing records.</a:t>
            </a:r>
          </a:p>
        </p:txBody>
      </p:sp>
    </p:spTree>
    <p:extLst>
      <p:ext uri="{BB962C8B-B14F-4D97-AF65-F5344CB8AC3E}">
        <p14:creationId xmlns:p14="http://schemas.microsoft.com/office/powerpoint/2010/main" val="13620591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1E8"/>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36AA6A-77F7-45E3-B5D9-4E73B92057F2}"/>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103B2F"/>
                </a:solidFill>
                <a:latin typeface="Aptos"/>
              </a:rPr>
              <a:t>JOCKEY</a:t>
            </a:r>
          </a:p>
        </p:txBody>
      </p:sp>
      <p:sp>
        <p:nvSpPr>
          <p:cNvPr id="3" name="TextBox 2">
            <a:extLst>
              <a:ext uri="{FF2B5EF4-FFF2-40B4-BE49-F238E27FC236}">
                <a16:creationId xmlns:a16="http://schemas.microsoft.com/office/drawing/2014/main" id="{2A3309BA-FEBB-484C-AD1D-76D84DCBB570}"/>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65746C"/>
                </a:solidFill>
                <a:latin typeface="Aptos"/>
              </a:rPr>
              <a:t>10 / REVIEW THE OUTCOME</a:t>
            </a:r>
          </a:p>
        </p:txBody>
      </p:sp>
      <p:sp>
        <p:nvSpPr>
          <p:cNvPr id="4" name="TextBox 3">
            <a:extLst>
              <a:ext uri="{FF2B5EF4-FFF2-40B4-BE49-F238E27FC236}">
                <a16:creationId xmlns:a16="http://schemas.microsoft.com/office/drawing/2014/main" id="{79D6A06C-B417-47CF-A2A8-11EA1D9A59A0}"/>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65746C"/>
                </a:solidFill>
                <a:latin typeface="Aptos"/>
              </a:rPr>
              <a:t>WEBSITE SHOWCASE  /  19 OCTOBER 2026</a:t>
            </a:r>
          </a:p>
        </p:txBody>
      </p:sp>
      <p:sp>
        <p:nvSpPr>
          <p:cNvPr id="5" name="TextBox 4">
            <a:extLst>
              <a:ext uri="{FF2B5EF4-FFF2-40B4-BE49-F238E27FC236}">
                <a16:creationId xmlns:a16="http://schemas.microsoft.com/office/drawing/2014/main" id="{5525372F-F25B-47B9-8314-7DB7916802F0}"/>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65746C"/>
                </a:solidFill>
                <a:latin typeface="Aptos"/>
              </a:rPr>
              <a:t>11</a:t>
            </a:r>
          </a:p>
        </p:txBody>
      </p:sp>
      <p:sp>
        <p:nvSpPr>
          <p:cNvPr id="6" name="TextBox 5">
            <a:extLst>
              <a:ext uri="{FF2B5EF4-FFF2-40B4-BE49-F238E27FC236}">
                <a16:creationId xmlns:a16="http://schemas.microsoft.com/office/drawing/2014/main" id="{024A149B-C58C-478A-9E56-B38323EE44FA}"/>
              </a:ext>
            </a:extLst>
          </p:cNvPr>
          <p:cNvSpPr txBox="1"/>
          <p:nvPr/>
        </p:nvSpPr>
        <p:spPr>
          <a:xfrm>
            <a:off x="812800" y="1143000"/>
            <a:ext cx="14630400" cy="553998"/>
          </a:xfrm>
          <a:prstGeom prst="rect">
            <a:avLst/>
          </a:prstGeom>
          <a:noFill/>
        </p:spPr>
        <p:txBody>
          <a:bodyPr vert="horz" wrap="square" lIns="0" tIns="0" rIns="0" bIns="0" rtlCol="0">
            <a:spAutoFit/>
          </a:bodyPr>
          <a:lstStyle/>
          <a:p>
            <a:pPr>
              <a:spcAft>
                <a:spcPts val="800"/>
              </a:spcAft>
            </a:pPr>
            <a:r>
              <a:rPr lang="en-US" sz="3600">
                <a:solidFill>
                  <a:srgbClr val="103B2F"/>
                </a:solidFill>
                <a:latin typeface="Georgia" panose="02040502050405020303" pitchFamily="18" charset="0"/>
              </a:rPr>
              <a:t>The journey continues through results</a:t>
            </a:r>
          </a:p>
        </p:txBody>
      </p:sp>
      <p:pic>
        <p:nvPicPr>
          <p:cNvPr id="8" name="Picture 7" descr="Actual website screenshot supplied by user: ppt images/races.png. Native presentation crop; original UI unchanged.">
            <a:extLst>
              <a:ext uri="{FF2B5EF4-FFF2-40B4-BE49-F238E27FC236}">
                <a16:creationId xmlns:a16="http://schemas.microsoft.com/office/drawing/2014/main" id="{E3833285-BDDD-41BA-B204-CFA5BA3EED36}"/>
              </a:ext>
            </a:extLst>
          </p:cNvPr>
          <p:cNvPicPr>
            <a:picLocks noChangeAspect="1"/>
          </p:cNvPicPr>
          <p:nvPr/>
        </p:nvPicPr>
        <p:blipFill rotWithShape="1">
          <a:blip r:embed="rId3">
            <a:extLst>
              <a:ext uri="{28A0092B-C50C-407E-A947-70E740481C1C}">
                <a14:useLocalDpi xmlns:a14="http://schemas.microsoft.com/office/drawing/2010/main" val="0"/>
              </a:ext>
            </a:extLst>
          </a:blip>
          <a:srcRect l="15059" t="15717" r="15916" b="2109"/>
          <a:stretch/>
        </p:blipFill>
        <p:spPr>
          <a:xfrm>
            <a:off x="812800" y="2260600"/>
            <a:ext cx="9659173" cy="5842000"/>
          </a:xfrm>
          <a:prstGeom prst="rect">
            <a:avLst/>
          </a:prstGeom>
          <a:ln w="6350">
            <a:solidFill>
              <a:srgbClr val="D9DED6"/>
            </a:solidFill>
          </a:ln>
        </p:spPr>
      </p:pic>
      <p:sp>
        <p:nvSpPr>
          <p:cNvPr id="9" name="TextBox 8">
            <a:extLst>
              <a:ext uri="{FF2B5EF4-FFF2-40B4-BE49-F238E27FC236}">
                <a16:creationId xmlns:a16="http://schemas.microsoft.com/office/drawing/2014/main" id="{01C1F181-4389-432C-BFAA-E5DE6C99E3D6}"/>
              </a:ext>
            </a:extLst>
          </p:cNvPr>
          <p:cNvSpPr txBox="1"/>
          <p:nvPr/>
        </p:nvSpPr>
        <p:spPr>
          <a:xfrm>
            <a:off x="12242800" y="2781300"/>
            <a:ext cx="3200400" cy="400110"/>
          </a:xfrm>
          <a:prstGeom prst="rect">
            <a:avLst/>
          </a:prstGeom>
          <a:noFill/>
        </p:spPr>
        <p:txBody>
          <a:bodyPr vert="horz" wrap="square" lIns="0" tIns="0" rIns="0" bIns="0" rtlCol="0">
            <a:spAutoFit/>
          </a:bodyPr>
          <a:lstStyle/>
          <a:p>
            <a:pPr>
              <a:spcAft>
                <a:spcPts val="800"/>
              </a:spcAft>
            </a:pPr>
            <a:r>
              <a:rPr lang="en-US" sz="2600">
                <a:solidFill>
                  <a:srgbClr val="103B2F"/>
                </a:solidFill>
                <a:latin typeface="Georgia" panose="02040502050405020303" pitchFamily="18" charset="0"/>
              </a:rPr>
              <a:t>Filter by date</a:t>
            </a:r>
          </a:p>
        </p:txBody>
      </p:sp>
      <p:sp>
        <p:nvSpPr>
          <p:cNvPr id="10" name="TextBox 9">
            <a:extLst>
              <a:ext uri="{FF2B5EF4-FFF2-40B4-BE49-F238E27FC236}">
                <a16:creationId xmlns:a16="http://schemas.microsoft.com/office/drawing/2014/main" id="{01EA4FE8-7E11-4008-8B7D-FBB8540DD625}"/>
              </a:ext>
            </a:extLst>
          </p:cNvPr>
          <p:cNvSpPr txBox="1"/>
          <p:nvPr/>
        </p:nvSpPr>
        <p:spPr>
          <a:xfrm>
            <a:off x="12242800" y="3949700"/>
            <a:ext cx="3200400" cy="323165"/>
          </a:xfrm>
          <a:prstGeom prst="rect">
            <a:avLst/>
          </a:prstGeom>
          <a:noFill/>
        </p:spPr>
        <p:txBody>
          <a:bodyPr vert="horz" wrap="square" lIns="0" tIns="0" rIns="0" bIns="0" rtlCol="0">
            <a:spAutoFit/>
          </a:bodyPr>
          <a:lstStyle/>
          <a:p>
            <a:pPr>
              <a:spcAft>
                <a:spcPts val="800"/>
              </a:spcAft>
            </a:pPr>
            <a:r>
              <a:rPr lang="en-US" sz="2100">
                <a:solidFill>
                  <a:srgbClr val="103B2F"/>
                </a:solidFill>
                <a:latin typeface="Aptos"/>
              </a:rPr>
              <a:t>Browse published outcomes.</a:t>
            </a:r>
          </a:p>
        </p:txBody>
      </p:sp>
      <p:sp>
        <p:nvSpPr>
          <p:cNvPr id="11" name="TextBox 10">
            <a:extLst>
              <a:ext uri="{FF2B5EF4-FFF2-40B4-BE49-F238E27FC236}">
                <a16:creationId xmlns:a16="http://schemas.microsoft.com/office/drawing/2014/main" id="{A0D4B4C9-0892-454B-B618-BE6FEA48F230}"/>
              </a:ext>
            </a:extLst>
          </p:cNvPr>
          <p:cNvSpPr txBox="1"/>
          <p:nvPr/>
        </p:nvSpPr>
        <p:spPr>
          <a:xfrm>
            <a:off x="12242800" y="5727700"/>
            <a:ext cx="3200400" cy="400110"/>
          </a:xfrm>
          <a:prstGeom prst="rect">
            <a:avLst/>
          </a:prstGeom>
          <a:noFill/>
        </p:spPr>
        <p:txBody>
          <a:bodyPr vert="horz" wrap="square" lIns="0" tIns="0" rIns="0" bIns="0" rtlCol="0">
            <a:spAutoFit/>
          </a:bodyPr>
          <a:lstStyle/>
          <a:p>
            <a:pPr>
              <a:spcAft>
                <a:spcPts val="800"/>
              </a:spcAft>
            </a:pPr>
            <a:r>
              <a:rPr lang="en-US" sz="2600">
                <a:solidFill>
                  <a:srgbClr val="103B2F"/>
                </a:solidFill>
                <a:latin typeface="Georgia" panose="02040502050405020303" pitchFamily="18" charset="0"/>
              </a:rPr>
              <a:t>Reopen the race</a:t>
            </a:r>
          </a:p>
        </p:txBody>
      </p:sp>
      <p:sp>
        <p:nvSpPr>
          <p:cNvPr id="12" name="TextBox 11">
            <a:extLst>
              <a:ext uri="{FF2B5EF4-FFF2-40B4-BE49-F238E27FC236}">
                <a16:creationId xmlns:a16="http://schemas.microsoft.com/office/drawing/2014/main" id="{A33D5BF2-B63E-48E2-A1DD-CC663296BC26}"/>
              </a:ext>
            </a:extLst>
          </p:cNvPr>
          <p:cNvSpPr txBox="1"/>
          <p:nvPr/>
        </p:nvSpPr>
        <p:spPr>
          <a:xfrm>
            <a:off x="12242800" y="6896100"/>
            <a:ext cx="3200400" cy="646331"/>
          </a:xfrm>
          <a:prstGeom prst="rect">
            <a:avLst/>
          </a:prstGeom>
          <a:noFill/>
        </p:spPr>
        <p:txBody>
          <a:bodyPr vert="horz" wrap="square" lIns="0" tIns="0" rIns="0" bIns="0" rtlCol="0">
            <a:spAutoFit/>
          </a:bodyPr>
          <a:lstStyle/>
          <a:p>
            <a:pPr>
              <a:spcAft>
                <a:spcPts val="800"/>
              </a:spcAft>
            </a:pPr>
            <a:r>
              <a:rPr lang="en-US" sz="2100">
                <a:solidFill>
                  <a:srgbClr val="103B2F"/>
                </a:solidFill>
                <a:latin typeface="Aptos"/>
              </a:rPr>
              <a:t>Keep program and history connected.</a:t>
            </a:r>
          </a:p>
        </p:txBody>
      </p:sp>
    </p:spTree>
    <p:extLst>
      <p:ext uri="{BB962C8B-B14F-4D97-AF65-F5344CB8AC3E}">
        <p14:creationId xmlns:p14="http://schemas.microsoft.com/office/powerpoint/2010/main" val="633110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3B2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1CEAEF-32C3-412E-8D6F-849DD7C3061B}"/>
              </a:ext>
            </a:extLst>
          </p:cNvPr>
          <p:cNvSpPr txBox="1"/>
          <p:nvPr/>
        </p:nvSpPr>
        <p:spPr>
          <a:xfrm>
            <a:off x="812800" y="330200"/>
            <a:ext cx="3302000" cy="276999"/>
          </a:xfrm>
          <a:prstGeom prst="rect">
            <a:avLst/>
          </a:prstGeom>
          <a:noFill/>
        </p:spPr>
        <p:txBody>
          <a:bodyPr vert="horz" wrap="square" lIns="0" tIns="0" rIns="0" bIns="0" rtlCol="0">
            <a:spAutoFit/>
          </a:bodyPr>
          <a:lstStyle/>
          <a:p>
            <a:pPr>
              <a:spcAft>
                <a:spcPts val="800"/>
              </a:spcAft>
            </a:pPr>
            <a:r>
              <a:rPr lang="en-US" b="1">
                <a:solidFill>
                  <a:srgbClr val="F5F1E8"/>
                </a:solidFill>
                <a:latin typeface="Aptos"/>
              </a:rPr>
              <a:t>JOCKEY</a:t>
            </a:r>
          </a:p>
        </p:txBody>
      </p:sp>
      <p:sp>
        <p:nvSpPr>
          <p:cNvPr id="3" name="TextBox 2">
            <a:extLst>
              <a:ext uri="{FF2B5EF4-FFF2-40B4-BE49-F238E27FC236}">
                <a16:creationId xmlns:a16="http://schemas.microsoft.com/office/drawing/2014/main" id="{F2D02D01-B3BE-46F4-A1F5-507A677F5867}"/>
              </a:ext>
            </a:extLst>
          </p:cNvPr>
          <p:cNvSpPr txBox="1"/>
          <p:nvPr/>
        </p:nvSpPr>
        <p:spPr>
          <a:xfrm>
            <a:off x="6350000" y="381000"/>
            <a:ext cx="9093200" cy="184666"/>
          </a:xfrm>
          <a:prstGeom prst="rect">
            <a:avLst/>
          </a:prstGeom>
          <a:noFill/>
        </p:spPr>
        <p:txBody>
          <a:bodyPr vert="horz" wrap="square" lIns="0" tIns="0" rIns="0" bIns="0" rtlCol="0">
            <a:spAutoFit/>
          </a:bodyPr>
          <a:lstStyle/>
          <a:p>
            <a:pPr>
              <a:spcAft>
                <a:spcPts val="800"/>
              </a:spcAft>
            </a:pPr>
            <a:r>
              <a:rPr lang="en-US" sz="1200">
                <a:solidFill>
                  <a:srgbClr val="F2D78F"/>
                </a:solidFill>
                <a:latin typeface="Aptos"/>
              </a:rPr>
              <a:t>STAKEHOLDER TAKEAWAY</a:t>
            </a:r>
          </a:p>
        </p:txBody>
      </p:sp>
      <p:sp>
        <p:nvSpPr>
          <p:cNvPr id="4" name="TextBox 3">
            <a:extLst>
              <a:ext uri="{FF2B5EF4-FFF2-40B4-BE49-F238E27FC236}">
                <a16:creationId xmlns:a16="http://schemas.microsoft.com/office/drawing/2014/main" id="{FAD3FA5D-3681-4A61-BF7C-29D0D54FCF1E}"/>
              </a:ext>
            </a:extLst>
          </p:cNvPr>
          <p:cNvSpPr txBox="1"/>
          <p:nvPr/>
        </p:nvSpPr>
        <p:spPr>
          <a:xfrm>
            <a:off x="812800" y="8661400"/>
            <a:ext cx="13335000" cy="169277"/>
          </a:xfrm>
          <a:prstGeom prst="rect">
            <a:avLst/>
          </a:prstGeom>
          <a:noFill/>
        </p:spPr>
        <p:txBody>
          <a:bodyPr vert="horz" wrap="square" lIns="0" tIns="0" rIns="0" bIns="0" rtlCol="0">
            <a:spAutoFit/>
          </a:bodyPr>
          <a:lstStyle/>
          <a:p>
            <a:pPr>
              <a:spcAft>
                <a:spcPts val="800"/>
              </a:spcAft>
            </a:pPr>
            <a:r>
              <a:rPr lang="en-US" sz="1100">
                <a:solidFill>
                  <a:srgbClr val="F2D78F"/>
                </a:solidFill>
                <a:latin typeface="Aptos"/>
              </a:rPr>
              <a:t>WEBSITE SHOWCASE  /  19 OCTOBER 2026</a:t>
            </a:r>
          </a:p>
        </p:txBody>
      </p:sp>
      <p:sp>
        <p:nvSpPr>
          <p:cNvPr id="5" name="TextBox 4">
            <a:extLst>
              <a:ext uri="{FF2B5EF4-FFF2-40B4-BE49-F238E27FC236}">
                <a16:creationId xmlns:a16="http://schemas.microsoft.com/office/drawing/2014/main" id="{61611DDB-D214-491A-A066-287FD559EA35}"/>
              </a:ext>
            </a:extLst>
          </p:cNvPr>
          <p:cNvSpPr txBox="1"/>
          <p:nvPr/>
        </p:nvSpPr>
        <p:spPr>
          <a:xfrm>
            <a:off x="14935200" y="8610600"/>
            <a:ext cx="508000" cy="215444"/>
          </a:xfrm>
          <a:prstGeom prst="rect">
            <a:avLst/>
          </a:prstGeom>
          <a:noFill/>
        </p:spPr>
        <p:txBody>
          <a:bodyPr vert="horz" wrap="square" lIns="0" tIns="0" rIns="0" bIns="0" rtlCol="0">
            <a:spAutoFit/>
          </a:bodyPr>
          <a:lstStyle/>
          <a:p>
            <a:pPr>
              <a:spcAft>
                <a:spcPts val="800"/>
              </a:spcAft>
            </a:pPr>
            <a:r>
              <a:rPr lang="en-US" sz="1400">
                <a:solidFill>
                  <a:srgbClr val="F2D78F"/>
                </a:solidFill>
                <a:latin typeface="Aptos"/>
              </a:rPr>
              <a:t>12</a:t>
            </a:r>
          </a:p>
        </p:txBody>
      </p:sp>
      <p:sp>
        <p:nvSpPr>
          <p:cNvPr id="6" name="TextBox 5">
            <a:extLst>
              <a:ext uri="{FF2B5EF4-FFF2-40B4-BE49-F238E27FC236}">
                <a16:creationId xmlns:a16="http://schemas.microsoft.com/office/drawing/2014/main" id="{20B2BC08-AA13-4155-9F4A-ABB61D1CA8E8}"/>
              </a:ext>
            </a:extLst>
          </p:cNvPr>
          <p:cNvSpPr txBox="1"/>
          <p:nvPr/>
        </p:nvSpPr>
        <p:spPr>
          <a:xfrm>
            <a:off x="812800" y="1803400"/>
            <a:ext cx="14630400" cy="1826141"/>
          </a:xfrm>
          <a:prstGeom prst="rect">
            <a:avLst/>
          </a:prstGeom>
          <a:noFill/>
        </p:spPr>
        <p:txBody>
          <a:bodyPr vert="horz" wrap="square" lIns="0" tIns="0" rIns="0" bIns="0" rtlCol="0">
            <a:spAutoFit/>
          </a:bodyPr>
          <a:lstStyle/>
          <a:p>
            <a:pPr>
              <a:spcAft>
                <a:spcPts val="800"/>
              </a:spcAft>
            </a:pPr>
            <a:r>
              <a:rPr lang="en-US" sz="5600">
                <a:solidFill>
                  <a:srgbClr val="F5F1E8"/>
                </a:solidFill>
                <a:latin typeface="Georgia" panose="02040502050405020303" pitchFamily="18" charset="0"/>
              </a:rPr>
              <a:t>One connected
racing website.</a:t>
            </a:r>
          </a:p>
        </p:txBody>
      </p:sp>
      <p:sp>
        <p:nvSpPr>
          <p:cNvPr id="7" name="TextBox 6">
            <a:extLst>
              <a:ext uri="{FF2B5EF4-FFF2-40B4-BE49-F238E27FC236}">
                <a16:creationId xmlns:a16="http://schemas.microsoft.com/office/drawing/2014/main" id="{2D13A5E8-CAD5-48AA-ACB3-8DFEC05DB257}"/>
              </a:ext>
            </a:extLst>
          </p:cNvPr>
          <p:cNvSpPr txBox="1"/>
          <p:nvPr/>
        </p:nvSpPr>
        <p:spPr>
          <a:xfrm>
            <a:off x="863600" y="4648200"/>
            <a:ext cx="13970000" cy="461665"/>
          </a:xfrm>
          <a:prstGeom prst="rect">
            <a:avLst/>
          </a:prstGeom>
          <a:noFill/>
        </p:spPr>
        <p:txBody>
          <a:bodyPr vert="horz" wrap="square" lIns="0" tIns="0" rIns="0" bIns="0" rtlCol="0">
            <a:spAutoFit/>
          </a:bodyPr>
          <a:lstStyle/>
          <a:p>
            <a:pPr>
              <a:spcAft>
                <a:spcPts val="800"/>
              </a:spcAft>
            </a:pPr>
            <a:r>
              <a:rPr lang="en-US" sz="3000">
                <a:solidFill>
                  <a:srgbClr val="F2D78F"/>
                </a:solidFill>
                <a:latin typeface="Georgia" panose="02040502050405020303" pitchFamily="18" charset="0"/>
              </a:rPr>
              <a:t>Discover freely.</a:t>
            </a:r>
          </a:p>
        </p:txBody>
      </p:sp>
      <p:sp>
        <p:nvSpPr>
          <p:cNvPr id="8" name="TextBox 7">
            <a:extLst>
              <a:ext uri="{FF2B5EF4-FFF2-40B4-BE49-F238E27FC236}">
                <a16:creationId xmlns:a16="http://schemas.microsoft.com/office/drawing/2014/main" id="{7B57E71D-F1A4-4333-8F03-FC3AC76A68CA}"/>
              </a:ext>
            </a:extLst>
          </p:cNvPr>
          <p:cNvSpPr txBox="1"/>
          <p:nvPr/>
        </p:nvSpPr>
        <p:spPr>
          <a:xfrm>
            <a:off x="863600" y="5638800"/>
            <a:ext cx="13970000" cy="461665"/>
          </a:xfrm>
          <a:prstGeom prst="rect">
            <a:avLst/>
          </a:prstGeom>
          <a:noFill/>
        </p:spPr>
        <p:txBody>
          <a:bodyPr vert="horz" wrap="square" lIns="0" tIns="0" rIns="0" bIns="0" rtlCol="0">
            <a:spAutoFit/>
          </a:bodyPr>
          <a:lstStyle/>
          <a:p>
            <a:pPr>
              <a:spcAft>
                <a:spcPts val="800"/>
              </a:spcAft>
            </a:pPr>
            <a:r>
              <a:rPr lang="en-US" sz="3000">
                <a:solidFill>
                  <a:srgbClr val="F5F1E8"/>
                </a:solidFill>
                <a:latin typeface="Georgia" panose="02040502050405020303" pitchFamily="18" charset="0"/>
              </a:rPr>
              <a:t>Unlock programs and racing intelligence.</a:t>
            </a:r>
          </a:p>
        </p:txBody>
      </p:sp>
      <p:sp>
        <p:nvSpPr>
          <p:cNvPr id="9" name="TextBox 8">
            <a:extLst>
              <a:ext uri="{FF2B5EF4-FFF2-40B4-BE49-F238E27FC236}">
                <a16:creationId xmlns:a16="http://schemas.microsoft.com/office/drawing/2014/main" id="{DA4E348E-9721-4B18-ABEB-3174198F45DF}"/>
              </a:ext>
            </a:extLst>
          </p:cNvPr>
          <p:cNvSpPr txBox="1"/>
          <p:nvPr/>
        </p:nvSpPr>
        <p:spPr>
          <a:xfrm>
            <a:off x="863600" y="6629400"/>
            <a:ext cx="13970000" cy="461665"/>
          </a:xfrm>
          <a:prstGeom prst="rect">
            <a:avLst/>
          </a:prstGeom>
          <a:noFill/>
        </p:spPr>
        <p:txBody>
          <a:bodyPr vert="horz" wrap="square" lIns="0" tIns="0" rIns="0" bIns="0" rtlCol="0">
            <a:spAutoFit/>
          </a:bodyPr>
          <a:lstStyle/>
          <a:p>
            <a:pPr>
              <a:spcAft>
                <a:spcPts val="800"/>
              </a:spcAft>
            </a:pPr>
            <a:r>
              <a:rPr lang="en-US" sz="3000">
                <a:solidFill>
                  <a:srgbClr val="F5F1E8"/>
                </a:solidFill>
                <a:latin typeface="Georgia" panose="02040502050405020303" pitchFamily="18" charset="0"/>
              </a:rPr>
              <a:t>Follow horses, connections and results.</a:t>
            </a:r>
          </a:p>
        </p:txBody>
      </p:sp>
      <p:sp>
        <p:nvSpPr>
          <p:cNvPr id="10" name="TextBox 9">
            <a:hlinkClick r:id="rId3"/>
            <a:extLst>
              <a:ext uri="{FF2B5EF4-FFF2-40B4-BE49-F238E27FC236}">
                <a16:creationId xmlns:a16="http://schemas.microsoft.com/office/drawing/2014/main" id="{49B02331-3428-4357-947A-8BB8E2F83DDD}"/>
              </a:ext>
            </a:extLst>
          </p:cNvPr>
          <p:cNvSpPr txBox="1"/>
          <p:nvPr/>
        </p:nvSpPr>
        <p:spPr>
          <a:xfrm>
            <a:off x="863600" y="7874000"/>
            <a:ext cx="13970000" cy="323165"/>
          </a:xfrm>
          <a:prstGeom prst="rect">
            <a:avLst/>
          </a:prstGeom>
          <a:noFill/>
        </p:spPr>
        <p:txBody>
          <a:bodyPr vert="horz" wrap="square" lIns="0" tIns="0" rIns="0" bIns="0" rtlCol="0">
            <a:spAutoFit/>
          </a:bodyPr>
          <a:lstStyle/>
          <a:p>
            <a:pPr>
              <a:spcAft>
                <a:spcPts val="800"/>
              </a:spcAft>
            </a:pPr>
            <a:r>
              <a:rPr lang="en-US" sz="2100">
                <a:solidFill>
                  <a:srgbClr val="F2D78F"/>
                </a:solidFill>
                <a:latin typeface="Aptos"/>
              </a:rPr>
              <a:t>Explore the platform: dev6.comclark.com</a:t>
            </a:r>
          </a:p>
        </p:txBody>
      </p:sp>
    </p:spTree>
    <p:extLst>
      <p:ext uri="{BB962C8B-B14F-4D97-AF65-F5344CB8AC3E}">
        <p14:creationId xmlns:p14="http://schemas.microsoft.com/office/powerpoint/2010/main" val="3303589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2221</Words>
  <Application>Microsoft Office PowerPoint</Application>
  <PresentationFormat>Custom</PresentationFormat>
  <Paragraphs>237</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Calibri</vt:lpstr>
      <vt:lpstr>Calibri Light</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Manlapaz</dc:creator>
  <cp:lastModifiedBy>Ken Manlapaz</cp:lastModifiedBy>
  <cp:revision>1</cp:revision>
  <dcterms:created xsi:type="dcterms:W3CDTF">2026-10-19T01:35:12Z</dcterms:created>
  <dcterms:modified xsi:type="dcterms:W3CDTF">2026-10-19T01:35:12Z</dcterms:modified>
</cp:coreProperties>
</file>