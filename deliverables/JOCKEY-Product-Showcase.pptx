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7288B7-FA90-4BF6-AA53-A37870CBD9A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A648A-A716-4910-9EA7-705FEBFC5F79}" type="slidenum">
              <a:rPr lang="en-US" smtClean="0"/>
              <a:t>‹#›</a:t>
            </a:fld>
            <a:endParaRPr lang="en-US"/>
          </a:p>
        </p:txBody>
      </p:sp>
    </p:spTree>
    <p:extLst>
      <p:ext uri="{BB962C8B-B14F-4D97-AF65-F5344CB8AC3E}">
        <p14:creationId xmlns:p14="http://schemas.microsoft.com/office/powerpoint/2010/main" val="4068511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product, rather than the technology. JOCKEY connects discovery, race information and results. The cover shows the saved mobile home interface; current web membership is covered later.</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FE/jockey_frontend-main/docs/mobile-screenshots/06-home-dashboard.png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1</a:t>
            </a:fld>
            <a:endParaRPr lang="en-US"/>
          </a:p>
        </p:txBody>
      </p:sp>
    </p:spTree>
    <p:extLst>
      <p:ext uri="{BB962C8B-B14F-4D97-AF65-F5344CB8AC3E}">
        <p14:creationId xmlns:p14="http://schemas.microsoft.com/office/powerpoint/2010/main" val="1378473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web entry point is the public racing calendar. Meeting programs, profiles, statistics and results require membership. This slide establishes the story followed by the next three product screens. The mobile program image is a saved interface capture, rather than a screenshot of the current web calendar.</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FE/jockey_frontend-main/docs/mobile-screenshots/12-race-detail.png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2</a:t>
            </a:fld>
            <a:endParaRPr lang="en-US"/>
          </a:p>
        </p:txBody>
      </p:sp>
    </p:spTree>
    <p:extLst>
      <p:ext uri="{BB962C8B-B14F-4D97-AF65-F5344CB8AC3E}">
        <p14:creationId xmlns:p14="http://schemas.microsoft.com/office/powerpoint/2010/main" val="1678284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entries screen to explain the practical value of a program. The current information platform also preserves declarations after results and links horses by permanent IDs. The saved mobile capture includes an older betting-oriented experience outside this crop; membership information is the scope of this showcase.</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FE/jockey_frontend-main/docs/mobile-screenshots/13-race-entries.png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3</a:t>
            </a:fld>
            <a:endParaRPr lang="en-US"/>
          </a:p>
        </p:txBody>
      </p:sp>
    </p:spTree>
    <p:extLst>
      <p:ext uri="{BB962C8B-B14F-4D97-AF65-F5344CB8AC3E}">
        <p14:creationId xmlns:p14="http://schemas.microsoft.com/office/powerpoint/2010/main" val="1132966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screenshot illustrates the existing mobile horse profile and its connection links. The reconstructed web profile adds pedigree, permanent IDs and recorded recent/comparable form. Explain that distinction if asked: the capture predates those web refinements, and the displayed odds and example horse are not authoritative data.</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FE/jockey_frontend-main/docs/mobile-screenshots/24-horse-profile.png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4</a:t>
            </a:fld>
            <a:endParaRPr lang="en-US"/>
          </a:p>
        </p:txBody>
      </p:sp>
    </p:spTree>
    <p:extLst>
      <p:ext uri="{BB962C8B-B14F-4D97-AF65-F5344CB8AC3E}">
        <p14:creationId xmlns:p14="http://schemas.microsoft.com/office/powerpoint/2010/main" val="3325087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Result pages preserve the route back to the original race program. Current web dividends are stored publications with event legs and correction relationships; missing information stays unavailable. The saved interface image shows illustrative finish positions and dividend values, not a verified operator publication.</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FE/jockey_frontend-main/docs/mobile-screenshots/21-result-detail.png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5</a:t>
            </a:fld>
            <a:endParaRPr lang="en-US"/>
          </a:p>
        </p:txBody>
      </p:sp>
    </p:spTree>
    <p:extLst>
      <p:ext uri="{BB962C8B-B14F-4D97-AF65-F5344CB8AC3E}">
        <p14:creationId xmlns:p14="http://schemas.microsoft.com/office/powerpoint/2010/main" val="1727281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Education supports discovery before a subscription decision. The current web guide has eight illustrated chapters covering programs, form, statistics, results, dividends and terminology. This image is the saved mobile guide and retains earlier reference wording; it is not the current redesigned web guide.</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FE/jockey_frontend-main/docs/mobile-screenshots/33-racing-guide.png</a:t>
            </a:r>
          </a:p>
          <a:p>
            <a:r>
              <a:rPr lang="en-US"/>
              <a:t>FE/jockey_frontend-main/docs/mobile-screenshots/manifest.json: capture-to-route mapping.</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6</a:t>
            </a:fld>
            <a:endParaRPr lang="en-US"/>
          </a:p>
        </p:txBody>
      </p:sp>
    </p:spTree>
    <p:extLst>
      <p:ext uri="{BB962C8B-B14F-4D97-AF65-F5344CB8AC3E}">
        <p14:creationId xmlns:p14="http://schemas.microsoft.com/office/powerpoint/2010/main" val="3017847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current configurable web plan prices. Both plans unlock the same protected racing information. Daily access lasts 24 hours; monthly access uses a calendar month. Confirm payment is now a normal page button, with no iframe or payment-provider integration. This slide uses the saved sign-in screen only; it does not pretend to show the current membership page. There is no automatic renewal.</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FE/jockey_frontend-main/docs/mobile-screenshots/04-login.png</a:t>
            </a:r>
          </a:p>
          <a:p>
            <a:r>
              <a:rPr lang="en-US"/>
              <a:t>FE/jockey_frontend-main/docs/mobile-screenshots/manifest.json: capture-to-route mapping.</a:t>
            </a:r>
          </a:p>
          <a:p>
            <a:r>
              <a:rPr lang="en-US"/>
              <a:t>web/src/features/subscriptions/subscription-flow.tsx: direct confirmation buttons and activation.</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7</a:t>
            </a:fld>
            <a:endParaRPr lang="en-US"/>
          </a:p>
        </p:txBody>
      </p:sp>
    </p:spTree>
    <p:extLst>
      <p:ext uri="{BB962C8B-B14F-4D97-AF65-F5344CB8AC3E}">
        <p14:creationId xmlns:p14="http://schemas.microsoft.com/office/powerpoint/2010/main" val="2010764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counts describe generated local showcase records, not users, revenue or official live coverage. A fresh database receives 128 newly seeded horses; the local total includes four earlier retained records. The reproducible seed supports demonstrations on another configured database. An authorized source is needed before presenting real racing coverage.</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8</a:t>
            </a:fld>
            <a:endParaRPr lang="en-US"/>
          </a:p>
        </p:txBody>
      </p:sp>
    </p:spTree>
    <p:extLst>
      <p:ext uri="{BB962C8B-B14F-4D97-AF65-F5344CB8AC3E}">
        <p14:creationId xmlns:p14="http://schemas.microsoft.com/office/powerpoint/2010/main" val="570292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existing saved results-list interface supplies the visual. The current local web implementation has passed its production build, 86 backend tests, 82 existing frontend tests, 17 UI tests and seven HTTP journey checks. The verification script exercises registration, membership activation, SSR race/horse and directory/participant pages, favorites, refresh and logout. These checks are not production load testing; fresh browser and device QA of the web updates remains outstanding.</a:t>
            </a:r>
          </a:p>
          <a:p>
            <a:endParaRPr lang="en-US"/>
          </a:p>
          <a:p>
            <a:r>
              <a:rPr lang="en-US"/>
              <a:t>Image provenance: actual saved mobile UI capture, 18 October 2026. This predates the latest web directory, header and membership refinements. UI values are illustrative records, not official racing coverage. Cropping changes framing only.</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FE/jockey_frontend-main/docs/mobile-screenshots/10-results.png</a:t>
            </a:r>
          </a:p>
          <a:p>
            <a:r>
              <a:rPr lang="en-US"/>
              <a:t>FE/jockey_frontend-main/docs/mobile-screenshots/manifest.json: capture-to-route mapping.</a:t>
            </a:r>
          </a:p>
          <a:p>
            <a:r>
              <a:rPr lang="en-US"/>
              <a:t>BE/jockey_backend-main/scripts/verify_web_auth.py: expanded subscriber page checks.</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9</a:t>
            </a:fld>
            <a:endParaRPr lang="en-US"/>
          </a:p>
        </p:txBody>
      </p:sp>
    </p:spTree>
    <p:extLst>
      <p:ext uri="{BB962C8B-B14F-4D97-AF65-F5344CB8AC3E}">
        <p14:creationId xmlns:p14="http://schemas.microsoft.com/office/powerpoint/2010/main" val="1616940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a concrete stakeholder decision. Pricing is a configurable current proposal, and real payments still require a verified provider integration. Data authority, production deployment, restoration testing and browser/device QA remain launch dependencies. Agree on pilot scope and success measures before setting a launch date. The environment URL comes from the user-provided screenshots and was not independently checked during this build.</a:t>
            </a:r>
          </a:p>
          <a:p>
            <a:endParaRPr lang="en-US"/>
          </a:p>
          <a:p>
            <a:r>
              <a:rPr lang="en-US"/>
              <a:t>[Sources]</a:t>
            </a:r>
          </a:p>
          <a:p>
            <a:r>
              <a:rPr lang="en-US"/>
              <a:t>SETUP.md: current access policy, plans, generated seed and deployment status.</a:t>
            </a:r>
          </a:p>
          <a:p>
            <a:r>
              <a:rPr lang="en-US"/>
              <a:t>RECONSTRUCTION.md: race information and recorded-history behavior.</a:t>
            </a:r>
          </a:p>
          <a:p>
            <a:r>
              <a:rPr lang="en-US"/>
              <a:t>User-provided platform screenshots: dev6.comclark.com environment URL.</a:t>
            </a:r>
          </a:p>
          <a:p>
            <a:r>
              <a:rPr lang="en-US"/>
              <a:t>[/Sources]</a:t>
            </a:r>
          </a:p>
        </p:txBody>
      </p:sp>
      <p:sp>
        <p:nvSpPr>
          <p:cNvPr id="4" name="Slide Number Placeholder 3"/>
          <p:cNvSpPr>
            <a:spLocks noGrp="1"/>
          </p:cNvSpPr>
          <p:nvPr>
            <p:ph type="sldNum" sz="quarter" idx="5"/>
          </p:nvPr>
        </p:nvSpPr>
        <p:spPr/>
        <p:txBody>
          <a:bodyPr/>
          <a:lstStyle/>
          <a:p>
            <a:fld id="{09EA648A-A716-4910-9EA7-705FEBFC5F79}" type="slidenum">
              <a:rPr lang="en-US" smtClean="0"/>
              <a:t>10</a:t>
            </a:fld>
            <a:endParaRPr lang="en-US"/>
          </a:p>
        </p:txBody>
      </p:sp>
    </p:spTree>
    <p:extLst>
      <p:ext uri="{BB962C8B-B14F-4D97-AF65-F5344CB8AC3E}">
        <p14:creationId xmlns:p14="http://schemas.microsoft.com/office/powerpoint/2010/main" val="339431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B4C6-086A-42F0-A7F9-279ED2E65A75}"/>
              </a:ext>
            </a:extLst>
          </p:cNvPr>
          <p:cNvSpPr>
            <a:spLocks noGrp="1"/>
          </p:cNvSpPr>
          <p:nvPr>
            <p:ph type="ctrTitle"/>
          </p:nvPr>
        </p:nvSpPr>
        <p:spPr>
          <a:xfrm>
            <a:off x="2032000" y="1496484"/>
            <a:ext cx="12192000" cy="318346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F221BC-D8CB-4FD8-8E67-B3D2F7B616C9}"/>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3B337D-888A-4345-9084-9AAAD8A2F602}"/>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7151A3CA-ADA3-49B3-B198-EAEE8AE19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C6FEEB-1070-44E6-A619-88A051834086}"/>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2533461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22AB-5CE1-4549-B81C-4F988A749C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DD60E-24D1-407D-A75C-11579FE6A4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D4B50-BB3F-4B0E-AC24-FD499B8939B5}"/>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B730A5D4-E429-458D-BA09-A64F871F0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1C548-852F-4A04-83A9-5D0D3441A775}"/>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3896691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FEE9-ACFE-432F-9682-AA0CE7A53C65}"/>
              </a:ext>
            </a:extLst>
          </p:cNvPr>
          <p:cNvSpPr>
            <a:spLocks noGrp="1"/>
          </p:cNvSpPr>
          <p:nvPr>
            <p:ph type="title"/>
          </p:nvPr>
        </p:nvSpPr>
        <p:spPr>
          <a:xfrm>
            <a:off x="1109133" y="2279653"/>
            <a:ext cx="14020800" cy="380364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A8FBCE-BA9A-4204-A530-F05EDD61BFFE}"/>
              </a:ext>
            </a:extLst>
          </p:cNvPr>
          <p:cNvSpPr>
            <a:spLocks noGrp="1"/>
          </p:cNvSpPr>
          <p:nvPr>
            <p:ph type="body" idx="1"/>
          </p:nvPr>
        </p:nvSpPr>
        <p:spPr>
          <a:xfrm>
            <a:off x="1109133" y="6119286"/>
            <a:ext cx="14020800" cy="200024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726BC0-0930-44F0-8FAC-B571976193D5}"/>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72DD094C-4601-48E9-95C5-17195BE08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9170-58F8-4452-8629-B9D0A6EF09A5}"/>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1358072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0D406-4A76-4386-9622-0D8B599BC9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87C29D-065D-47DE-B90B-54EA8D7CCCCE}"/>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01F1B1-AB5B-46DA-9BB8-8BA6CC6EFD8B}"/>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8B643-8085-428A-8A49-88BD1D4C1456}"/>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6" name="Footer Placeholder 5">
            <a:extLst>
              <a:ext uri="{FF2B5EF4-FFF2-40B4-BE49-F238E27FC236}">
                <a16:creationId xmlns:a16="http://schemas.microsoft.com/office/drawing/2014/main" id="{1CB0B5CD-625E-4720-9E26-67EC317883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F59DE4-283B-46DA-8CA0-C65E5FA49909}"/>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2957542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03D8-C4E2-48C7-995A-866C0A136BBC}"/>
              </a:ext>
            </a:extLst>
          </p:cNvPr>
          <p:cNvSpPr>
            <a:spLocks noGrp="1"/>
          </p:cNvSpPr>
          <p:nvPr>
            <p:ph type="title"/>
          </p:nvPr>
        </p:nvSpPr>
        <p:spPr>
          <a:xfrm>
            <a:off x="1119717" y="486836"/>
            <a:ext cx="14020800" cy="17674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62C8FF-E1D9-4BE7-A019-170BBDA52CF8}"/>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C7A7F-79C1-45EB-8748-6F85C9C91A62}"/>
              </a:ext>
            </a:extLst>
          </p:cNvPr>
          <p:cNvSpPr>
            <a:spLocks noGrp="1"/>
          </p:cNvSpPr>
          <p:nvPr>
            <p:ph sz="half" idx="2"/>
          </p:nvPr>
        </p:nvSpPr>
        <p:spPr>
          <a:xfrm>
            <a:off x="1119719"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455CF7-6C5B-4D21-8EEA-E21F1C75B018}"/>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850968-6B29-44C8-8FE0-088F3C8C5251}"/>
              </a:ext>
            </a:extLst>
          </p:cNvPr>
          <p:cNvSpPr>
            <a:spLocks noGrp="1"/>
          </p:cNvSpPr>
          <p:nvPr>
            <p:ph sz="quarter" idx="4"/>
          </p:nvPr>
        </p:nvSpPr>
        <p:spPr>
          <a:xfrm>
            <a:off x="8229601"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0A761E-796F-437F-8316-2063BC158327}"/>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8" name="Footer Placeholder 7">
            <a:extLst>
              <a:ext uri="{FF2B5EF4-FFF2-40B4-BE49-F238E27FC236}">
                <a16:creationId xmlns:a16="http://schemas.microsoft.com/office/drawing/2014/main" id="{93730643-387D-465C-A815-D9D50FE6B9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02D017-4CB9-4472-A6F9-1A07354B06D2}"/>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315742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7CD0B-9A2B-4953-994E-D554369513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A35A8F-4811-48AD-A0CE-146C22AFED91}"/>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4" name="Footer Placeholder 3">
            <a:extLst>
              <a:ext uri="{FF2B5EF4-FFF2-40B4-BE49-F238E27FC236}">
                <a16:creationId xmlns:a16="http://schemas.microsoft.com/office/drawing/2014/main" id="{0CC2075C-5E69-4DA4-BD91-BB2FFD0AC3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5D5E6A-FE8B-4CD6-8F5B-AA8D1D60D452}"/>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2713534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F8E2F-0536-4079-B3C1-2B9BC797ADE1}"/>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3" name="Footer Placeholder 2">
            <a:extLst>
              <a:ext uri="{FF2B5EF4-FFF2-40B4-BE49-F238E27FC236}">
                <a16:creationId xmlns:a16="http://schemas.microsoft.com/office/drawing/2014/main" id="{34E0C3AE-CBE6-4A9A-A1CF-5F8389F1F5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9350AC-0AA9-472E-913B-F01E414935DA}"/>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3075935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A817-1076-45FF-AEDB-EDC43533E973}"/>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F353FF-DF45-441E-AF18-2B9BA6676051}"/>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CBDADF-177A-47B3-93F4-0CE835111C7A}"/>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F896F-8AE5-47C1-9794-3A7F15A32933}"/>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6" name="Footer Placeholder 5">
            <a:extLst>
              <a:ext uri="{FF2B5EF4-FFF2-40B4-BE49-F238E27FC236}">
                <a16:creationId xmlns:a16="http://schemas.microsoft.com/office/drawing/2014/main" id="{8C2350CC-614E-46BF-BDA8-53E6BEDFB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87AC15-2598-4E26-93D0-936E83ABB83C}"/>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927225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F079-E612-4A8A-9625-B55981974198}"/>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70C102-7B0F-4A0E-934B-BE71B3C07C31}"/>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EF4D96-7F97-4A93-9698-DFC2B0453305}"/>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FEEFA4-5A0E-4C2D-96BE-457FDB677305}"/>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6" name="Footer Placeholder 5">
            <a:extLst>
              <a:ext uri="{FF2B5EF4-FFF2-40B4-BE49-F238E27FC236}">
                <a16:creationId xmlns:a16="http://schemas.microsoft.com/office/drawing/2014/main" id="{0E80BDA8-DDBA-44CA-ABEA-DC9077EA3E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69250-6814-4605-805C-31CFAF7D04DE}"/>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125053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009B5-1C5E-42E6-BE8C-D3FDCCD5B8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8C9143-F06D-4787-843E-9836E01D10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323FDB-3B42-4DE1-803E-BEAF6F595461}"/>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C04551B0-01B5-407E-B240-182F9D4217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CC1CF-3F47-426F-857C-DF8D159BBF75}"/>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59368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8DBFAD-EB09-41A0-86F6-331EA61C2C0D}"/>
              </a:ext>
            </a:extLst>
          </p:cNvPr>
          <p:cNvSpPr>
            <a:spLocks noGrp="1"/>
          </p:cNvSpPr>
          <p:nvPr>
            <p:ph type="title" orient="vert"/>
          </p:nvPr>
        </p:nvSpPr>
        <p:spPr>
          <a:xfrm>
            <a:off x="11633200" y="486834"/>
            <a:ext cx="3505200" cy="774911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D3BA3-7B5F-4F26-96FE-CE5BA247FF0D}"/>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ACB3F-4D33-4962-AAD9-55C793A5218B}"/>
              </a:ext>
            </a:extLst>
          </p:cNvPr>
          <p:cNvSpPr>
            <a:spLocks noGrp="1"/>
          </p:cNvSpPr>
          <p:nvPr>
            <p:ph type="dt" sz="half" idx="10"/>
          </p:nvPr>
        </p:nvSpPr>
        <p:spPr/>
        <p:txBody>
          <a:body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9EE326F0-230D-42ED-8E9F-8D6DCAAFE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E42938-8F2D-408F-94C8-CE92E9BA2A54}"/>
              </a:ext>
            </a:extLst>
          </p:cNvPr>
          <p:cNvSpPr>
            <a:spLocks noGrp="1"/>
          </p:cNvSpPr>
          <p:nvPr>
            <p:ph type="sldNum" sz="quarter" idx="12"/>
          </p:nvPr>
        </p:nvSpPr>
        <p:spPr/>
        <p:txBody>
          <a:bodyPr/>
          <a:lstStyle/>
          <a:p>
            <a:fld id="{18B3BC72-F80F-43AB-9795-AEBFAB7DA377}" type="slidenum">
              <a:rPr lang="en-US" smtClean="0"/>
              <a:t>‹#›</a:t>
            </a:fld>
            <a:endParaRPr lang="en-US"/>
          </a:p>
        </p:txBody>
      </p:sp>
    </p:spTree>
    <p:extLst>
      <p:ext uri="{BB962C8B-B14F-4D97-AF65-F5344CB8AC3E}">
        <p14:creationId xmlns:p14="http://schemas.microsoft.com/office/powerpoint/2010/main" val="3175781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61ADA5-03F0-42F1-845B-7210624C23FB}"/>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F864A-CB27-406E-AFD0-EC8BFE9D20A6}"/>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A8D3B-AA19-4CE9-A3B7-4D9126199DF1}"/>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7ACC246C-6855-4D57-8BDA-FF280F2732E2}" type="datetimeFigureOut">
              <a:rPr lang="en-US" smtClean="0"/>
              <a:t>10/19/2026</a:t>
            </a:fld>
            <a:endParaRPr lang="en-US"/>
          </a:p>
        </p:txBody>
      </p:sp>
      <p:sp>
        <p:nvSpPr>
          <p:cNvPr id="5" name="Footer Placeholder 4">
            <a:extLst>
              <a:ext uri="{FF2B5EF4-FFF2-40B4-BE49-F238E27FC236}">
                <a16:creationId xmlns:a16="http://schemas.microsoft.com/office/drawing/2014/main" id="{F66BFDBA-94A0-4265-B0C7-43B9913E043D}"/>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795D7-6062-4E85-BD4E-CDCD6BA2D4F7}"/>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8B3BC72-F80F-43AB-9795-AEBFAB7DA377}" type="slidenum">
              <a:rPr lang="en-US" smtClean="0"/>
              <a:t>‹#›</a:t>
            </a:fld>
            <a:endParaRPr lang="en-US"/>
          </a:p>
        </p:txBody>
      </p:sp>
    </p:spTree>
    <p:extLst>
      <p:ext uri="{BB962C8B-B14F-4D97-AF65-F5344CB8AC3E}">
        <p14:creationId xmlns:p14="http://schemas.microsoft.com/office/powerpoint/2010/main" val="2609664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dev6.comclark.com/"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3D02D6-8E5F-4991-8187-97D5FCC2F441}"/>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6627F50D-2DA9-4A93-981B-712120B33D58}"/>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F2D78F"/>
                </a:solidFill>
                <a:latin typeface="Aptos"/>
              </a:rPr>
              <a:t>RACING INFORMATION PLATFORM</a:t>
            </a:r>
          </a:p>
        </p:txBody>
      </p:sp>
      <p:sp>
        <p:nvSpPr>
          <p:cNvPr id="4" name="TextBox 3">
            <a:extLst>
              <a:ext uri="{FF2B5EF4-FFF2-40B4-BE49-F238E27FC236}">
                <a16:creationId xmlns:a16="http://schemas.microsoft.com/office/drawing/2014/main" id="{B2916A51-4E4C-402D-AEBB-938212C14D33}"/>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PRODUCT SHOWCASE  /  19 OCTOBER 2026</a:t>
            </a:r>
          </a:p>
        </p:txBody>
      </p:sp>
      <p:sp>
        <p:nvSpPr>
          <p:cNvPr id="5" name="TextBox 4">
            <a:extLst>
              <a:ext uri="{FF2B5EF4-FFF2-40B4-BE49-F238E27FC236}">
                <a16:creationId xmlns:a16="http://schemas.microsoft.com/office/drawing/2014/main" id="{476EA9A3-46BB-41DE-B41C-562DADD5F467}"/>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F2D78F"/>
                </a:solidFill>
                <a:latin typeface="Aptos"/>
              </a:rPr>
              <a:t>01</a:t>
            </a:r>
          </a:p>
        </p:txBody>
      </p:sp>
      <p:sp>
        <p:nvSpPr>
          <p:cNvPr id="6" name="TextBox 5">
            <a:extLst>
              <a:ext uri="{FF2B5EF4-FFF2-40B4-BE49-F238E27FC236}">
                <a16:creationId xmlns:a16="http://schemas.microsoft.com/office/drawing/2014/main" id="{4D09405B-D07C-4974-9567-059C02DD1BFF}"/>
              </a:ext>
            </a:extLst>
          </p:cNvPr>
          <p:cNvSpPr txBox="1"/>
          <p:nvPr/>
        </p:nvSpPr>
        <p:spPr>
          <a:xfrm>
            <a:off x="812800" y="1701800"/>
            <a:ext cx="8890000" cy="1015663"/>
          </a:xfrm>
          <a:prstGeom prst="rect">
            <a:avLst/>
          </a:prstGeom>
          <a:noFill/>
        </p:spPr>
        <p:txBody>
          <a:bodyPr vert="horz" wrap="square" lIns="0" tIns="0" rIns="0" bIns="0" rtlCol="0">
            <a:spAutoFit/>
          </a:bodyPr>
          <a:lstStyle/>
          <a:p>
            <a:pPr>
              <a:spcAft>
                <a:spcPts val="600"/>
              </a:spcAft>
            </a:pPr>
            <a:r>
              <a:rPr lang="en-US" sz="6600">
                <a:solidFill>
                  <a:srgbClr val="F5F1E8"/>
                </a:solidFill>
                <a:latin typeface="Georgia" panose="02040502050405020303" pitchFamily="18" charset="0"/>
              </a:rPr>
              <a:t>JOCKEY</a:t>
            </a:r>
          </a:p>
        </p:txBody>
      </p:sp>
      <p:sp>
        <p:nvSpPr>
          <p:cNvPr id="7" name="TextBox 6">
            <a:extLst>
              <a:ext uri="{FF2B5EF4-FFF2-40B4-BE49-F238E27FC236}">
                <a16:creationId xmlns:a16="http://schemas.microsoft.com/office/drawing/2014/main" id="{0AA32883-56AC-4A90-8FF4-09C477E1C86C}"/>
              </a:ext>
            </a:extLst>
          </p:cNvPr>
          <p:cNvSpPr txBox="1"/>
          <p:nvPr/>
        </p:nvSpPr>
        <p:spPr>
          <a:xfrm>
            <a:off x="812800" y="3352800"/>
            <a:ext cx="9017000" cy="1800493"/>
          </a:xfrm>
          <a:prstGeom prst="rect">
            <a:avLst/>
          </a:prstGeom>
          <a:noFill/>
        </p:spPr>
        <p:txBody>
          <a:bodyPr vert="horz" wrap="square" lIns="0" tIns="0" rIns="0" bIns="0" rtlCol="0">
            <a:spAutoFit/>
          </a:bodyPr>
          <a:lstStyle/>
          <a:p>
            <a:pPr>
              <a:spcAft>
                <a:spcPts val="600"/>
              </a:spcAft>
            </a:pPr>
            <a:r>
              <a:rPr lang="en-US" sz="5600">
                <a:solidFill>
                  <a:srgbClr val="F5F1E8"/>
                </a:solidFill>
                <a:latin typeface="Georgia" panose="02040502050405020303" pitchFamily="18" charset="0"/>
              </a:rPr>
              <a:t>Racing,
within reach.</a:t>
            </a:r>
          </a:p>
        </p:txBody>
      </p:sp>
      <p:sp>
        <p:nvSpPr>
          <p:cNvPr id="8" name="TextBox 7">
            <a:extLst>
              <a:ext uri="{FF2B5EF4-FFF2-40B4-BE49-F238E27FC236}">
                <a16:creationId xmlns:a16="http://schemas.microsoft.com/office/drawing/2014/main" id="{05CC61AD-406F-49B1-8FC0-5C9634277DB9}"/>
              </a:ext>
            </a:extLst>
          </p:cNvPr>
          <p:cNvSpPr txBox="1"/>
          <p:nvPr/>
        </p:nvSpPr>
        <p:spPr>
          <a:xfrm>
            <a:off x="863600" y="5994400"/>
            <a:ext cx="8636000" cy="415498"/>
          </a:xfrm>
          <a:prstGeom prst="rect">
            <a:avLst/>
          </a:prstGeom>
          <a:noFill/>
        </p:spPr>
        <p:txBody>
          <a:bodyPr vert="horz" wrap="square" lIns="0" tIns="0" rIns="0" bIns="0" rtlCol="0">
            <a:spAutoFit/>
          </a:bodyPr>
          <a:lstStyle/>
          <a:p>
            <a:pPr>
              <a:spcAft>
                <a:spcPts val="600"/>
              </a:spcAft>
            </a:pPr>
            <a:r>
              <a:rPr lang="en-US" sz="2700">
                <a:solidFill>
                  <a:srgbClr val="F2D78F"/>
                </a:solidFill>
                <a:latin typeface="Aptos"/>
              </a:rPr>
              <a:t>Programs. Form. Results.</a:t>
            </a:r>
          </a:p>
        </p:txBody>
      </p:sp>
      <p:sp>
        <p:nvSpPr>
          <p:cNvPr id="9" name="TextBox 8">
            <a:extLst>
              <a:ext uri="{FF2B5EF4-FFF2-40B4-BE49-F238E27FC236}">
                <a16:creationId xmlns:a16="http://schemas.microsoft.com/office/drawing/2014/main" id="{6C5BD6EB-B51B-4596-8FCA-1D7C430E33EE}"/>
              </a:ext>
            </a:extLst>
          </p:cNvPr>
          <p:cNvSpPr txBox="1"/>
          <p:nvPr/>
        </p:nvSpPr>
        <p:spPr>
          <a:xfrm>
            <a:off x="863600" y="6921500"/>
            <a:ext cx="8255000" cy="338554"/>
          </a:xfrm>
          <a:prstGeom prst="rect">
            <a:avLst/>
          </a:prstGeom>
          <a:noFill/>
        </p:spPr>
        <p:txBody>
          <a:bodyPr vert="horz" wrap="square" lIns="0" tIns="0" rIns="0" bIns="0" rtlCol="0">
            <a:spAutoFit/>
          </a:bodyPr>
          <a:lstStyle/>
          <a:p>
            <a:pPr>
              <a:spcAft>
                <a:spcPts val="600"/>
              </a:spcAft>
            </a:pPr>
            <a:r>
              <a:rPr lang="en-US" sz="2200">
                <a:solidFill>
                  <a:srgbClr val="F5F1E8"/>
                </a:solidFill>
                <a:latin typeface="Aptos"/>
              </a:rPr>
              <a:t>A connected racing experience with membership access.</a:t>
            </a:r>
          </a:p>
        </p:txBody>
      </p:sp>
      <p:pic>
        <p:nvPicPr>
          <p:cNvPr id="11" name="Picture 10" descr="Actual saved mobile interface: 06-home-dashboard.png; captured 18 October 2026. Cropped for slide layout.">
            <a:extLst>
              <a:ext uri="{FF2B5EF4-FFF2-40B4-BE49-F238E27FC236}">
                <a16:creationId xmlns:a16="http://schemas.microsoft.com/office/drawing/2014/main" id="{D405A1E2-4037-424F-9605-42A11C4102C3}"/>
              </a:ext>
            </a:extLst>
          </p:cNvPr>
          <p:cNvPicPr>
            <a:picLocks noChangeAspect="1"/>
          </p:cNvPicPr>
          <p:nvPr/>
        </p:nvPicPr>
        <p:blipFill rotWithShape="1">
          <a:blip r:embed="rId3">
            <a:extLst>
              <a:ext uri="{28A0092B-C50C-407E-A947-70E740481C1C}">
                <a14:useLocalDpi xmlns:a14="http://schemas.microsoft.com/office/drawing/2010/main" val="0"/>
              </a:ext>
            </a:extLst>
          </a:blip>
          <a:srcRect b="23266"/>
          <a:stretch/>
        </p:blipFill>
        <p:spPr>
          <a:xfrm>
            <a:off x="10795000" y="1219200"/>
            <a:ext cx="4191000" cy="6959600"/>
          </a:xfrm>
          <a:prstGeom prst="rect">
            <a:avLst/>
          </a:prstGeom>
          <a:ln w="7620">
            <a:solidFill>
              <a:srgbClr val="D9DED6"/>
            </a:solidFill>
          </a:ln>
        </p:spPr>
      </p:pic>
      <p:sp>
        <p:nvSpPr>
          <p:cNvPr id="12" name="TextBox 11">
            <a:extLst>
              <a:ext uri="{FF2B5EF4-FFF2-40B4-BE49-F238E27FC236}">
                <a16:creationId xmlns:a16="http://schemas.microsoft.com/office/drawing/2014/main" id="{08D1D9E9-EB97-4E0E-A222-8837898F4F40}"/>
              </a:ext>
            </a:extLst>
          </p:cNvPr>
          <p:cNvSpPr txBox="1"/>
          <p:nvPr/>
        </p:nvSpPr>
        <p:spPr>
          <a:xfrm>
            <a:off x="10795000" y="8293100"/>
            <a:ext cx="4572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SAVED MOBILE INTERFACE / 18 OCT 2026</a:t>
            </a:r>
          </a:p>
        </p:txBody>
      </p:sp>
    </p:spTree>
    <p:extLst>
      <p:ext uri="{BB962C8B-B14F-4D97-AF65-F5344CB8AC3E}">
        <p14:creationId xmlns:p14="http://schemas.microsoft.com/office/powerpoint/2010/main" val="864397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BA3271-21F7-4C91-854F-3BFE9159FED7}"/>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49D36095-DEF8-4281-9397-668246AEA077}"/>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THE CUSTOMER JOURNEY</a:t>
            </a:r>
          </a:p>
        </p:txBody>
      </p:sp>
      <p:sp>
        <p:nvSpPr>
          <p:cNvPr id="4" name="TextBox 3">
            <a:extLst>
              <a:ext uri="{FF2B5EF4-FFF2-40B4-BE49-F238E27FC236}">
                <a16:creationId xmlns:a16="http://schemas.microsoft.com/office/drawing/2014/main" id="{F9E8D9D1-107E-4107-8212-B5D75B2E6E46}"/>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FC6E253E-4BF5-4033-B983-6F4DE520920A}"/>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02</a:t>
            </a:r>
          </a:p>
        </p:txBody>
      </p:sp>
      <p:sp>
        <p:nvSpPr>
          <p:cNvPr id="6" name="TextBox 5">
            <a:extLst>
              <a:ext uri="{FF2B5EF4-FFF2-40B4-BE49-F238E27FC236}">
                <a16:creationId xmlns:a16="http://schemas.microsoft.com/office/drawing/2014/main" id="{0D8E8BD5-22CD-4515-A794-6E9C0F33A951}"/>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One place to follow race day</a:t>
            </a:r>
          </a:p>
        </p:txBody>
      </p:sp>
      <p:pic>
        <p:nvPicPr>
          <p:cNvPr id="8" name="Picture 7" descr="Actual saved mobile interface: 12-race-detail.png; captured 18 October 2026. Cropped for slide layout.">
            <a:extLst>
              <a:ext uri="{FF2B5EF4-FFF2-40B4-BE49-F238E27FC236}">
                <a16:creationId xmlns:a16="http://schemas.microsoft.com/office/drawing/2014/main" id="{2B02AD84-FA29-4AB1-A4D6-240CDB90BA3C}"/>
              </a:ext>
            </a:extLst>
          </p:cNvPr>
          <p:cNvPicPr>
            <a:picLocks noChangeAspect="1"/>
          </p:cNvPicPr>
          <p:nvPr/>
        </p:nvPicPr>
        <p:blipFill rotWithShape="1">
          <a:blip r:embed="rId3">
            <a:extLst>
              <a:ext uri="{28A0092B-C50C-407E-A947-70E740481C1C}">
                <a14:useLocalDpi xmlns:a14="http://schemas.microsoft.com/office/drawing/2010/main" val="0"/>
              </a:ext>
            </a:extLst>
          </a:blip>
          <a:srcRect b="25429"/>
          <a:stretch/>
        </p:blipFill>
        <p:spPr>
          <a:xfrm>
            <a:off x="965200" y="2209800"/>
            <a:ext cx="3683000" cy="5943600"/>
          </a:xfrm>
          <a:prstGeom prst="rect">
            <a:avLst/>
          </a:prstGeom>
          <a:ln w="7620">
            <a:solidFill>
              <a:srgbClr val="D9DED6"/>
            </a:solidFill>
          </a:ln>
        </p:spPr>
      </p:pic>
      <p:sp>
        <p:nvSpPr>
          <p:cNvPr id="9" name="TextBox 8">
            <a:extLst>
              <a:ext uri="{FF2B5EF4-FFF2-40B4-BE49-F238E27FC236}">
                <a16:creationId xmlns:a16="http://schemas.microsoft.com/office/drawing/2014/main" id="{D019A0A3-B332-4EB9-A224-1B1CD7DAB729}"/>
              </a:ext>
            </a:extLst>
          </p:cNvPr>
          <p:cNvSpPr txBox="1"/>
          <p:nvPr/>
        </p:nvSpPr>
        <p:spPr>
          <a:xfrm>
            <a:off x="965200" y="8267700"/>
            <a:ext cx="5080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
        <p:nvSpPr>
          <p:cNvPr id="10" name="TextBox 9">
            <a:extLst>
              <a:ext uri="{FF2B5EF4-FFF2-40B4-BE49-F238E27FC236}">
                <a16:creationId xmlns:a16="http://schemas.microsoft.com/office/drawing/2014/main" id="{F04186C2-1E54-4450-B7FB-8DAD26413992}"/>
              </a:ext>
            </a:extLst>
          </p:cNvPr>
          <p:cNvSpPr txBox="1"/>
          <p:nvPr/>
        </p:nvSpPr>
        <p:spPr>
          <a:xfrm>
            <a:off x="5791200" y="2590800"/>
            <a:ext cx="889000" cy="430887"/>
          </a:xfrm>
          <a:prstGeom prst="rect">
            <a:avLst/>
          </a:prstGeom>
          <a:noFill/>
        </p:spPr>
        <p:txBody>
          <a:bodyPr vert="horz" wrap="square" lIns="0" tIns="0" rIns="0" bIns="0" rtlCol="0">
            <a:spAutoFit/>
          </a:bodyPr>
          <a:lstStyle/>
          <a:p>
            <a:pPr>
              <a:spcAft>
                <a:spcPts val="600"/>
              </a:spcAft>
            </a:pPr>
            <a:r>
              <a:rPr lang="en-US" sz="2800">
                <a:solidFill>
                  <a:srgbClr val="C6A15B"/>
                </a:solidFill>
                <a:latin typeface="Aptos"/>
              </a:rPr>
              <a:t>01</a:t>
            </a:r>
          </a:p>
        </p:txBody>
      </p:sp>
      <p:sp>
        <p:nvSpPr>
          <p:cNvPr id="11" name="TextBox 10">
            <a:extLst>
              <a:ext uri="{FF2B5EF4-FFF2-40B4-BE49-F238E27FC236}">
                <a16:creationId xmlns:a16="http://schemas.microsoft.com/office/drawing/2014/main" id="{0EA6785F-166B-4556-A723-B0B198392D22}"/>
              </a:ext>
            </a:extLst>
          </p:cNvPr>
          <p:cNvSpPr txBox="1"/>
          <p:nvPr/>
        </p:nvSpPr>
        <p:spPr>
          <a:xfrm>
            <a:off x="6985000" y="2552700"/>
            <a:ext cx="8255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Discover the meeting</a:t>
            </a:r>
          </a:p>
        </p:txBody>
      </p:sp>
      <p:sp>
        <p:nvSpPr>
          <p:cNvPr id="12" name="TextBox 11">
            <a:extLst>
              <a:ext uri="{FF2B5EF4-FFF2-40B4-BE49-F238E27FC236}">
                <a16:creationId xmlns:a16="http://schemas.microsoft.com/office/drawing/2014/main" id="{E4ECECD0-C33B-4AD5-8E4A-D34DF01F4B08}"/>
              </a:ext>
            </a:extLst>
          </p:cNvPr>
          <p:cNvSpPr txBox="1"/>
          <p:nvPr/>
        </p:nvSpPr>
        <p:spPr>
          <a:xfrm>
            <a:off x="6985000" y="3225800"/>
            <a:ext cx="8255000" cy="323165"/>
          </a:xfrm>
          <a:prstGeom prst="rect">
            <a:avLst/>
          </a:prstGeom>
          <a:noFill/>
        </p:spPr>
        <p:txBody>
          <a:bodyPr vert="horz" wrap="square" lIns="0" tIns="0" rIns="0" bIns="0" rtlCol="0">
            <a:spAutoFit/>
          </a:bodyPr>
          <a:lstStyle/>
          <a:p>
            <a:pPr>
              <a:spcAft>
                <a:spcPts val="600"/>
              </a:spcAft>
            </a:pPr>
            <a:r>
              <a:rPr lang="en-US" sz="2100">
                <a:solidFill>
                  <a:srgbClr val="103B2F"/>
                </a:solidFill>
                <a:latin typeface="Aptos"/>
              </a:rPr>
              <a:t>Start with the date, venue and race program.</a:t>
            </a:r>
          </a:p>
        </p:txBody>
      </p:sp>
      <p:sp>
        <p:nvSpPr>
          <p:cNvPr id="13" name="TextBox 12">
            <a:extLst>
              <a:ext uri="{FF2B5EF4-FFF2-40B4-BE49-F238E27FC236}">
                <a16:creationId xmlns:a16="http://schemas.microsoft.com/office/drawing/2014/main" id="{A46B9D6F-26F1-48AE-B9DA-3BDB383934A6}"/>
              </a:ext>
            </a:extLst>
          </p:cNvPr>
          <p:cNvSpPr txBox="1"/>
          <p:nvPr/>
        </p:nvSpPr>
        <p:spPr>
          <a:xfrm>
            <a:off x="5791200" y="4394200"/>
            <a:ext cx="889000" cy="430887"/>
          </a:xfrm>
          <a:prstGeom prst="rect">
            <a:avLst/>
          </a:prstGeom>
          <a:noFill/>
        </p:spPr>
        <p:txBody>
          <a:bodyPr vert="horz" wrap="square" lIns="0" tIns="0" rIns="0" bIns="0" rtlCol="0">
            <a:spAutoFit/>
          </a:bodyPr>
          <a:lstStyle/>
          <a:p>
            <a:pPr>
              <a:spcAft>
                <a:spcPts val="600"/>
              </a:spcAft>
            </a:pPr>
            <a:r>
              <a:rPr lang="en-US" sz="2800">
                <a:solidFill>
                  <a:srgbClr val="C6A15B"/>
                </a:solidFill>
                <a:latin typeface="Aptos"/>
              </a:rPr>
              <a:t>02</a:t>
            </a:r>
          </a:p>
        </p:txBody>
      </p:sp>
      <p:sp>
        <p:nvSpPr>
          <p:cNvPr id="14" name="TextBox 13">
            <a:extLst>
              <a:ext uri="{FF2B5EF4-FFF2-40B4-BE49-F238E27FC236}">
                <a16:creationId xmlns:a16="http://schemas.microsoft.com/office/drawing/2014/main" id="{14B07357-3780-48E9-B112-FC3732F1B9FE}"/>
              </a:ext>
            </a:extLst>
          </p:cNvPr>
          <p:cNvSpPr txBox="1"/>
          <p:nvPr/>
        </p:nvSpPr>
        <p:spPr>
          <a:xfrm>
            <a:off x="6985000" y="4356100"/>
            <a:ext cx="8255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Study the field</a:t>
            </a:r>
          </a:p>
        </p:txBody>
      </p:sp>
      <p:sp>
        <p:nvSpPr>
          <p:cNvPr id="15" name="TextBox 14">
            <a:extLst>
              <a:ext uri="{FF2B5EF4-FFF2-40B4-BE49-F238E27FC236}">
                <a16:creationId xmlns:a16="http://schemas.microsoft.com/office/drawing/2014/main" id="{79604143-162B-440D-9D57-043BA401BF8E}"/>
              </a:ext>
            </a:extLst>
          </p:cNvPr>
          <p:cNvSpPr txBox="1"/>
          <p:nvPr/>
        </p:nvSpPr>
        <p:spPr>
          <a:xfrm>
            <a:off x="6985000" y="5029200"/>
            <a:ext cx="8255000" cy="323165"/>
          </a:xfrm>
          <a:prstGeom prst="rect">
            <a:avLst/>
          </a:prstGeom>
          <a:noFill/>
        </p:spPr>
        <p:txBody>
          <a:bodyPr vert="horz" wrap="square" lIns="0" tIns="0" rIns="0" bIns="0" rtlCol="0">
            <a:spAutoFit/>
          </a:bodyPr>
          <a:lstStyle/>
          <a:p>
            <a:pPr>
              <a:spcAft>
                <a:spcPts val="600"/>
              </a:spcAft>
            </a:pPr>
            <a:r>
              <a:rPr lang="en-US" sz="2100">
                <a:solidFill>
                  <a:srgbClr val="103B2F"/>
                </a:solidFill>
                <a:latin typeface="Aptos"/>
              </a:rPr>
              <a:t>Open runners, connections and recorded form.</a:t>
            </a:r>
          </a:p>
        </p:txBody>
      </p:sp>
      <p:sp>
        <p:nvSpPr>
          <p:cNvPr id="16" name="TextBox 15">
            <a:extLst>
              <a:ext uri="{FF2B5EF4-FFF2-40B4-BE49-F238E27FC236}">
                <a16:creationId xmlns:a16="http://schemas.microsoft.com/office/drawing/2014/main" id="{5B5F180A-9DC0-4605-91AC-1C23A6EA8257}"/>
              </a:ext>
            </a:extLst>
          </p:cNvPr>
          <p:cNvSpPr txBox="1"/>
          <p:nvPr/>
        </p:nvSpPr>
        <p:spPr>
          <a:xfrm>
            <a:off x="5791200" y="6197600"/>
            <a:ext cx="889000" cy="430887"/>
          </a:xfrm>
          <a:prstGeom prst="rect">
            <a:avLst/>
          </a:prstGeom>
          <a:noFill/>
        </p:spPr>
        <p:txBody>
          <a:bodyPr vert="horz" wrap="square" lIns="0" tIns="0" rIns="0" bIns="0" rtlCol="0">
            <a:spAutoFit/>
          </a:bodyPr>
          <a:lstStyle/>
          <a:p>
            <a:pPr>
              <a:spcAft>
                <a:spcPts val="600"/>
              </a:spcAft>
            </a:pPr>
            <a:r>
              <a:rPr lang="en-US" sz="2800">
                <a:solidFill>
                  <a:srgbClr val="C6A15B"/>
                </a:solidFill>
                <a:latin typeface="Aptos"/>
              </a:rPr>
              <a:t>03</a:t>
            </a:r>
          </a:p>
        </p:txBody>
      </p:sp>
      <p:sp>
        <p:nvSpPr>
          <p:cNvPr id="17" name="TextBox 16">
            <a:extLst>
              <a:ext uri="{FF2B5EF4-FFF2-40B4-BE49-F238E27FC236}">
                <a16:creationId xmlns:a16="http://schemas.microsoft.com/office/drawing/2014/main" id="{43870B48-450C-4B99-B130-81CDC9045028}"/>
              </a:ext>
            </a:extLst>
          </p:cNvPr>
          <p:cNvSpPr txBox="1"/>
          <p:nvPr/>
        </p:nvSpPr>
        <p:spPr>
          <a:xfrm>
            <a:off x="6985000" y="6159500"/>
            <a:ext cx="8255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Follow the result</a:t>
            </a:r>
          </a:p>
        </p:txBody>
      </p:sp>
      <p:sp>
        <p:nvSpPr>
          <p:cNvPr id="18" name="TextBox 17">
            <a:extLst>
              <a:ext uri="{FF2B5EF4-FFF2-40B4-BE49-F238E27FC236}">
                <a16:creationId xmlns:a16="http://schemas.microsoft.com/office/drawing/2014/main" id="{52E24E3E-76D7-44C7-BCA0-B62057A7DB09}"/>
              </a:ext>
            </a:extLst>
          </p:cNvPr>
          <p:cNvSpPr txBox="1"/>
          <p:nvPr/>
        </p:nvSpPr>
        <p:spPr>
          <a:xfrm>
            <a:off x="6985000" y="6832600"/>
            <a:ext cx="8255000" cy="323165"/>
          </a:xfrm>
          <a:prstGeom prst="rect">
            <a:avLst/>
          </a:prstGeom>
          <a:noFill/>
        </p:spPr>
        <p:txBody>
          <a:bodyPr vert="horz" wrap="square" lIns="0" tIns="0" rIns="0" bIns="0" rtlCol="0">
            <a:spAutoFit/>
          </a:bodyPr>
          <a:lstStyle/>
          <a:p>
            <a:pPr>
              <a:spcAft>
                <a:spcPts val="600"/>
              </a:spcAft>
            </a:pPr>
            <a:r>
              <a:rPr lang="en-US" sz="2100">
                <a:solidFill>
                  <a:srgbClr val="103B2F"/>
                </a:solidFill>
                <a:latin typeface="Aptos"/>
              </a:rPr>
              <a:t>Return for the finish order and published detail.</a:t>
            </a:r>
          </a:p>
        </p:txBody>
      </p:sp>
    </p:spTree>
    <p:extLst>
      <p:ext uri="{BB962C8B-B14F-4D97-AF65-F5344CB8AC3E}">
        <p14:creationId xmlns:p14="http://schemas.microsoft.com/office/powerpoint/2010/main" val="192863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377C4-3865-4B1C-B283-A350419FDAE7}"/>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74E0A3DD-2351-4897-819F-BB9DFA5C4E04}"/>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STUDY THE FIELD</a:t>
            </a:r>
          </a:p>
        </p:txBody>
      </p:sp>
      <p:sp>
        <p:nvSpPr>
          <p:cNvPr id="4" name="TextBox 3">
            <a:extLst>
              <a:ext uri="{FF2B5EF4-FFF2-40B4-BE49-F238E27FC236}">
                <a16:creationId xmlns:a16="http://schemas.microsoft.com/office/drawing/2014/main" id="{298CC7F5-257B-47A6-9F46-96DD57F369BD}"/>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DB909008-8A54-4954-96E2-14ACC528B582}"/>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03</a:t>
            </a:r>
          </a:p>
        </p:txBody>
      </p:sp>
      <p:sp>
        <p:nvSpPr>
          <p:cNvPr id="6" name="TextBox 5">
            <a:extLst>
              <a:ext uri="{FF2B5EF4-FFF2-40B4-BE49-F238E27FC236}">
                <a16:creationId xmlns:a16="http://schemas.microsoft.com/office/drawing/2014/main" id="{960E15EE-B237-4589-B9A6-B5CF79E0AB2A}"/>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Know the field before the start</a:t>
            </a:r>
          </a:p>
        </p:txBody>
      </p:sp>
      <p:sp>
        <p:nvSpPr>
          <p:cNvPr id="7" name="TextBox 6">
            <a:extLst>
              <a:ext uri="{FF2B5EF4-FFF2-40B4-BE49-F238E27FC236}">
                <a16:creationId xmlns:a16="http://schemas.microsoft.com/office/drawing/2014/main" id="{97FD0DEB-AB8F-4998-B193-96359760DB5F}"/>
              </a:ext>
            </a:extLst>
          </p:cNvPr>
          <p:cNvSpPr txBox="1"/>
          <p:nvPr/>
        </p:nvSpPr>
        <p:spPr>
          <a:xfrm>
            <a:off x="812800" y="2743200"/>
            <a:ext cx="8128000" cy="477054"/>
          </a:xfrm>
          <a:prstGeom prst="rect">
            <a:avLst/>
          </a:prstGeom>
          <a:noFill/>
        </p:spPr>
        <p:txBody>
          <a:bodyPr vert="horz" wrap="square" lIns="0" tIns="0" rIns="0" bIns="0" rtlCol="0">
            <a:spAutoFit/>
          </a:bodyPr>
          <a:lstStyle/>
          <a:p>
            <a:pPr>
              <a:spcAft>
                <a:spcPts val="600"/>
              </a:spcAft>
            </a:pPr>
            <a:r>
              <a:rPr lang="en-US" sz="3100">
                <a:solidFill>
                  <a:srgbClr val="103B2F"/>
                </a:solidFill>
                <a:latin typeface="Georgia" panose="02040502050405020303" pitchFamily="18" charset="0"/>
              </a:rPr>
              <a:t>A program makes the race tangible.</a:t>
            </a:r>
          </a:p>
        </p:txBody>
      </p:sp>
      <p:sp>
        <p:nvSpPr>
          <p:cNvPr id="8" name="TextBox 7">
            <a:extLst>
              <a:ext uri="{FF2B5EF4-FFF2-40B4-BE49-F238E27FC236}">
                <a16:creationId xmlns:a16="http://schemas.microsoft.com/office/drawing/2014/main" id="{A60F1855-8522-4AF4-A573-64666C33A2C6}"/>
              </a:ext>
            </a:extLst>
          </p:cNvPr>
          <p:cNvSpPr txBox="1"/>
          <p:nvPr/>
        </p:nvSpPr>
        <p:spPr>
          <a:xfrm>
            <a:off x="812800" y="4394200"/>
            <a:ext cx="8255000" cy="1308050"/>
          </a:xfrm>
          <a:prstGeom prst="rect">
            <a:avLst/>
          </a:prstGeom>
          <a:noFill/>
        </p:spPr>
        <p:txBody>
          <a:bodyPr vert="horz" wrap="square" lIns="0" tIns="0" rIns="0" bIns="0" rtlCol="0">
            <a:spAutoFit/>
          </a:bodyPr>
          <a:lstStyle/>
          <a:p>
            <a:pPr>
              <a:spcAft>
                <a:spcPts val="600"/>
              </a:spcAft>
            </a:pPr>
            <a:r>
              <a:rPr lang="en-US" sz="2500">
                <a:solidFill>
                  <a:srgbClr val="103B2F"/>
                </a:solidFill>
                <a:latin typeface="Aptos"/>
              </a:rPr>
              <a:t>Declared runners
Assigned riders and connections
Weights and entry status</a:t>
            </a:r>
          </a:p>
        </p:txBody>
      </p:sp>
      <p:sp>
        <p:nvSpPr>
          <p:cNvPr id="9" name="TextBox 8">
            <a:extLst>
              <a:ext uri="{FF2B5EF4-FFF2-40B4-BE49-F238E27FC236}">
                <a16:creationId xmlns:a16="http://schemas.microsoft.com/office/drawing/2014/main" id="{C7787CDB-D12A-4AF0-B9F1-E031514262D6}"/>
              </a:ext>
            </a:extLst>
          </p:cNvPr>
          <p:cNvSpPr txBox="1"/>
          <p:nvPr/>
        </p:nvSpPr>
        <p:spPr>
          <a:xfrm>
            <a:off x="812800" y="7188200"/>
            <a:ext cx="8255000" cy="338554"/>
          </a:xfrm>
          <a:prstGeom prst="rect">
            <a:avLst/>
          </a:prstGeom>
          <a:noFill/>
        </p:spPr>
        <p:txBody>
          <a:bodyPr vert="horz" wrap="square" lIns="0" tIns="0" rIns="0" bIns="0" rtlCol="0">
            <a:spAutoFit/>
          </a:bodyPr>
          <a:lstStyle/>
          <a:p>
            <a:pPr>
              <a:spcAft>
                <a:spcPts val="600"/>
              </a:spcAft>
            </a:pPr>
            <a:r>
              <a:rPr lang="en-US" sz="2200">
                <a:solidFill>
                  <a:srgbClr val="65746C"/>
                </a:solidFill>
                <a:latin typeface="Aptos"/>
              </a:rPr>
              <a:t>Each runner leads to a deeper profile.</a:t>
            </a:r>
          </a:p>
        </p:txBody>
      </p:sp>
      <p:pic>
        <p:nvPicPr>
          <p:cNvPr id="11" name="Picture 10" descr="Actual saved mobile interface: 13-race-entries.png; captured 18 October 2026. Cropped for slide layout.">
            <a:extLst>
              <a:ext uri="{FF2B5EF4-FFF2-40B4-BE49-F238E27FC236}">
                <a16:creationId xmlns:a16="http://schemas.microsoft.com/office/drawing/2014/main" id="{1949D855-A967-45CE-9682-19FD24053CEE}"/>
              </a:ext>
            </a:extLst>
          </p:cNvPr>
          <p:cNvPicPr>
            <a:picLocks noChangeAspect="1"/>
          </p:cNvPicPr>
          <p:nvPr/>
        </p:nvPicPr>
        <p:blipFill rotWithShape="1">
          <a:blip r:embed="rId3">
            <a:extLst>
              <a:ext uri="{28A0092B-C50C-407E-A947-70E740481C1C}">
                <a14:useLocalDpi xmlns:a14="http://schemas.microsoft.com/office/drawing/2010/main" val="0"/>
              </a:ext>
            </a:extLst>
          </a:blip>
          <a:srcRect b="31554"/>
          <a:stretch/>
        </p:blipFill>
        <p:spPr>
          <a:xfrm>
            <a:off x="10896600" y="2209800"/>
            <a:ext cx="4064000" cy="6019800"/>
          </a:xfrm>
          <a:prstGeom prst="rect">
            <a:avLst/>
          </a:prstGeom>
          <a:ln w="7620">
            <a:solidFill>
              <a:srgbClr val="D9DED6"/>
            </a:solidFill>
          </a:ln>
        </p:spPr>
      </p:pic>
      <p:sp>
        <p:nvSpPr>
          <p:cNvPr id="12" name="TextBox 11">
            <a:extLst>
              <a:ext uri="{FF2B5EF4-FFF2-40B4-BE49-F238E27FC236}">
                <a16:creationId xmlns:a16="http://schemas.microsoft.com/office/drawing/2014/main" id="{39CBA576-2ECF-49D1-8008-4E8FBCF6BD20}"/>
              </a:ext>
            </a:extLst>
          </p:cNvPr>
          <p:cNvSpPr txBox="1"/>
          <p:nvPr/>
        </p:nvSpPr>
        <p:spPr>
          <a:xfrm>
            <a:off x="10896600" y="8293100"/>
            <a:ext cx="4572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Tree>
    <p:extLst>
      <p:ext uri="{BB962C8B-B14F-4D97-AF65-F5344CB8AC3E}">
        <p14:creationId xmlns:p14="http://schemas.microsoft.com/office/powerpoint/2010/main" val="680636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3DE69B-0963-4B1F-AFC6-6778A7718204}"/>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ADAEBEF5-50DA-4B1C-A7D2-967060C4C4E0}"/>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F2D78F"/>
                </a:solidFill>
                <a:latin typeface="Aptos"/>
              </a:rPr>
              <a:t>EXPLORE THE RUNNER</a:t>
            </a:r>
          </a:p>
        </p:txBody>
      </p:sp>
      <p:sp>
        <p:nvSpPr>
          <p:cNvPr id="4" name="TextBox 3">
            <a:extLst>
              <a:ext uri="{FF2B5EF4-FFF2-40B4-BE49-F238E27FC236}">
                <a16:creationId xmlns:a16="http://schemas.microsoft.com/office/drawing/2014/main" id="{70E1E950-9604-4F63-B1D4-546E9ADE32A3}"/>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PRODUCT SHOWCASE  /  19 OCTOBER 2026</a:t>
            </a:r>
          </a:p>
        </p:txBody>
      </p:sp>
      <p:sp>
        <p:nvSpPr>
          <p:cNvPr id="5" name="TextBox 4">
            <a:extLst>
              <a:ext uri="{FF2B5EF4-FFF2-40B4-BE49-F238E27FC236}">
                <a16:creationId xmlns:a16="http://schemas.microsoft.com/office/drawing/2014/main" id="{171C00F7-0A5A-4D1F-8D09-5CC645656685}"/>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F2D78F"/>
                </a:solidFill>
                <a:latin typeface="Aptos"/>
              </a:rPr>
              <a:t>04</a:t>
            </a:r>
          </a:p>
        </p:txBody>
      </p:sp>
      <p:sp>
        <p:nvSpPr>
          <p:cNvPr id="6" name="TextBox 5">
            <a:extLst>
              <a:ext uri="{FF2B5EF4-FFF2-40B4-BE49-F238E27FC236}">
                <a16:creationId xmlns:a16="http://schemas.microsoft.com/office/drawing/2014/main" id="{95D70184-445B-417B-80CC-B137F09D217D}"/>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F5F1E8"/>
                </a:solidFill>
                <a:latin typeface="Georgia" panose="02040502050405020303" pitchFamily="18" charset="0"/>
              </a:rPr>
              <a:t>Look beyond the race number</a:t>
            </a:r>
          </a:p>
        </p:txBody>
      </p:sp>
      <p:sp>
        <p:nvSpPr>
          <p:cNvPr id="7" name="TextBox 6">
            <a:extLst>
              <a:ext uri="{FF2B5EF4-FFF2-40B4-BE49-F238E27FC236}">
                <a16:creationId xmlns:a16="http://schemas.microsoft.com/office/drawing/2014/main" id="{F6FACF88-4A66-4D94-ADF2-9AB010CB3579}"/>
              </a:ext>
            </a:extLst>
          </p:cNvPr>
          <p:cNvSpPr txBox="1"/>
          <p:nvPr/>
        </p:nvSpPr>
        <p:spPr>
          <a:xfrm>
            <a:off x="812800" y="2832100"/>
            <a:ext cx="8763000" cy="492443"/>
          </a:xfrm>
          <a:prstGeom prst="rect">
            <a:avLst/>
          </a:prstGeom>
          <a:noFill/>
        </p:spPr>
        <p:txBody>
          <a:bodyPr vert="horz" wrap="square" lIns="0" tIns="0" rIns="0" bIns="0" rtlCol="0">
            <a:spAutoFit/>
          </a:bodyPr>
          <a:lstStyle/>
          <a:p>
            <a:pPr>
              <a:spcAft>
                <a:spcPts val="600"/>
              </a:spcAft>
            </a:pPr>
            <a:r>
              <a:rPr lang="en-US" sz="3200">
                <a:solidFill>
                  <a:srgbClr val="F2D78F"/>
                </a:solidFill>
                <a:latin typeface="Georgia" panose="02040502050405020303" pitchFamily="18" charset="0"/>
              </a:rPr>
              <a:t>Connections give every runner context.</a:t>
            </a:r>
          </a:p>
        </p:txBody>
      </p:sp>
      <p:sp>
        <p:nvSpPr>
          <p:cNvPr id="8" name="TextBox 7">
            <a:extLst>
              <a:ext uri="{FF2B5EF4-FFF2-40B4-BE49-F238E27FC236}">
                <a16:creationId xmlns:a16="http://schemas.microsoft.com/office/drawing/2014/main" id="{8B8A1282-9AFB-494D-82DA-06938E5DAE34}"/>
              </a:ext>
            </a:extLst>
          </p:cNvPr>
          <p:cNvSpPr txBox="1"/>
          <p:nvPr/>
        </p:nvSpPr>
        <p:spPr>
          <a:xfrm>
            <a:off x="812800" y="4597400"/>
            <a:ext cx="8763000" cy="1354217"/>
          </a:xfrm>
          <a:prstGeom prst="rect">
            <a:avLst/>
          </a:prstGeom>
          <a:noFill/>
        </p:spPr>
        <p:txBody>
          <a:bodyPr vert="horz" wrap="square" lIns="0" tIns="0" rIns="0" bIns="0" rtlCol="0">
            <a:spAutoFit/>
          </a:bodyPr>
          <a:lstStyle/>
          <a:p>
            <a:pPr>
              <a:spcAft>
                <a:spcPts val="600"/>
              </a:spcAft>
            </a:pPr>
            <a:r>
              <a:rPr lang="en-US" sz="2600">
                <a:solidFill>
                  <a:srgbClr val="F5F1E8"/>
                </a:solidFill>
                <a:latin typeface="Aptos"/>
              </a:rPr>
              <a:t>Horse identity and pedigree
Jockey, trainer and owner links
Recent and comparable form</a:t>
            </a:r>
          </a:p>
        </p:txBody>
      </p:sp>
      <p:sp>
        <p:nvSpPr>
          <p:cNvPr id="9" name="TextBox 8">
            <a:extLst>
              <a:ext uri="{FF2B5EF4-FFF2-40B4-BE49-F238E27FC236}">
                <a16:creationId xmlns:a16="http://schemas.microsoft.com/office/drawing/2014/main" id="{3213A43B-D050-4239-87C5-106BD130AADF}"/>
              </a:ext>
            </a:extLst>
          </p:cNvPr>
          <p:cNvSpPr txBox="1"/>
          <p:nvPr/>
        </p:nvSpPr>
        <p:spPr>
          <a:xfrm>
            <a:off x="812800" y="7391400"/>
            <a:ext cx="8763000" cy="323165"/>
          </a:xfrm>
          <a:prstGeom prst="rect">
            <a:avLst/>
          </a:prstGeom>
          <a:noFill/>
        </p:spPr>
        <p:txBody>
          <a:bodyPr vert="horz" wrap="square" lIns="0" tIns="0" rIns="0" bIns="0" rtlCol="0">
            <a:spAutoFit/>
          </a:bodyPr>
          <a:lstStyle/>
          <a:p>
            <a:pPr>
              <a:spcAft>
                <a:spcPts val="600"/>
              </a:spcAft>
            </a:pPr>
            <a:r>
              <a:rPr lang="en-US" sz="2100">
                <a:solidFill>
                  <a:srgbClr val="F5F1E8"/>
                </a:solidFill>
                <a:latin typeface="Aptos"/>
              </a:rPr>
              <a:t>The current web platform links these pages to recorded history.</a:t>
            </a:r>
          </a:p>
        </p:txBody>
      </p:sp>
      <p:pic>
        <p:nvPicPr>
          <p:cNvPr id="11" name="Picture 10" descr="Actual saved mobile interface: 24-horse-profile.png; captured 18 October 2026. Cropped for slide layout.">
            <a:extLst>
              <a:ext uri="{FF2B5EF4-FFF2-40B4-BE49-F238E27FC236}">
                <a16:creationId xmlns:a16="http://schemas.microsoft.com/office/drawing/2014/main" id="{BEFCA5A3-A47B-4CD2-BF21-DAFA688A793B}"/>
              </a:ext>
            </a:extLst>
          </p:cNvPr>
          <p:cNvPicPr>
            <a:picLocks noChangeAspect="1"/>
          </p:cNvPicPr>
          <p:nvPr/>
        </p:nvPicPr>
        <p:blipFill rotWithShape="1">
          <a:blip r:embed="rId3">
            <a:extLst>
              <a:ext uri="{28A0092B-C50C-407E-A947-70E740481C1C}">
                <a14:useLocalDpi xmlns:a14="http://schemas.microsoft.com/office/drawing/2010/main" val="0"/>
              </a:ext>
            </a:extLst>
          </a:blip>
          <a:srcRect b="-60"/>
          <a:stretch/>
        </p:blipFill>
        <p:spPr>
          <a:xfrm>
            <a:off x="11303000" y="1219200"/>
            <a:ext cx="3302000" cy="7150100"/>
          </a:xfrm>
          <a:prstGeom prst="rect">
            <a:avLst/>
          </a:prstGeom>
          <a:ln w="7620">
            <a:solidFill>
              <a:srgbClr val="D9DED6"/>
            </a:solidFill>
          </a:ln>
        </p:spPr>
      </p:pic>
      <p:sp>
        <p:nvSpPr>
          <p:cNvPr id="12" name="TextBox 11">
            <a:extLst>
              <a:ext uri="{FF2B5EF4-FFF2-40B4-BE49-F238E27FC236}">
                <a16:creationId xmlns:a16="http://schemas.microsoft.com/office/drawing/2014/main" id="{640A5843-76D0-46B4-A8B2-0F8F1D299F9B}"/>
              </a:ext>
            </a:extLst>
          </p:cNvPr>
          <p:cNvSpPr txBox="1"/>
          <p:nvPr/>
        </p:nvSpPr>
        <p:spPr>
          <a:xfrm>
            <a:off x="11303000" y="8394700"/>
            <a:ext cx="4191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SAVED MOBILE INTERFACE / 18 OCT 2026</a:t>
            </a:r>
          </a:p>
        </p:txBody>
      </p:sp>
    </p:spTree>
    <p:extLst>
      <p:ext uri="{BB962C8B-B14F-4D97-AF65-F5344CB8AC3E}">
        <p14:creationId xmlns:p14="http://schemas.microsoft.com/office/powerpoint/2010/main" val="197214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0969E1-87EB-4C0E-AB37-F8A432273930}"/>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BDD3D3ED-DC97-4EA6-8112-A159C316590E}"/>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REVIEW THE OUTCOME</a:t>
            </a:r>
          </a:p>
        </p:txBody>
      </p:sp>
      <p:sp>
        <p:nvSpPr>
          <p:cNvPr id="4" name="TextBox 3">
            <a:extLst>
              <a:ext uri="{FF2B5EF4-FFF2-40B4-BE49-F238E27FC236}">
                <a16:creationId xmlns:a16="http://schemas.microsoft.com/office/drawing/2014/main" id="{DF88B27B-9E27-46CE-892A-E32C4A01C64F}"/>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30E4447B-029B-4B1B-9D0A-B78628258F68}"/>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05</a:t>
            </a:r>
          </a:p>
        </p:txBody>
      </p:sp>
      <p:sp>
        <p:nvSpPr>
          <p:cNvPr id="6" name="TextBox 5">
            <a:extLst>
              <a:ext uri="{FF2B5EF4-FFF2-40B4-BE49-F238E27FC236}">
                <a16:creationId xmlns:a16="http://schemas.microsoft.com/office/drawing/2014/main" id="{14953C3F-D7BC-4FBF-BFBE-C17BFCC4A13E}"/>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See the result, then the detail</a:t>
            </a:r>
          </a:p>
        </p:txBody>
      </p:sp>
      <p:pic>
        <p:nvPicPr>
          <p:cNvPr id="8" name="Picture 7" descr="Actual saved mobile interface: 21-result-detail.png; captured 18 October 2026. Cropped for slide layout.">
            <a:extLst>
              <a:ext uri="{FF2B5EF4-FFF2-40B4-BE49-F238E27FC236}">
                <a16:creationId xmlns:a16="http://schemas.microsoft.com/office/drawing/2014/main" id="{E4C9B528-9355-4593-A527-B9C3E387DC09}"/>
              </a:ext>
            </a:extLst>
          </p:cNvPr>
          <p:cNvPicPr>
            <a:picLocks noChangeAspect="1"/>
          </p:cNvPicPr>
          <p:nvPr/>
        </p:nvPicPr>
        <p:blipFill rotWithShape="1">
          <a:blip r:embed="rId3">
            <a:extLst>
              <a:ext uri="{28A0092B-C50C-407E-A947-70E740481C1C}">
                <a14:useLocalDpi xmlns:a14="http://schemas.microsoft.com/office/drawing/2010/main" val="0"/>
              </a:ext>
            </a:extLst>
          </a:blip>
          <a:srcRect b="6428"/>
          <a:stretch/>
        </p:blipFill>
        <p:spPr>
          <a:xfrm>
            <a:off x="1270000" y="2032000"/>
            <a:ext cx="3048000" cy="6172200"/>
          </a:xfrm>
          <a:prstGeom prst="rect">
            <a:avLst/>
          </a:prstGeom>
          <a:ln w="7620">
            <a:solidFill>
              <a:srgbClr val="D9DED6"/>
            </a:solidFill>
          </a:ln>
        </p:spPr>
      </p:pic>
      <p:sp>
        <p:nvSpPr>
          <p:cNvPr id="9" name="TextBox 8">
            <a:extLst>
              <a:ext uri="{FF2B5EF4-FFF2-40B4-BE49-F238E27FC236}">
                <a16:creationId xmlns:a16="http://schemas.microsoft.com/office/drawing/2014/main" id="{9372ADF4-0535-43A7-ACD7-193E268BE89B}"/>
              </a:ext>
            </a:extLst>
          </p:cNvPr>
          <p:cNvSpPr txBox="1"/>
          <p:nvPr/>
        </p:nvSpPr>
        <p:spPr>
          <a:xfrm>
            <a:off x="1270000" y="8293100"/>
            <a:ext cx="4953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
        <p:nvSpPr>
          <p:cNvPr id="10" name="TextBox 9">
            <a:extLst>
              <a:ext uri="{FF2B5EF4-FFF2-40B4-BE49-F238E27FC236}">
                <a16:creationId xmlns:a16="http://schemas.microsoft.com/office/drawing/2014/main" id="{9FBC2EB1-BC80-4970-905E-8A21BE74F914}"/>
              </a:ext>
            </a:extLst>
          </p:cNvPr>
          <p:cNvSpPr txBox="1"/>
          <p:nvPr/>
        </p:nvSpPr>
        <p:spPr>
          <a:xfrm>
            <a:off x="5969000" y="2743200"/>
            <a:ext cx="9271000" cy="477054"/>
          </a:xfrm>
          <a:prstGeom prst="rect">
            <a:avLst/>
          </a:prstGeom>
          <a:noFill/>
        </p:spPr>
        <p:txBody>
          <a:bodyPr vert="horz" wrap="square" lIns="0" tIns="0" rIns="0" bIns="0" rtlCol="0">
            <a:spAutoFit/>
          </a:bodyPr>
          <a:lstStyle/>
          <a:p>
            <a:pPr>
              <a:spcAft>
                <a:spcPts val="600"/>
              </a:spcAft>
            </a:pPr>
            <a:r>
              <a:rPr lang="en-US" sz="3100">
                <a:solidFill>
                  <a:srgbClr val="103B2F"/>
                </a:solidFill>
                <a:latin typeface="Georgia" panose="02040502050405020303" pitchFamily="18" charset="0"/>
              </a:rPr>
              <a:t>The racing story continues after the finish.</a:t>
            </a:r>
          </a:p>
        </p:txBody>
      </p:sp>
      <p:sp>
        <p:nvSpPr>
          <p:cNvPr id="11" name="TextBox 10">
            <a:extLst>
              <a:ext uri="{FF2B5EF4-FFF2-40B4-BE49-F238E27FC236}">
                <a16:creationId xmlns:a16="http://schemas.microsoft.com/office/drawing/2014/main" id="{60D5439B-C6E2-42B6-90C2-B42D2BB9AE41}"/>
              </a:ext>
            </a:extLst>
          </p:cNvPr>
          <p:cNvSpPr txBox="1"/>
          <p:nvPr/>
        </p:nvSpPr>
        <p:spPr>
          <a:xfrm>
            <a:off x="5969000" y="4495800"/>
            <a:ext cx="9271000" cy="1354217"/>
          </a:xfrm>
          <a:prstGeom prst="rect">
            <a:avLst/>
          </a:prstGeom>
          <a:noFill/>
        </p:spPr>
        <p:txBody>
          <a:bodyPr vert="horz" wrap="square" lIns="0" tIns="0" rIns="0" bIns="0" rtlCol="0">
            <a:spAutoFit/>
          </a:bodyPr>
          <a:lstStyle/>
          <a:p>
            <a:pPr>
              <a:spcAft>
                <a:spcPts val="600"/>
              </a:spcAft>
            </a:pPr>
            <a:r>
              <a:rPr lang="en-US" sz="2600">
                <a:solidFill>
                  <a:srgbClr val="103B2F"/>
                </a:solidFill>
                <a:latin typeface="Aptos"/>
              </a:rPr>
              <a:t>Finish order
Official timing where recorded
Published dividend information</a:t>
            </a:r>
          </a:p>
        </p:txBody>
      </p:sp>
      <p:sp>
        <p:nvSpPr>
          <p:cNvPr id="12" name="TextBox 11">
            <a:extLst>
              <a:ext uri="{FF2B5EF4-FFF2-40B4-BE49-F238E27FC236}">
                <a16:creationId xmlns:a16="http://schemas.microsoft.com/office/drawing/2014/main" id="{DD2B651D-D2D9-41AE-B523-DD89E8E8C42E}"/>
              </a:ext>
            </a:extLst>
          </p:cNvPr>
          <p:cNvSpPr txBox="1"/>
          <p:nvPr/>
        </p:nvSpPr>
        <p:spPr>
          <a:xfrm>
            <a:off x="5969000" y="7366000"/>
            <a:ext cx="8890000" cy="323165"/>
          </a:xfrm>
          <a:prstGeom prst="rect">
            <a:avLst/>
          </a:prstGeom>
          <a:noFill/>
        </p:spPr>
        <p:txBody>
          <a:bodyPr vert="horz" wrap="square" lIns="0" tIns="0" rIns="0" bIns="0" rtlCol="0">
            <a:spAutoFit/>
          </a:bodyPr>
          <a:lstStyle/>
          <a:p>
            <a:pPr>
              <a:spcAft>
                <a:spcPts val="600"/>
              </a:spcAft>
            </a:pPr>
            <a:r>
              <a:rPr lang="en-US" sz="2100">
                <a:solidFill>
                  <a:srgbClr val="65746C"/>
                </a:solidFill>
                <a:latin typeface="Aptos"/>
              </a:rPr>
              <a:t>The original program stays available alongside the result.</a:t>
            </a:r>
          </a:p>
        </p:txBody>
      </p:sp>
    </p:spTree>
    <p:extLst>
      <p:ext uri="{BB962C8B-B14F-4D97-AF65-F5344CB8AC3E}">
        <p14:creationId xmlns:p14="http://schemas.microsoft.com/office/powerpoint/2010/main" val="1972275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C4D15C-1B2B-46DE-B353-F836ECB7E4BC}"/>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2ABE068F-7943-4DE9-8526-0515539D7F51}"/>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LEARN THE LANGUAGE OF RACING</a:t>
            </a:r>
          </a:p>
        </p:txBody>
      </p:sp>
      <p:sp>
        <p:nvSpPr>
          <p:cNvPr id="4" name="TextBox 3">
            <a:extLst>
              <a:ext uri="{FF2B5EF4-FFF2-40B4-BE49-F238E27FC236}">
                <a16:creationId xmlns:a16="http://schemas.microsoft.com/office/drawing/2014/main" id="{6514711C-103E-49A3-A8FF-911D5DD6C998}"/>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BBCD2486-39AF-488C-B33F-E860D7E081B4}"/>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06</a:t>
            </a:r>
          </a:p>
        </p:txBody>
      </p:sp>
      <p:sp>
        <p:nvSpPr>
          <p:cNvPr id="6" name="TextBox 5">
            <a:extLst>
              <a:ext uri="{FF2B5EF4-FFF2-40B4-BE49-F238E27FC236}">
                <a16:creationId xmlns:a16="http://schemas.microsoft.com/office/drawing/2014/main" id="{370B9F60-842A-46F7-94E1-431429BC4F4E}"/>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Give new visitors a starting point</a:t>
            </a:r>
          </a:p>
        </p:txBody>
      </p:sp>
      <p:sp>
        <p:nvSpPr>
          <p:cNvPr id="7" name="TextBox 6">
            <a:extLst>
              <a:ext uri="{FF2B5EF4-FFF2-40B4-BE49-F238E27FC236}">
                <a16:creationId xmlns:a16="http://schemas.microsoft.com/office/drawing/2014/main" id="{4D5F38EC-F8DD-4053-82DC-F22C466AC6E8}"/>
              </a:ext>
            </a:extLst>
          </p:cNvPr>
          <p:cNvSpPr txBox="1"/>
          <p:nvPr/>
        </p:nvSpPr>
        <p:spPr>
          <a:xfrm>
            <a:off x="812800" y="2857500"/>
            <a:ext cx="8890000" cy="492443"/>
          </a:xfrm>
          <a:prstGeom prst="rect">
            <a:avLst/>
          </a:prstGeom>
          <a:noFill/>
        </p:spPr>
        <p:txBody>
          <a:bodyPr vert="horz" wrap="square" lIns="0" tIns="0" rIns="0" bIns="0" rtlCol="0">
            <a:spAutoFit/>
          </a:bodyPr>
          <a:lstStyle/>
          <a:p>
            <a:pPr>
              <a:spcAft>
                <a:spcPts val="600"/>
              </a:spcAft>
            </a:pPr>
            <a:r>
              <a:rPr lang="en-US" sz="3200">
                <a:solidFill>
                  <a:srgbClr val="103B2F"/>
                </a:solidFill>
                <a:latin typeface="Georgia" panose="02040502050405020303" pitchFamily="18" charset="0"/>
              </a:rPr>
              <a:t>Learn the program.</a:t>
            </a:r>
          </a:p>
        </p:txBody>
      </p:sp>
      <p:sp>
        <p:nvSpPr>
          <p:cNvPr id="8" name="TextBox 7">
            <a:extLst>
              <a:ext uri="{FF2B5EF4-FFF2-40B4-BE49-F238E27FC236}">
                <a16:creationId xmlns:a16="http://schemas.microsoft.com/office/drawing/2014/main" id="{A2773389-3140-48A9-8B28-982508796F21}"/>
              </a:ext>
            </a:extLst>
          </p:cNvPr>
          <p:cNvSpPr txBox="1"/>
          <p:nvPr/>
        </p:nvSpPr>
        <p:spPr>
          <a:xfrm>
            <a:off x="812800" y="4114800"/>
            <a:ext cx="8890000" cy="492443"/>
          </a:xfrm>
          <a:prstGeom prst="rect">
            <a:avLst/>
          </a:prstGeom>
          <a:noFill/>
        </p:spPr>
        <p:txBody>
          <a:bodyPr vert="horz" wrap="square" lIns="0" tIns="0" rIns="0" bIns="0" rtlCol="0">
            <a:spAutoFit/>
          </a:bodyPr>
          <a:lstStyle/>
          <a:p>
            <a:pPr>
              <a:spcAft>
                <a:spcPts val="600"/>
              </a:spcAft>
            </a:pPr>
            <a:r>
              <a:rPr lang="en-US" sz="3200">
                <a:solidFill>
                  <a:srgbClr val="103B2F"/>
                </a:solidFill>
                <a:latin typeface="Georgia" panose="02040502050405020303" pitchFamily="18" charset="0"/>
              </a:rPr>
              <a:t>Understand the form.</a:t>
            </a:r>
          </a:p>
        </p:txBody>
      </p:sp>
      <p:sp>
        <p:nvSpPr>
          <p:cNvPr id="9" name="TextBox 8">
            <a:extLst>
              <a:ext uri="{FF2B5EF4-FFF2-40B4-BE49-F238E27FC236}">
                <a16:creationId xmlns:a16="http://schemas.microsoft.com/office/drawing/2014/main" id="{EFC215EC-19DF-4CF2-B02A-C62CEBC26E1E}"/>
              </a:ext>
            </a:extLst>
          </p:cNvPr>
          <p:cNvSpPr txBox="1"/>
          <p:nvPr/>
        </p:nvSpPr>
        <p:spPr>
          <a:xfrm>
            <a:off x="812800" y="5372100"/>
            <a:ext cx="8890000" cy="492443"/>
          </a:xfrm>
          <a:prstGeom prst="rect">
            <a:avLst/>
          </a:prstGeom>
          <a:noFill/>
        </p:spPr>
        <p:txBody>
          <a:bodyPr vert="horz" wrap="square" lIns="0" tIns="0" rIns="0" bIns="0" rtlCol="0">
            <a:spAutoFit/>
          </a:bodyPr>
          <a:lstStyle/>
          <a:p>
            <a:pPr>
              <a:spcAft>
                <a:spcPts val="600"/>
              </a:spcAft>
            </a:pPr>
            <a:r>
              <a:rPr lang="en-US" sz="3200">
                <a:solidFill>
                  <a:srgbClr val="103B2F"/>
                </a:solidFill>
                <a:latin typeface="Georgia" panose="02040502050405020303" pitchFamily="18" charset="0"/>
              </a:rPr>
              <a:t>Interpret the result.</a:t>
            </a:r>
          </a:p>
        </p:txBody>
      </p:sp>
      <p:sp>
        <p:nvSpPr>
          <p:cNvPr id="10" name="TextBox 9">
            <a:extLst>
              <a:ext uri="{FF2B5EF4-FFF2-40B4-BE49-F238E27FC236}">
                <a16:creationId xmlns:a16="http://schemas.microsoft.com/office/drawing/2014/main" id="{65F7A6F0-F2BD-4E89-BC3C-801EEA2BBB30}"/>
              </a:ext>
            </a:extLst>
          </p:cNvPr>
          <p:cNvSpPr txBox="1"/>
          <p:nvPr/>
        </p:nvSpPr>
        <p:spPr>
          <a:xfrm>
            <a:off x="812800" y="7175500"/>
            <a:ext cx="8890000" cy="353943"/>
          </a:xfrm>
          <a:prstGeom prst="rect">
            <a:avLst/>
          </a:prstGeom>
          <a:noFill/>
        </p:spPr>
        <p:txBody>
          <a:bodyPr vert="horz" wrap="square" lIns="0" tIns="0" rIns="0" bIns="0" rtlCol="0">
            <a:spAutoFit/>
          </a:bodyPr>
          <a:lstStyle/>
          <a:p>
            <a:pPr>
              <a:spcAft>
                <a:spcPts val="600"/>
              </a:spcAft>
            </a:pPr>
            <a:r>
              <a:rPr lang="en-US" sz="2300">
                <a:solidFill>
                  <a:srgbClr val="65746C"/>
                </a:solidFill>
                <a:latin typeface="Aptos"/>
              </a:rPr>
              <a:t>The learning guide stays public.</a:t>
            </a:r>
          </a:p>
        </p:txBody>
      </p:sp>
      <p:pic>
        <p:nvPicPr>
          <p:cNvPr id="12" name="Picture 11" descr="Actual saved mobile interface: 33-racing-guide.png; captured 18 October 2026. Cropped for slide layout.">
            <a:extLst>
              <a:ext uri="{FF2B5EF4-FFF2-40B4-BE49-F238E27FC236}">
                <a16:creationId xmlns:a16="http://schemas.microsoft.com/office/drawing/2014/main" id="{E612D0A5-DC63-41E0-938F-447722C70F4F}"/>
              </a:ext>
            </a:extLst>
          </p:cNvPr>
          <p:cNvPicPr>
            <a:picLocks noChangeAspect="1"/>
          </p:cNvPicPr>
          <p:nvPr/>
        </p:nvPicPr>
        <p:blipFill rotWithShape="1">
          <a:blip r:embed="rId3">
            <a:extLst>
              <a:ext uri="{28A0092B-C50C-407E-A947-70E740481C1C}">
                <a14:useLocalDpi xmlns:a14="http://schemas.microsoft.com/office/drawing/2010/main" val="0"/>
              </a:ext>
            </a:extLst>
          </a:blip>
          <a:srcRect t="1" b="25450"/>
          <a:stretch/>
        </p:blipFill>
        <p:spPr>
          <a:xfrm>
            <a:off x="11023600" y="2108200"/>
            <a:ext cx="3810000" cy="6146800"/>
          </a:xfrm>
          <a:prstGeom prst="rect">
            <a:avLst/>
          </a:prstGeom>
          <a:ln w="7620">
            <a:solidFill>
              <a:srgbClr val="D9DED6"/>
            </a:solidFill>
          </a:ln>
        </p:spPr>
      </p:pic>
      <p:sp>
        <p:nvSpPr>
          <p:cNvPr id="13" name="TextBox 12">
            <a:extLst>
              <a:ext uri="{FF2B5EF4-FFF2-40B4-BE49-F238E27FC236}">
                <a16:creationId xmlns:a16="http://schemas.microsoft.com/office/drawing/2014/main" id="{F53593E9-81B2-4E63-B232-25A6FAA5678D}"/>
              </a:ext>
            </a:extLst>
          </p:cNvPr>
          <p:cNvSpPr txBox="1"/>
          <p:nvPr/>
        </p:nvSpPr>
        <p:spPr>
          <a:xfrm>
            <a:off x="11023600" y="8318500"/>
            <a:ext cx="4318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Tree>
    <p:extLst>
      <p:ext uri="{BB962C8B-B14F-4D97-AF65-F5344CB8AC3E}">
        <p14:creationId xmlns:p14="http://schemas.microsoft.com/office/powerpoint/2010/main" val="1832400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EA1C99-FB03-4637-B26A-7AC3F2E503A3}"/>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D5D6509F-B34A-42A5-B18A-E514AA6CDB5C}"/>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MEMBERSHIP MODEL</a:t>
            </a:r>
          </a:p>
        </p:txBody>
      </p:sp>
      <p:sp>
        <p:nvSpPr>
          <p:cNvPr id="4" name="TextBox 3">
            <a:extLst>
              <a:ext uri="{FF2B5EF4-FFF2-40B4-BE49-F238E27FC236}">
                <a16:creationId xmlns:a16="http://schemas.microsoft.com/office/drawing/2014/main" id="{4C5F8DD3-702F-4C35-979C-D6926D3AF14E}"/>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5B98BD2A-BB42-42B0-BC84-C68C8D922B7B}"/>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07</a:t>
            </a:r>
          </a:p>
        </p:txBody>
      </p:sp>
      <p:sp>
        <p:nvSpPr>
          <p:cNvPr id="6" name="TextBox 5">
            <a:extLst>
              <a:ext uri="{FF2B5EF4-FFF2-40B4-BE49-F238E27FC236}">
                <a16:creationId xmlns:a16="http://schemas.microsoft.com/office/drawing/2014/main" id="{8158369E-ECB0-4C9E-80C0-F68E9063A48D}"/>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A simple membership rule</a:t>
            </a:r>
          </a:p>
        </p:txBody>
      </p:sp>
      <p:sp>
        <p:nvSpPr>
          <p:cNvPr id="7" name="TextBox 6">
            <a:extLst>
              <a:ext uri="{FF2B5EF4-FFF2-40B4-BE49-F238E27FC236}">
                <a16:creationId xmlns:a16="http://schemas.microsoft.com/office/drawing/2014/main" id="{BF7547E6-76EE-40C4-A5AE-DE0280397F72}"/>
              </a:ext>
            </a:extLst>
          </p:cNvPr>
          <p:cNvSpPr txBox="1"/>
          <p:nvPr/>
        </p:nvSpPr>
        <p:spPr>
          <a:xfrm>
            <a:off x="812800" y="2527300"/>
            <a:ext cx="4318000" cy="246221"/>
          </a:xfrm>
          <a:prstGeom prst="rect">
            <a:avLst/>
          </a:prstGeom>
          <a:noFill/>
        </p:spPr>
        <p:txBody>
          <a:bodyPr vert="horz" wrap="square" lIns="0" tIns="0" rIns="0" bIns="0" rtlCol="0">
            <a:spAutoFit/>
          </a:bodyPr>
          <a:lstStyle/>
          <a:p>
            <a:pPr>
              <a:spcAft>
                <a:spcPts val="600"/>
              </a:spcAft>
            </a:pPr>
            <a:r>
              <a:rPr lang="en-US" sz="1600" b="1">
                <a:solidFill>
                  <a:srgbClr val="65746C"/>
                </a:solidFill>
                <a:latin typeface="Aptos"/>
              </a:rPr>
              <a:t>DAILY ACCESS</a:t>
            </a:r>
          </a:p>
        </p:txBody>
      </p:sp>
      <p:sp>
        <p:nvSpPr>
          <p:cNvPr id="8" name="TextBox 7">
            <a:extLst>
              <a:ext uri="{FF2B5EF4-FFF2-40B4-BE49-F238E27FC236}">
                <a16:creationId xmlns:a16="http://schemas.microsoft.com/office/drawing/2014/main" id="{82CFEEAC-4C99-455E-8AAD-7751DB7F1B8D}"/>
              </a:ext>
            </a:extLst>
          </p:cNvPr>
          <p:cNvSpPr txBox="1"/>
          <p:nvPr/>
        </p:nvSpPr>
        <p:spPr>
          <a:xfrm>
            <a:off x="812800" y="3086100"/>
            <a:ext cx="4445000" cy="984885"/>
          </a:xfrm>
          <a:prstGeom prst="rect">
            <a:avLst/>
          </a:prstGeom>
          <a:noFill/>
        </p:spPr>
        <p:txBody>
          <a:bodyPr vert="horz" wrap="square" lIns="0" tIns="0" rIns="0" bIns="0" rtlCol="0">
            <a:spAutoFit/>
          </a:bodyPr>
          <a:lstStyle/>
          <a:p>
            <a:pPr>
              <a:spcAft>
                <a:spcPts val="600"/>
              </a:spcAft>
            </a:pPr>
            <a:r>
              <a:rPr lang="en-US" sz="6400">
                <a:solidFill>
                  <a:srgbClr val="103B2F"/>
                </a:solidFill>
                <a:latin typeface="Georgia" panose="02040502050405020303" pitchFamily="18" charset="0"/>
              </a:rPr>
              <a:t>₱50</a:t>
            </a:r>
          </a:p>
        </p:txBody>
      </p:sp>
      <p:sp>
        <p:nvSpPr>
          <p:cNvPr id="9" name="TextBox 8">
            <a:extLst>
              <a:ext uri="{FF2B5EF4-FFF2-40B4-BE49-F238E27FC236}">
                <a16:creationId xmlns:a16="http://schemas.microsoft.com/office/drawing/2014/main" id="{9F2352BD-8C8A-4B95-90C1-FB68CB3DD031}"/>
              </a:ext>
            </a:extLst>
          </p:cNvPr>
          <p:cNvSpPr txBox="1"/>
          <p:nvPr/>
        </p:nvSpPr>
        <p:spPr>
          <a:xfrm>
            <a:off x="812800" y="4457700"/>
            <a:ext cx="4445000" cy="384721"/>
          </a:xfrm>
          <a:prstGeom prst="rect">
            <a:avLst/>
          </a:prstGeom>
          <a:noFill/>
        </p:spPr>
        <p:txBody>
          <a:bodyPr vert="horz" wrap="square" lIns="0" tIns="0" rIns="0" bIns="0" rtlCol="0">
            <a:spAutoFit/>
          </a:bodyPr>
          <a:lstStyle/>
          <a:p>
            <a:pPr>
              <a:spcAft>
                <a:spcPts val="600"/>
              </a:spcAft>
            </a:pPr>
            <a:r>
              <a:rPr lang="en-US" sz="2500">
                <a:solidFill>
                  <a:srgbClr val="103B2F"/>
                </a:solidFill>
                <a:latin typeface="Aptos"/>
              </a:rPr>
              <a:t>24 hours</a:t>
            </a:r>
          </a:p>
        </p:txBody>
      </p:sp>
      <p:sp>
        <p:nvSpPr>
          <p:cNvPr id="10" name="TextBox 9">
            <a:extLst>
              <a:ext uri="{FF2B5EF4-FFF2-40B4-BE49-F238E27FC236}">
                <a16:creationId xmlns:a16="http://schemas.microsoft.com/office/drawing/2014/main" id="{D5061A6F-2171-452C-BE76-06BFD7B3C6CC}"/>
              </a:ext>
            </a:extLst>
          </p:cNvPr>
          <p:cNvSpPr txBox="1"/>
          <p:nvPr/>
        </p:nvSpPr>
        <p:spPr>
          <a:xfrm>
            <a:off x="5511800" y="2527300"/>
            <a:ext cx="4572000" cy="246221"/>
          </a:xfrm>
          <a:prstGeom prst="rect">
            <a:avLst/>
          </a:prstGeom>
          <a:noFill/>
        </p:spPr>
        <p:txBody>
          <a:bodyPr vert="horz" wrap="square" lIns="0" tIns="0" rIns="0" bIns="0" rtlCol="0">
            <a:spAutoFit/>
          </a:bodyPr>
          <a:lstStyle/>
          <a:p>
            <a:pPr>
              <a:spcAft>
                <a:spcPts val="600"/>
              </a:spcAft>
            </a:pPr>
            <a:r>
              <a:rPr lang="en-US" sz="1600" b="1">
                <a:solidFill>
                  <a:srgbClr val="65746C"/>
                </a:solidFill>
                <a:latin typeface="Aptos"/>
              </a:rPr>
              <a:t>MONTHLY ACCESS</a:t>
            </a:r>
          </a:p>
        </p:txBody>
      </p:sp>
      <p:sp>
        <p:nvSpPr>
          <p:cNvPr id="11" name="TextBox 10">
            <a:extLst>
              <a:ext uri="{FF2B5EF4-FFF2-40B4-BE49-F238E27FC236}">
                <a16:creationId xmlns:a16="http://schemas.microsoft.com/office/drawing/2014/main" id="{D6AA851C-E2DA-4570-9FD8-79C6AE48DE39}"/>
              </a:ext>
            </a:extLst>
          </p:cNvPr>
          <p:cNvSpPr txBox="1"/>
          <p:nvPr/>
        </p:nvSpPr>
        <p:spPr>
          <a:xfrm>
            <a:off x="5511800" y="3086100"/>
            <a:ext cx="4699000" cy="984885"/>
          </a:xfrm>
          <a:prstGeom prst="rect">
            <a:avLst/>
          </a:prstGeom>
          <a:noFill/>
        </p:spPr>
        <p:txBody>
          <a:bodyPr vert="horz" wrap="square" lIns="0" tIns="0" rIns="0" bIns="0" rtlCol="0">
            <a:spAutoFit/>
          </a:bodyPr>
          <a:lstStyle/>
          <a:p>
            <a:pPr>
              <a:spcAft>
                <a:spcPts val="600"/>
              </a:spcAft>
            </a:pPr>
            <a:r>
              <a:rPr lang="en-US" sz="6400">
                <a:solidFill>
                  <a:srgbClr val="103B2F"/>
                </a:solidFill>
                <a:latin typeface="Georgia" panose="02040502050405020303" pitchFamily="18" charset="0"/>
              </a:rPr>
              <a:t>₱499</a:t>
            </a:r>
          </a:p>
        </p:txBody>
      </p:sp>
      <p:sp>
        <p:nvSpPr>
          <p:cNvPr id="12" name="TextBox 11">
            <a:extLst>
              <a:ext uri="{FF2B5EF4-FFF2-40B4-BE49-F238E27FC236}">
                <a16:creationId xmlns:a16="http://schemas.microsoft.com/office/drawing/2014/main" id="{CCD7AEBD-27B8-49E4-B356-C2205195AE1F}"/>
              </a:ext>
            </a:extLst>
          </p:cNvPr>
          <p:cNvSpPr txBox="1"/>
          <p:nvPr/>
        </p:nvSpPr>
        <p:spPr>
          <a:xfrm>
            <a:off x="5511800" y="4457700"/>
            <a:ext cx="4699000" cy="384721"/>
          </a:xfrm>
          <a:prstGeom prst="rect">
            <a:avLst/>
          </a:prstGeom>
          <a:noFill/>
        </p:spPr>
        <p:txBody>
          <a:bodyPr vert="horz" wrap="square" lIns="0" tIns="0" rIns="0" bIns="0" rtlCol="0">
            <a:spAutoFit/>
          </a:bodyPr>
          <a:lstStyle/>
          <a:p>
            <a:pPr>
              <a:spcAft>
                <a:spcPts val="600"/>
              </a:spcAft>
            </a:pPr>
            <a:r>
              <a:rPr lang="en-US" sz="2500">
                <a:solidFill>
                  <a:srgbClr val="103B2F"/>
                </a:solidFill>
                <a:latin typeface="Aptos"/>
              </a:rPr>
              <a:t>One calendar month</a:t>
            </a:r>
          </a:p>
        </p:txBody>
      </p:sp>
      <p:sp>
        <p:nvSpPr>
          <p:cNvPr id="13" name="TextBox 12">
            <a:extLst>
              <a:ext uri="{FF2B5EF4-FFF2-40B4-BE49-F238E27FC236}">
                <a16:creationId xmlns:a16="http://schemas.microsoft.com/office/drawing/2014/main" id="{AA74AE12-0073-4AD8-B98E-5BD9E060149E}"/>
              </a:ext>
            </a:extLst>
          </p:cNvPr>
          <p:cNvSpPr txBox="1"/>
          <p:nvPr/>
        </p:nvSpPr>
        <p:spPr>
          <a:xfrm>
            <a:off x="812800" y="5829300"/>
            <a:ext cx="9144000" cy="400110"/>
          </a:xfrm>
          <a:prstGeom prst="rect">
            <a:avLst/>
          </a:prstGeom>
          <a:noFill/>
        </p:spPr>
        <p:txBody>
          <a:bodyPr vert="horz" wrap="square" lIns="0" tIns="0" rIns="0" bIns="0" rtlCol="0">
            <a:spAutoFit/>
          </a:bodyPr>
          <a:lstStyle/>
          <a:p>
            <a:pPr>
              <a:spcAft>
                <a:spcPts val="600"/>
              </a:spcAft>
            </a:pPr>
            <a:r>
              <a:rPr lang="en-US" sz="2600">
                <a:solidFill>
                  <a:srgbClr val="103B2F"/>
                </a:solidFill>
                <a:latin typeface="Georgia" panose="02040502050405020303" pitchFamily="18" charset="0"/>
              </a:rPr>
              <a:t>Choose a plan. Sign in. Confirm payment.</a:t>
            </a:r>
          </a:p>
        </p:txBody>
      </p:sp>
      <p:sp>
        <p:nvSpPr>
          <p:cNvPr id="14" name="TextBox 13">
            <a:extLst>
              <a:ext uri="{FF2B5EF4-FFF2-40B4-BE49-F238E27FC236}">
                <a16:creationId xmlns:a16="http://schemas.microsoft.com/office/drawing/2014/main" id="{AA8D8665-589B-4FB4-BBC5-925C4D51D2F9}"/>
              </a:ext>
            </a:extLst>
          </p:cNvPr>
          <p:cNvSpPr txBox="1"/>
          <p:nvPr/>
        </p:nvSpPr>
        <p:spPr>
          <a:xfrm>
            <a:off x="812800" y="7048500"/>
            <a:ext cx="8890000" cy="323165"/>
          </a:xfrm>
          <a:prstGeom prst="rect">
            <a:avLst/>
          </a:prstGeom>
          <a:noFill/>
        </p:spPr>
        <p:txBody>
          <a:bodyPr vert="horz" wrap="square" lIns="0" tIns="0" rIns="0" bIns="0" rtlCol="0">
            <a:spAutoFit/>
          </a:bodyPr>
          <a:lstStyle/>
          <a:p>
            <a:pPr>
              <a:spcAft>
                <a:spcPts val="600"/>
              </a:spcAft>
            </a:pPr>
            <a:r>
              <a:rPr lang="en-US" sz="2100">
                <a:solidFill>
                  <a:srgbClr val="65746C"/>
                </a:solidFill>
                <a:latin typeface="Aptos"/>
              </a:rPr>
              <a:t>Demo confirmation unlocks access. No money is charged.</a:t>
            </a:r>
          </a:p>
        </p:txBody>
      </p:sp>
      <p:pic>
        <p:nvPicPr>
          <p:cNvPr id="16" name="Picture 15" descr="Actual saved mobile interface: 04-login.png; captured 18 October 2026. Cropped for slide layout.">
            <a:extLst>
              <a:ext uri="{FF2B5EF4-FFF2-40B4-BE49-F238E27FC236}">
                <a16:creationId xmlns:a16="http://schemas.microsoft.com/office/drawing/2014/main" id="{8CB00E80-186C-4D45-A343-FB4A315D38CF}"/>
              </a:ext>
            </a:extLst>
          </p:cNvPr>
          <p:cNvPicPr>
            <a:picLocks noChangeAspect="1"/>
          </p:cNvPicPr>
          <p:nvPr/>
        </p:nvPicPr>
        <p:blipFill rotWithShape="1">
          <a:blip r:embed="rId3">
            <a:extLst>
              <a:ext uri="{28A0092B-C50C-407E-A947-70E740481C1C}">
                <a14:useLocalDpi xmlns:a14="http://schemas.microsoft.com/office/drawing/2010/main" val="0"/>
              </a:ext>
            </a:extLst>
          </a:blip>
          <a:srcRect t="13000" b="21671"/>
          <a:stretch/>
        </p:blipFill>
        <p:spPr>
          <a:xfrm>
            <a:off x="11353800" y="2374900"/>
            <a:ext cx="3683000" cy="5207000"/>
          </a:xfrm>
          <a:prstGeom prst="rect">
            <a:avLst/>
          </a:prstGeom>
          <a:ln w="7620">
            <a:solidFill>
              <a:srgbClr val="D9DED6"/>
            </a:solidFill>
          </a:ln>
        </p:spPr>
      </p:pic>
      <p:sp>
        <p:nvSpPr>
          <p:cNvPr id="17" name="TextBox 16">
            <a:extLst>
              <a:ext uri="{FF2B5EF4-FFF2-40B4-BE49-F238E27FC236}">
                <a16:creationId xmlns:a16="http://schemas.microsoft.com/office/drawing/2014/main" id="{E0053ABA-193E-49D4-AACB-C27298C87D45}"/>
              </a:ext>
            </a:extLst>
          </p:cNvPr>
          <p:cNvSpPr txBox="1"/>
          <p:nvPr/>
        </p:nvSpPr>
        <p:spPr>
          <a:xfrm>
            <a:off x="11353800" y="7772400"/>
            <a:ext cx="4064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Tree>
    <p:extLst>
      <p:ext uri="{BB962C8B-B14F-4D97-AF65-F5344CB8AC3E}">
        <p14:creationId xmlns:p14="http://schemas.microsoft.com/office/powerpoint/2010/main" val="416525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59D404-AD8E-453E-A363-5C1A3D63244A}"/>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2A947CD9-479B-4CBB-B4CE-784D2940D458}"/>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F2D78F"/>
                </a:solidFill>
                <a:latin typeface="Aptos"/>
              </a:rPr>
              <a:t>DEPTH BEHIND THE EXPERIENCE</a:t>
            </a:r>
          </a:p>
        </p:txBody>
      </p:sp>
      <p:sp>
        <p:nvSpPr>
          <p:cNvPr id="4" name="TextBox 3">
            <a:extLst>
              <a:ext uri="{FF2B5EF4-FFF2-40B4-BE49-F238E27FC236}">
                <a16:creationId xmlns:a16="http://schemas.microsoft.com/office/drawing/2014/main" id="{C76CD21A-AB15-4987-BF4E-987B14296503}"/>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PRODUCT SHOWCASE  /  19 OCTOBER 2026</a:t>
            </a:r>
          </a:p>
        </p:txBody>
      </p:sp>
      <p:sp>
        <p:nvSpPr>
          <p:cNvPr id="5" name="TextBox 4">
            <a:extLst>
              <a:ext uri="{FF2B5EF4-FFF2-40B4-BE49-F238E27FC236}">
                <a16:creationId xmlns:a16="http://schemas.microsoft.com/office/drawing/2014/main" id="{FC82CEAC-4E31-4847-90A3-041597C2BC29}"/>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F2D78F"/>
                </a:solidFill>
                <a:latin typeface="Aptos"/>
              </a:rPr>
              <a:t>08</a:t>
            </a:r>
          </a:p>
        </p:txBody>
      </p:sp>
      <p:sp>
        <p:nvSpPr>
          <p:cNvPr id="6" name="TextBox 5">
            <a:extLst>
              <a:ext uri="{FF2B5EF4-FFF2-40B4-BE49-F238E27FC236}">
                <a16:creationId xmlns:a16="http://schemas.microsoft.com/office/drawing/2014/main" id="{AA27C09D-8D8B-49C4-AB48-25617B451A45}"/>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F5F1E8"/>
                </a:solidFill>
                <a:latin typeface="Georgia" panose="02040502050405020303" pitchFamily="18" charset="0"/>
              </a:rPr>
              <a:t>Enough depth to explore</a:t>
            </a:r>
          </a:p>
        </p:txBody>
      </p:sp>
      <p:sp>
        <p:nvSpPr>
          <p:cNvPr id="7" name="TextBox 6">
            <a:extLst>
              <a:ext uri="{FF2B5EF4-FFF2-40B4-BE49-F238E27FC236}">
                <a16:creationId xmlns:a16="http://schemas.microsoft.com/office/drawing/2014/main" id="{AE0AA504-84BA-4F2D-9AB7-03A108E90B3E}"/>
              </a:ext>
            </a:extLst>
          </p:cNvPr>
          <p:cNvSpPr txBox="1"/>
          <p:nvPr/>
        </p:nvSpPr>
        <p:spPr>
          <a:xfrm>
            <a:off x="812800" y="3060700"/>
            <a:ext cx="4381500" cy="1231106"/>
          </a:xfrm>
          <a:prstGeom prst="rect">
            <a:avLst/>
          </a:prstGeom>
          <a:noFill/>
        </p:spPr>
        <p:txBody>
          <a:bodyPr vert="horz" wrap="square" lIns="0" tIns="0" rIns="0" bIns="0" rtlCol="0">
            <a:spAutoFit/>
          </a:bodyPr>
          <a:lstStyle/>
          <a:p>
            <a:pPr>
              <a:spcAft>
                <a:spcPts val="600"/>
              </a:spcAft>
            </a:pPr>
            <a:r>
              <a:rPr lang="en-US" sz="8000">
                <a:solidFill>
                  <a:srgbClr val="F2D78F"/>
                </a:solidFill>
                <a:latin typeface="Georgia" panose="02040502050405020303" pitchFamily="18" charset="0"/>
              </a:rPr>
              <a:t>132</a:t>
            </a:r>
          </a:p>
        </p:txBody>
      </p:sp>
      <p:sp>
        <p:nvSpPr>
          <p:cNvPr id="8" name="TextBox 7">
            <a:extLst>
              <a:ext uri="{FF2B5EF4-FFF2-40B4-BE49-F238E27FC236}">
                <a16:creationId xmlns:a16="http://schemas.microsoft.com/office/drawing/2014/main" id="{7D43CB66-3819-4068-A171-FBED44B27C38}"/>
              </a:ext>
            </a:extLst>
          </p:cNvPr>
          <p:cNvSpPr txBox="1"/>
          <p:nvPr/>
        </p:nvSpPr>
        <p:spPr>
          <a:xfrm>
            <a:off x="812800" y="4660900"/>
            <a:ext cx="4381500" cy="430887"/>
          </a:xfrm>
          <a:prstGeom prst="rect">
            <a:avLst/>
          </a:prstGeom>
          <a:noFill/>
        </p:spPr>
        <p:txBody>
          <a:bodyPr vert="horz" wrap="square" lIns="0" tIns="0" rIns="0" bIns="0" rtlCol="0">
            <a:spAutoFit/>
          </a:bodyPr>
          <a:lstStyle/>
          <a:p>
            <a:pPr>
              <a:spcAft>
                <a:spcPts val="600"/>
              </a:spcAft>
            </a:pPr>
            <a:r>
              <a:rPr lang="en-US" sz="2800">
                <a:solidFill>
                  <a:srgbClr val="F5F1E8"/>
                </a:solidFill>
                <a:latin typeface="Aptos"/>
              </a:rPr>
              <a:t>horses</a:t>
            </a:r>
          </a:p>
        </p:txBody>
      </p:sp>
      <p:sp>
        <p:nvSpPr>
          <p:cNvPr id="9" name="TextBox 8">
            <a:extLst>
              <a:ext uri="{FF2B5EF4-FFF2-40B4-BE49-F238E27FC236}">
                <a16:creationId xmlns:a16="http://schemas.microsoft.com/office/drawing/2014/main" id="{80EB72A5-72A8-4811-937D-57CF0573E673}"/>
              </a:ext>
            </a:extLst>
          </p:cNvPr>
          <p:cNvSpPr txBox="1"/>
          <p:nvPr/>
        </p:nvSpPr>
        <p:spPr>
          <a:xfrm>
            <a:off x="5892800" y="3060700"/>
            <a:ext cx="4381500" cy="1231106"/>
          </a:xfrm>
          <a:prstGeom prst="rect">
            <a:avLst/>
          </a:prstGeom>
          <a:noFill/>
        </p:spPr>
        <p:txBody>
          <a:bodyPr vert="horz" wrap="square" lIns="0" tIns="0" rIns="0" bIns="0" rtlCol="0">
            <a:spAutoFit/>
          </a:bodyPr>
          <a:lstStyle/>
          <a:p>
            <a:pPr>
              <a:spcAft>
                <a:spcPts val="600"/>
              </a:spcAft>
            </a:pPr>
            <a:r>
              <a:rPr lang="en-US" sz="8000">
                <a:solidFill>
                  <a:srgbClr val="F2D78F"/>
                </a:solidFill>
                <a:latin typeface="Georgia" panose="02040502050405020303" pitchFamily="18" charset="0"/>
              </a:rPr>
              <a:t>306</a:t>
            </a:r>
          </a:p>
        </p:txBody>
      </p:sp>
      <p:sp>
        <p:nvSpPr>
          <p:cNvPr id="10" name="TextBox 9">
            <a:extLst>
              <a:ext uri="{FF2B5EF4-FFF2-40B4-BE49-F238E27FC236}">
                <a16:creationId xmlns:a16="http://schemas.microsoft.com/office/drawing/2014/main" id="{FD61408E-4EE3-4D3D-A733-F4C1D1A5CFEF}"/>
              </a:ext>
            </a:extLst>
          </p:cNvPr>
          <p:cNvSpPr txBox="1"/>
          <p:nvPr/>
        </p:nvSpPr>
        <p:spPr>
          <a:xfrm>
            <a:off x="5892800" y="4660900"/>
            <a:ext cx="4381500" cy="430887"/>
          </a:xfrm>
          <a:prstGeom prst="rect">
            <a:avLst/>
          </a:prstGeom>
          <a:noFill/>
        </p:spPr>
        <p:txBody>
          <a:bodyPr vert="horz" wrap="square" lIns="0" tIns="0" rIns="0" bIns="0" rtlCol="0">
            <a:spAutoFit/>
          </a:bodyPr>
          <a:lstStyle/>
          <a:p>
            <a:pPr>
              <a:spcAft>
                <a:spcPts val="600"/>
              </a:spcAft>
            </a:pPr>
            <a:r>
              <a:rPr lang="en-US" sz="2800">
                <a:solidFill>
                  <a:srgbClr val="F5F1E8"/>
                </a:solidFill>
                <a:latin typeface="Aptos"/>
              </a:rPr>
              <a:t>races</a:t>
            </a:r>
          </a:p>
        </p:txBody>
      </p:sp>
      <p:sp>
        <p:nvSpPr>
          <p:cNvPr id="11" name="TextBox 10">
            <a:extLst>
              <a:ext uri="{FF2B5EF4-FFF2-40B4-BE49-F238E27FC236}">
                <a16:creationId xmlns:a16="http://schemas.microsoft.com/office/drawing/2014/main" id="{64CA6FE9-36E0-49AE-8773-F727056ACA1C}"/>
              </a:ext>
            </a:extLst>
          </p:cNvPr>
          <p:cNvSpPr txBox="1"/>
          <p:nvPr/>
        </p:nvSpPr>
        <p:spPr>
          <a:xfrm>
            <a:off x="10972800" y="3060700"/>
            <a:ext cx="4470400" cy="1231106"/>
          </a:xfrm>
          <a:prstGeom prst="rect">
            <a:avLst/>
          </a:prstGeom>
          <a:noFill/>
        </p:spPr>
        <p:txBody>
          <a:bodyPr vert="horz" wrap="square" lIns="0" tIns="0" rIns="0" bIns="0" rtlCol="0">
            <a:spAutoFit/>
          </a:bodyPr>
          <a:lstStyle/>
          <a:p>
            <a:pPr>
              <a:spcAft>
                <a:spcPts val="600"/>
              </a:spcAft>
            </a:pPr>
            <a:r>
              <a:rPr lang="en-US" sz="8000">
                <a:solidFill>
                  <a:srgbClr val="F2D78F"/>
                </a:solidFill>
                <a:latin typeface="Georgia" panose="02040502050405020303" pitchFamily="18" charset="0"/>
              </a:rPr>
              <a:t>2,036</a:t>
            </a:r>
          </a:p>
        </p:txBody>
      </p:sp>
      <p:sp>
        <p:nvSpPr>
          <p:cNvPr id="12" name="TextBox 11">
            <a:extLst>
              <a:ext uri="{FF2B5EF4-FFF2-40B4-BE49-F238E27FC236}">
                <a16:creationId xmlns:a16="http://schemas.microsoft.com/office/drawing/2014/main" id="{2B351FF6-3ACD-40BB-9AC4-5F43165C2050}"/>
              </a:ext>
            </a:extLst>
          </p:cNvPr>
          <p:cNvSpPr txBox="1"/>
          <p:nvPr/>
        </p:nvSpPr>
        <p:spPr>
          <a:xfrm>
            <a:off x="10972800" y="4660900"/>
            <a:ext cx="4470400" cy="430887"/>
          </a:xfrm>
          <a:prstGeom prst="rect">
            <a:avLst/>
          </a:prstGeom>
          <a:noFill/>
        </p:spPr>
        <p:txBody>
          <a:bodyPr vert="horz" wrap="square" lIns="0" tIns="0" rIns="0" bIns="0" rtlCol="0">
            <a:spAutoFit/>
          </a:bodyPr>
          <a:lstStyle/>
          <a:p>
            <a:pPr>
              <a:spcAft>
                <a:spcPts val="600"/>
              </a:spcAft>
            </a:pPr>
            <a:r>
              <a:rPr lang="en-US" sz="2800">
                <a:solidFill>
                  <a:srgbClr val="F5F1E8"/>
                </a:solidFill>
                <a:latin typeface="Aptos"/>
              </a:rPr>
              <a:t>finishing records</a:t>
            </a:r>
          </a:p>
        </p:txBody>
      </p:sp>
      <p:sp>
        <p:nvSpPr>
          <p:cNvPr id="13" name="TextBox 12">
            <a:extLst>
              <a:ext uri="{FF2B5EF4-FFF2-40B4-BE49-F238E27FC236}">
                <a16:creationId xmlns:a16="http://schemas.microsoft.com/office/drawing/2014/main" id="{1697958F-105F-4C2A-B684-6DBFCB568685}"/>
              </a:ext>
            </a:extLst>
          </p:cNvPr>
          <p:cNvSpPr txBox="1"/>
          <p:nvPr/>
        </p:nvSpPr>
        <p:spPr>
          <a:xfrm>
            <a:off x="812800" y="6172200"/>
            <a:ext cx="14630400" cy="415498"/>
          </a:xfrm>
          <a:prstGeom prst="rect">
            <a:avLst/>
          </a:prstGeom>
          <a:noFill/>
        </p:spPr>
        <p:txBody>
          <a:bodyPr vert="horz" wrap="square" lIns="0" tIns="0" rIns="0" bIns="0" rtlCol="0">
            <a:spAutoFit/>
          </a:bodyPr>
          <a:lstStyle/>
          <a:p>
            <a:pPr>
              <a:spcAft>
                <a:spcPts val="600"/>
              </a:spcAft>
            </a:pPr>
            <a:r>
              <a:rPr lang="en-US" sz="2700">
                <a:solidFill>
                  <a:srgbClr val="F5F1E8"/>
                </a:solidFill>
                <a:latin typeface="Aptos"/>
              </a:rPr>
              <a:t>Varied programs, connections, histories and event relationships.</a:t>
            </a:r>
          </a:p>
        </p:txBody>
      </p:sp>
      <p:sp>
        <p:nvSpPr>
          <p:cNvPr id="14" name="TextBox 13">
            <a:extLst>
              <a:ext uri="{FF2B5EF4-FFF2-40B4-BE49-F238E27FC236}">
                <a16:creationId xmlns:a16="http://schemas.microsoft.com/office/drawing/2014/main" id="{54A7F2E3-CAED-4E83-ACB6-179FB4BFE25C}"/>
              </a:ext>
            </a:extLst>
          </p:cNvPr>
          <p:cNvSpPr txBox="1"/>
          <p:nvPr/>
        </p:nvSpPr>
        <p:spPr>
          <a:xfrm>
            <a:off x="812800" y="7721600"/>
            <a:ext cx="14630400" cy="261610"/>
          </a:xfrm>
          <a:prstGeom prst="rect">
            <a:avLst/>
          </a:prstGeom>
          <a:noFill/>
        </p:spPr>
        <p:txBody>
          <a:bodyPr vert="horz" wrap="square" lIns="0" tIns="0" rIns="0" bIns="0" rtlCol="0">
            <a:spAutoFit/>
          </a:bodyPr>
          <a:lstStyle/>
          <a:p>
            <a:pPr>
              <a:spcAft>
                <a:spcPts val="600"/>
              </a:spcAft>
            </a:pPr>
            <a:r>
              <a:rPr lang="en-US" sz="1700">
                <a:solidFill>
                  <a:srgbClr val="F2D78F"/>
                </a:solidFill>
                <a:latin typeface="Aptos"/>
              </a:rPr>
              <a:t>Generated showcase data / current local workspace totals</a:t>
            </a:r>
          </a:p>
        </p:txBody>
      </p:sp>
    </p:spTree>
    <p:extLst>
      <p:ext uri="{BB962C8B-B14F-4D97-AF65-F5344CB8AC3E}">
        <p14:creationId xmlns:p14="http://schemas.microsoft.com/office/powerpoint/2010/main" val="328109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37C485-1BF2-4B5A-BC36-9A236E8E4799}"/>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DA7A8471-DC6F-4254-8BDA-89D680FFFE5F}"/>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65746C"/>
                </a:solidFill>
                <a:latin typeface="Aptos"/>
              </a:rPr>
              <a:t>WHAT IS WORKING</a:t>
            </a:r>
          </a:p>
        </p:txBody>
      </p:sp>
      <p:sp>
        <p:nvSpPr>
          <p:cNvPr id="4" name="TextBox 3">
            <a:extLst>
              <a:ext uri="{FF2B5EF4-FFF2-40B4-BE49-F238E27FC236}">
                <a16:creationId xmlns:a16="http://schemas.microsoft.com/office/drawing/2014/main" id="{B55C6AF2-3EFB-4EA4-B7BF-47787B6B3B1F}"/>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PRODUCT SHOWCASE  /  19 OCTOBER 2026</a:t>
            </a:r>
          </a:p>
        </p:txBody>
      </p:sp>
      <p:sp>
        <p:nvSpPr>
          <p:cNvPr id="5" name="TextBox 4">
            <a:extLst>
              <a:ext uri="{FF2B5EF4-FFF2-40B4-BE49-F238E27FC236}">
                <a16:creationId xmlns:a16="http://schemas.microsoft.com/office/drawing/2014/main" id="{6A0E2A1B-7A3F-4BB5-A11B-80C13E90A9E7}"/>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65746C"/>
                </a:solidFill>
                <a:latin typeface="Aptos"/>
              </a:rPr>
              <a:t>09</a:t>
            </a:r>
          </a:p>
        </p:txBody>
      </p:sp>
      <p:sp>
        <p:nvSpPr>
          <p:cNvPr id="6" name="TextBox 5">
            <a:extLst>
              <a:ext uri="{FF2B5EF4-FFF2-40B4-BE49-F238E27FC236}">
                <a16:creationId xmlns:a16="http://schemas.microsoft.com/office/drawing/2014/main" id="{0ED31273-C3A8-4BB0-968E-34129DA9825A}"/>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600"/>
              </a:spcAft>
            </a:pPr>
            <a:r>
              <a:rPr lang="en-US" sz="3600">
                <a:solidFill>
                  <a:srgbClr val="103B2F"/>
                </a:solidFill>
                <a:latin typeface="Georgia" panose="02040502050405020303" pitchFamily="18" charset="0"/>
              </a:rPr>
              <a:t>The core journey is working</a:t>
            </a:r>
          </a:p>
        </p:txBody>
      </p:sp>
      <p:pic>
        <p:nvPicPr>
          <p:cNvPr id="8" name="Picture 7" descr="Actual saved mobile interface: 10-results.png; captured 18 October 2026. Cropped for slide layout.">
            <a:extLst>
              <a:ext uri="{FF2B5EF4-FFF2-40B4-BE49-F238E27FC236}">
                <a16:creationId xmlns:a16="http://schemas.microsoft.com/office/drawing/2014/main" id="{3F68B070-5A6F-4CDB-B950-97211A3439BD}"/>
              </a:ext>
            </a:extLst>
          </p:cNvPr>
          <p:cNvPicPr>
            <a:picLocks noChangeAspect="1"/>
          </p:cNvPicPr>
          <p:nvPr/>
        </p:nvPicPr>
        <p:blipFill rotWithShape="1">
          <a:blip r:embed="rId3">
            <a:extLst>
              <a:ext uri="{28A0092B-C50C-407E-A947-70E740481C1C}">
                <a14:useLocalDpi xmlns:a14="http://schemas.microsoft.com/office/drawing/2010/main" val="0"/>
              </a:ext>
            </a:extLst>
          </a:blip>
          <a:srcRect b="24473"/>
          <a:stretch/>
        </p:blipFill>
        <p:spPr>
          <a:xfrm>
            <a:off x="965200" y="2209800"/>
            <a:ext cx="3683000" cy="6019800"/>
          </a:xfrm>
          <a:prstGeom prst="rect">
            <a:avLst/>
          </a:prstGeom>
          <a:ln w="7620">
            <a:solidFill>
              <a:srgbClr val="D9DED6"/>
            </a:solidFill>
          </a:ln>
        </p:spPr>
      </p:pic>
      <p:sp>
        <p:nvSpPr>
          <p:cNvPr id="9" name="TextBox 8">
            <a:extLst>
              <a:ext uri="{FF2B5EF4-FFF2-40B4-BE49-F238E27FC236}">
                <a16:creationId xmlns:a16="http://schemas.microsoft.com/office/drawing/2014/main" id="{16FEE6FB-BA20-4F16-B5BE-F9E65381F41B}"/>
              </a:ext>
            </a:extLst>
          </p:cNvPr>
          <p:cNvSpPr txBox="1"/>
          <p:nvPr/>
        </p:nvSpPr>
        <p:spPr>
          <a:xfrm>
            <a:off x="965200" y="8293100"/>
            <a:ext cx="4953000" cy="169277"/>
          </a:xfrm>
          <a:prstGeom prst="rect">
            <a:avLst/>
          </a:prstGeom>
          <a:noFill/>
        </p:spPr>
        <p:txBody>
          <a:bodyPr vert="horz" wrap="square" lIns="0" tIns="0" rIns="0" bIns="0" rtlCol="0">
            <a:spAutoFit/>
          </a:bodyPr>
          <a:lstStyle/>
          <a:p>
            <a:pPr>
              <a:spcAft>
                <a:spcPts val="600"/>
              </a:spcAft>
            </a:pPr>
            <a:r>
              <a:rPr lang="en-US" sz="1100">
                <a:solidFill>
                  <a:srgbClr val="65746C"/>
                </a:solidFill>
                <a:latin typeface="Aptos"/>
              </a:rPr>
              <a:t>SAVED MOBILE INTERFACE / 18 OCT 2026</a:t>
            </a:r>
          </a:p>
        </p:txBody>
      </p:sp>
      <p:sp>
        <p:nvSpPr>
          <p:cNvPr id="10" name="TextBox 9">
            <a:extLst>
              <a:ext uri="{FF2B5EF4-FFF2-40B4-BE49-F238E27FC236}">
                <a16:creationId xmlns:a16="http://schemas.microsoft.com/office/drawing/2014/main" id="{F9CCFCD2-EC85-4163-A5F2-7BE603EE9893}"/>
              </a:ext>
            </a:extLst>
          </p:cNvPr>
          <p:cNvSpPr txBox="1"/>
          <p:nvPr/>
        </p:nvSpPr>
        <p:spPr>
          <a:xfrm>
            <a:off x="5969000" y="2679700"/>
            <a:ext cx="9271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Connected racing information</a:t>
            </a:r>
          </a:p>
        </p:txBody>
      </p:sp>
      <p:sp>
        <p:nvSpPr>
          <p:cNvPr id="11" name="TextBox 10">
            <a:extLst>
              <a:ext uri="{FF2B5EF4-FFF2-40B4-BE49-F238E27FC236}">
                <a16:creationId xmlns:a16="http://schemas.microsoft.com/office/drawing/2014/main" id="{2BF85F00-B94F-493D-A0AD-34F5783B1842}"/>
              </a:ext>
            </a:extLst>
          </p:cNvPr>
          <p:cNvSpPr txBox="1"/>
          <p:nvPr/>
        </p:nvSpPr>
        <p:spPr>
          <a:xfrm>
            <a:off x="5969000" y="3454400"/>
            <a:ext cx="9271000" cy="338554"/>
          </a:xfrm>
          <a:prstGeom prst="rect">
            <a:avLst/>
          </a:prstGeom>
          <a:noFill/>
        </p:spPr>
        <p:txBody>
          <a:bodyPr vert="horz" wrap="square" lIns="0" tIns="0" rIns="0" bIns="0" rtlCol="0">
            <a:spAutoFit/>
          </a:bodyPr>
          <a:lstStyle/>
          <a:p>
            <a:pPr>
              <a:spcAft>
                <a:spcPts val="600"/>
              </a:spcAft>
            </a:pPr>
            <a:r>
              <a:rPr lang="en-US" sz="2200">
                <a:solidFill>
                  <a:srgbClr val="103B2F"/>
                </a:solidFill>
                <a:latin typeface="Aptos"/>
              </a:rPr>
              <a:t>Programs, profiles, form and results.</a:t>
            </a:r>
          </a:p>
        </p:txBody>
      </p:sp>
      <p:sp>
        <p:nvSpPr>
          <p:cNvPr id="12" name="TextBox 11">
            <a:extLst>
              <a:ext uri="{FF2B5EF4-FFF2-40B4-BE49-F238E27FC236}">
                <a16:creationId xmlns:a16="http://schemas.microsoft.com/office/drawing/2014/main" id="{96E9187A-4243-44FB-8926-680BDF206438}"/>
              </a:ext>
            </a:extLst>
          </p:cNvPr>
          <p:cNvSpPr txBox="1"/>
          <p:nvPr/>
        </p:nvSpPr>
        <p:spPr>
          <a:xfrm>
            <a:off x="5969000" y="4635500"/>
            <a:ext cx="9271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Account and access flow</a:t>
            </a:r>
          </a:p>
        </p:txBody>
      </p:sp>
      <p:sp>
        <p:nvSpPr>
          <p:cNvPr id="13" name="TextBox 12">
            <a:extLst>
              <a:ext uri="{FF2B5EF4-FFF2-40B4-BE49-F238E27FC236}">
                <a16:creationId xmlns:a16="http://schemas.microsoft.com/office/drawing/2014/main" id="{50DE7BB2-440E-48E7-BD47-1961A9063E07}"/>
              </a:ext>
            </a:extLst>
          </p:cNvPr>
          <p:cNvSpPr txBox="1"/>
          <p:nvPr/>
        </p:nvSpPr>
        <p:spPr>
          <a:xfrm>
            <a:off x="5969000" y="5410200"/>
            <a:ext cx="9271000" cy="338554"/>
          </a:xfrm>
          <a:prstGeom prst="rect">
            <a:avLst/>
          </a:prstGeom>
          <a:noFill/>
        </p:spPr>
        <p:txBody>
          <a:bodyPr vert="horz" wrap="square" lIns="0" tIns="0" rIns="0" bIns="0" rtlCol="0">
            <a:spAutoFit/>
          </a:bodyPr>
          <a:lstStyle/>
          <a:p>
            <a:pPr>
              <a:spcAft>
                <a:spcPts val="600"/>
              </a:spcAft>
            </a:pPr>
            <a:r>
              <a:rPr lang="en-US" sz="2200">
                <a:solidFill>
                  <a:srgbClr val="103B2F"/>
                </a:solidFill>
                <a:latin typeface="Aptos"/>
              </a:rPr>
              <a:t>Sign-in, membership activation and favorites.</a:t>
            </a:r>
          </a:p>
        </p:txBody>
      </p:sp>
      <p:sp>
        <p:nvSpPr>
          <p:cNvPr id="14" name="TextBox 13">
            <a:extLst>
              <a:ext uri="{FF2B5EF4-FFF2-40B4-BE49-F238E27FC236}">
                <a16:creationId xmlns:a16="http://schemas.microsoft.com/office/drawing/2014/main" id="{F98E99F4-9C0A-46D4-8E66-252AC65CA428}"/>
              </a:ext>
            </a:extLst>
          </p:cNvPr>
          <p:cNvSpPr txBox="1"/>
          <p:nvPr/>
        </p:nvSpPr>
        <p:spPr>
          <a:xfrm>
            <a:off x="5969000" y="6591300"/>
            <a:ext cx="9271000" cy="446276"/>
          </a:xfrm>
          <a:prstGeom prst="rect">
            <a:avLst/>
          </a:prstGeom>
          <a:noFill/>
        </p:spPr>
        <p:txBody>
          <a:bodyPr vert="horz" wrap="square" lIns="0" tIns="0" rIns="0" bIns="0" rtlCol="0">
            <a:spAutoFit/>
          </a:bodyPr>
          <a:lstStyle/>
          <a:p>
            <a:pPr>
              <a:spcAft>
                <a:spcPts val="600"/>
              </a:spcAft>
            </a:pPr>
            <a:r>
              <a:rPr lang="en-US" sz="2900">
                <a:solidFill>
                  <a:srgbClr val="103B2F"/>
                </a:solidFill>
                <a:latin typeface="Georgia" panose="02040502050405020303" pitchFamily="18" charset="0"/>
              </a:rPr>
              <a:t>Verified locally</a:t>
            </a:r>
          </a:p>
        </p:txBody>
      </p:sp>
      <p:sp>
        <p:nvSpPr>
          <p:cNvPr id="15" name="TextBox 14">
            <a:extLst>
              <a:ext uri="{FF2B5EF4-FFF2-40B4-BE49-F238E27FC236}">
                <a16:creationId xmlns:a16="http://schemas.microsoft.com/office/drawing/2014/main" id="{D1BAEA96-860B-4D69-8DD1-8F74603235C1}"/>
              </a:ext>
            </a:extLst>
          </p:cNvPr>
          <p:cNvSpPr txBox="1"/>
          <p:nvPr/>
        </p:nvSpPr>
        <p:spPr>
          <a:xfrm>
            <a:off x="5969000" y="7366000"/>
            <a:ext cx="9271000" cy="323165"/>
          </a:xfrm>
          <a:prstGeom prst="rect">
            <a:avLst/>
          </a:prstGeom>
          <a:noFill/>
        </p:spPr>
        <p:txBody>
          <a:bodyPr vert="horz" wrap="square" lIns="0" tIns="0" rIns="0" bIns="0" rtlCol="0">
            <a:spAutoFit/>
          </a:bodyPr>
          <a:lstStyle/>
          <a:p>
            <a:pPr>
              <a:spcAft>
                <a:spcPts val="600"/>
              </a:spcAft>
            </a:pPr>
            <a:r>
              <a:rPr lang="en-US" sz="2100">
                <a:solidFill>
                  <a:srgbClr val="65746C"/>
                </a:solidFill>
                <a:latin typeface="Aptos"/>
              </a:rPr>
              <a:t>Production build and end-to-end account checks passed.</a:t>
            </a:r>
          </a:p>
        </p:txBody>
      </p:sp>
    </p:spTree>
    <p:extLst>
      <p:ext uri="{BB962C8B-B14F-4D97-AF65-F5344CB8AC3E}">
        <p14:creationId xmlns:p14="http://schemas.microsoft.com/office/powerpoint/2010/main" val="316942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D83D5-9D42-4A14-B585-B1BBE0AA26DE}"/>
              </a:ext>
            </a:extLst>
          </p:cNvPr>
          <p:cNvSpPr txBox="1"/>
          <p:nvPr/>
        </p:nvSpPr>
        <p:spPr>
          <a:xfrm>
            <a:off x="812800" y="330200"/>
            <a:ext cx="3175000" cy="276999"/>
          </a:xfrm>
          <a:prstGeom prst="rect">
            <a:avLst/>
          </a:prstGeom>
          <a:noFill/>
        </p:spPr>
        <p:txBody>
          <a:bodyPr vert="horz" wrap="square" lIns="0" tIns="0" rIns="0" bIns="0" rtlCol="0">
            <a:spAutoFit/>
          </a:bodyPr>
          <a:lstStyle/>
          <a:p>
            <a:pPr>
              <a:spcAft>
                <a:spcPts val="6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D7949B29-F422-4997-BBB1-87FB657A59F1}"/>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600"/>
              </a:spcAft>
            </a:pPr>
            <a:r>
              <a:rPr lang="en-US" sz="1200">
                <a:solidFill>
                  <a:srgbClr val="F2D78F"/>
                </a:solidFill>
                <a:latin typeface="Aptos"/>
              </a:rPr>
              <a:t>THE NEXT DECISION</a:t>
            </a:r>
          </a:p>
        </p:txBody>
      </p:sp>
      <p:sp>
        <p:nvSpPr>
          <p:cNvPr id="4" name="TextBox 3">
            <a:extLst>
              <a:ext uri="{FF2B5EF4-FFF2-40B4-BE49-F238E27FC236}">
                <a16:creationId xmlns:a16="http://schemas.microsoft.com/office/drawing/2014/main" id="{6E90C5C2-682A-4F2C-BCAD-F996CD0E9F40}"/>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600"/>
              </a:spcAft>
            </a:pPr>
            <a:r>
              <a:rPr lang="en-US" sz="1100">
                <a:solidFill>
                  <a:srgbClr val="F2D78F"/>
                </a:solidFill>
                <a:latin typeface="Aptos"/>
              </a:rPr>
              <a:t>PRODUCT SHOWCASE  /  19 OCTOBER 2026</a:t>
            </a:r>
          </a:p>
        </p:txBody>
      </p:sp>
      <p:sp>
        <p:nvSpPr>
          <p:cNvPr id="5" name="TextBox 4">
            <a:extLst>
              <a:ext uri="{FF2B5EF4-FFF2-40B4-BE49-F238E27FC236}">
                <a16:creationId xmlns:a16="http://schemas.microsoft.com/office/drawing/2014/main" id="{DC5626E0-9296-4BC6-AC9F-82C571917D5F}"/>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600"/>
              </a:spcAft>
            </a:pPr>
            <a:r>
              <a:rPr lang="en-US" sz="1400">
                <a:solidFill>
                  <a:srgbClr val="F2D78F"/>
                </a:solidFill>
                <a:latin typeface="Aptos"/>
              </a:rPr>
              <a:t>10</a:t>
            </a:r>
          </a:p>
        </p:txBody>
      </p:sp>
      <p:sp>
        <p:nvSpPr>
          <p:cNvPr id="6" name="TextBox 5">
            <a:extLst>
              <a:ext uri="{FF2B5EF4-FFF2-40B4-BE49-F238E27FC236}">
                <a16:creationId xmlns:a16="http://schemas.microsoft.com/office/drawing/2014/main" id="{EF1E35B8-BAD6-425B-8462-4DE141AFF07E}"/>
              </a:ext>
            </a:extLst>
          </p:cNvPr>
          <p:cNvSpPr txBox="1"/>
          <p:nvPr/>
        </p:nvSpPr>
        <p:spPr>
          <a:xfrm>
            <a:off x="812800" y="1778000"/>
            <a:ext cx="14224000" cy="1800493"/>
          </a:xfrm>
          <a:prstGeom prst="rect">
            <a:avLst/>
          </a:prstGeom>
          <a:noFill/>
        </p:spPr>
        <p:txBody>
          <a:bodyPr vert="horz" wrap="square" lIns="0" tIns="0" rIns="0" bIns="0" rtlCol="0">
            <a:spAutoFit/>
          </a:bodyPr>
          <a:lstStyle/>
          <a:p>
            <a:pPr>
              <a:spcAft>
                <a:spcPts val="600"/>
              </a:spcAft>
            </a:pPr>
            <a:r>
              <a:rPr lang="en-US" sz="5600">
                <a:solidFill>
                  <a:srgbClr val="F5F1E8"/>
                </a:solidFill>
                <a:latin typeface="Georgia" panose="02040502050405020303" pitchFamily="18" charset="0"/>
              </a:rPr>
              <a:t>Move into a
controlled pilot.</a:t>
            </a:r>
          </a:p>
        </p:txBody>
      </p:sp>
      <p:sp>
        <p:nvSpPr>
          <p:cNvPr id="7" name="TextBox 6">
            <a:extLst>
              <a:ext uri="{FF2B5EF4-FFF2-40B4-BE49-F238E27FC236}">
                <a16:creationId xmlns:a16="http://schemas.microsoft.com/office/drawing/2014/main" id="{F4BA47ED-70E3-45F3-BBF4-4490077C67CD}"/>
              </a:ext>
            </a:extLst>
          </p:cNvPr>
          <p:cNvSpPr txBox="1"/>
          <p:nvPr/>
        </p:nvSpPr>
        <p:spPr>
          <a:xfrm>
            <a:off x="863600" y="4648200"/>
            <a:ext cx="13970000" cy="415498"/>
          </a:xfrm>
          <a:prstGeom prst="rect">
            <a:avLst/>
          </a:prstGeom>
          <a:noFill/>
        </p:spPr>
        <p:txBody>
          <a:bodyPr vert="horz" wrap="square" lIns="0" tIns="0" rIns="0" bIns="0" rtlCol="0">
            <a:spAutoFit/>
          </a:bodyPr>
          <a:lstStyle/>
          <a:p>
            <a:pPr>
              <a:spcAft>
                <a:spcPts val="600"/>
              </a:spcAft>
            </a:pPr>
            <a:r>
              <a:rPr lang="en-US" sz="2700">
                <a:solidFill>
                  <a:srgbClr val="F5F1E8"/>
                </a:solidFill>
                <a:latin typeface="Aptos"/>
              </a:rPr>
              <a:t>01  Authorize the racing data source.</a:t>
            </a:r>
          </a:p>
        </p:txBody>
      </p:sp>
      <p:sp>
        <p:nvSpPr>
          <p:cNvPr id="8" name="TextBox 7">
            <a:extLst>
              <a:ext uri="{FF2B5EF4-FFF2-40B4-BE49-F238E27FC236}">
                <a16:creationId xmlns:a16="http://schemas.microsoft.com/office/drawing/2014/main" id="{682DF1C1-8433-44A7-AD69-087D0199421A}"/>
              </a:ext>
            </a:extLst>
          </p:cNvPr>
          <p:cNvSpPr txBox="1"/>
          <p:nvPr/>
        </p:nvSpPr>
        <p:spPr>
          <a:xfrm>
            <a:off x="863600" y="5613400"/>
            <a:ext cx="13970000" cy="415498"/>
          </a:xfrm>
          <a:prstGeom prst="rect">
            <a:avLst/>
          </a:prstGeom>
          <a:noFill/>
        </p:spPr>
        <p:txBody>
          <a:bodyPr vert="horz" wrap="square" lIns="0" tIns="0" rIns="0" bIns="0" rtlCol="0">
            <a:spAutoFit/>
          </a:bodyPr>
          <a:lstStyle/>
          <a:p>
            <a:pPr>
              <a:spcAft>
                <a:spcPts val="600"/>
              </a:spcAft>
            </a:pPr>
            <a:r>
              <a:rPr lang="en-US" sz="2700">
                <a:solidFill>
                  <a:srgbClr val="F5F1E8"/>
                </a:solidFill>
                <a:latin typeface="Aptos"/>
              </a:rPr>
              <a:t>02  Assign payment and deployment owners.</a:t>
            </a:r>
          </a:p>
        </p:txBody>
      </p:sp>
      <p:sp>
        <p:nvSpPr>
          <p:cNvPr id="9" name="TextBox 8">
            <a:extLst>
              <a:ext uri="{FF2B5EF4-FFF2-40B4-BE49-F238E27FC236}">
                <a16:creationId xmlns:a16="http://schemas.microsoft.com/office/drawing/2014/main" id="{E70AA195-F869-4D09-95DC-590F500FC99B}"/>
              </a:ext>
            </a:extLst>
          </p:cNvPr>
          <p:cNvSpPr txBox="1"/>
          <p:nvPr/>
        </p:nvSpPr>
        <p:spPr>
          <a:xfrm>
            <a:off x="863600" y="6578600"/>
            <a:ext cx="13970000" cy="415498"/>
          </a:xfrm>
          <a:prstGeom prst="rect">
            <a:avLst/>
          </a:prstGeom>
          <a:noFill/>
        </p:spPr>
        <p:txBody>
          <a:bodyPr vert="horz" wrap="square" lIns="0" tIns="0" rIns="0" bIns="0" rtlCol="0">
            <a:spAutoFit/>
          </a:bodyPr>
          <a:lstStyle/>
          <a:p>
            <a:pPr>
              <a:spcAft>
                <a:spcPts val="600"/>
              </a:spcAft>
            </a:pPr>
            <a:r>
              <a:rPr lang="en-US" sz="2700">
                <a:solidFill>
                  <a:srgbClr val="F5F1E8"/>
                </a:solidFill>
                <a:latin typeface="Aptos"/>
              </a:rPr>
              <a:t>03  Agree on pilot scope and success measures.</a:t>
            </a:r>
          </a:p>
        </p:txBody>
      </p:sp>
      <p:sp>
        <p:nvSpPr>
          <p:cNvPr id="10" name="TextBox 9">
            <a:hlinkClick r:id="rId3"/>
            <a:extLst>
              <a:ext uri="{FF2B5EF4-FFF2-40B4-BE49-F238E27FC236}">
                <a16:creationId xmlns:a16="http://schemas.microsoft.com/office/drawing/2014/main" id="{E685BF48-628B-439F-8136-62D4689ECD9E}"/>
              </a:ext>
            </a:extLst>
          </p:cNvPr>
          <p:cNvSpPr txBox="1"/>
          <p:nvPr/>
        </p:nvSpPr>
        <p:spPr>
          <a:xfrm>
            <a:off x="863600" y="7848600"/>
            <a:ext cx="13970000" cy="323165"/>
          </a:xfrm>
          <a:prstGeom prst="rect">
            <a:avLst/>
          </a:prstGeom>
          <a:noFill/>
        </p:spPr>
        <p:txBody>
          <a:bodyPr vert="horz" wrap="square" lIns="0" tIns="0" rIns="0" bIns="0" rtlCol="0">
            <a:spAutoFit/>
          </a:bodyPr>
          <a:lstStyle/>
          <a:p>
            <a:pPr>
              <a:spcAft>
                <a:spcPts val="600"/>
              </a:spcAft>
            </a:pPr>
            <a:r>
              <a:rPr lang="en-US" sz="2100">
                <a:solidFill>
                  <a:srgbClr val="F2D78F"/>
                </a:solidFill>
                <a:latin typeface="Aptos"/>
              </a:rPr>
              <a:t>Explore JOCKEY: dev6.comclark.com</a:t>
            </a:r>
          </a:p>
        </p:txBody>
      </p:sp>
    </p:spTree>
    <p:extLst>
      <p:ext uri="{BB962C8B-B14F-4D97-AF65-F5344CB8AC3E}">
        <p14:creationId xmlns:p14="http://schemas.microsoft.com/office/powerpoint/2010/main" val="1686888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2031</Words>
  <Application>Microsoft Office PowerPoint</Application>
  <PresentationFormat>Custom</PresentationFormat>
  <Paragraphs>214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Manlapaz</dc:creator>
  <cp:lastModifiedBy>Ken Manlapaz</cp:lastModifiedBy>
  <cp:revision>1</cp:revision>
  <dcterms:created xsi:type="dcterms:W3CDTF">2026-10-19T01:30:06Z</dcterms:created>
  <dcterms:modified xsi:type="dcterms:W3CDTF">2026-10-19T01:30:06Z</dcterms:modified>
</cp:coreProperties>
</file>