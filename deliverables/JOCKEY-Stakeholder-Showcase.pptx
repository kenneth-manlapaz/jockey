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8B57B6-74B3-470E-82B5-29531C3E2AAA}"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DF230F-98BD-4A90-AE62-E2BA831F9252}" type="slidenum">
              <a:rPr lang="en-US" smtClean="0"/>
              <a:t>‹#›</a:t>
            </a:fld>
            <a:endParaRPr lang="en-US"/>
          </a:p>
        </p:txBody>
      </p:sp>
    </p:spTree>
    <p:extLst>
      <p:ext uri="{BB962C8B-B14F-4D97-AF65-F5344CB8AC3E}">
        <p14:creationId xmlns:p14="http://schemas.microsoft.com/office/powerpoint/2010/main" val="42118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JOCKEY brings the racing calendar, programs, participant histories and published results into one membership experience. This showcase covers the implemented product, its access model and the decisions needed for a controlled launch.</a:t>
            </a:r>
          </a:p>
        </p:txBody>
      </p:sp>
      <p:sp>
        <p:nvSpPr>
          <p:cNvPr id="4" name="Slide Number Placeholder 3"/>
          <p:cNvSpPr>
            <a:spLocks noGrp="1"/>
          </p:cNvSpPr>
          <p:nvPr>
            <p:ph type="sldNum" sz="quarter" idx="5"/>
          </p:nvPr>
        </p:nvSpPr>
        <p:spPr/>
        <p:txBody>
          <a:bodyPr/>
          <a:lstStyle/>
          <a:p>
            <a:fld id="{97DF230F-98BD-4A90-AE62-E2BA831F9252}" type="slidenum">
              <a:rPr lang="en-US" smtClean="0"/>
              <a:t>1</a:t>
            </a:fld>
            <a:endParaRPr lang="en-US"/>
          </a:p>
        </p:txBody>
      </p:sp>
    </p:spTree>
    <p:extLst>
      <p:ext uri="{BB962C8B-B14F-4D97-AF65-F5344CB8AC3E}">
        <p14:creationId xmlns:p14="http://schemas.microsoft.com/office/powerpoint/2010/main" val="2682135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core experience follows a racing fan's practical questions: What is scheduled? Who is running? What does the recorded form show? What happened afterward? Calendar, program, horse and participant pages connect through permanent records, so users can move between these questions without starting a new search.
[Sources]
RECONSTRUCTION.md: implemented calendar, programs, permanent profiles and results.
SETUP.md: current membership access policy.
[/Sources]</a:t>
            </a:r>
          </a:p>
        </p:txBody>
      </p:sp>
      <p:sp>
        <p:nvSpPr>
          <p:cNvPr id="4" name="Slide Number Placeholder 3"/>
          <p:cNvSpPr>
            <a:spLocks noGrp="1"/>
          </p:cNvSpPr>
          <p:nvPr>
            <p:ph type="sldNum" sz="quarter" idx="5"/>
          </p:nvPr>
        </p:nvSpPr>
        <p:spPr/>
        <p:txBody>
          <a:bodyPr/>
          <a:lstStyle/>
          <a:p>
            <a:fld id="{97DF230F-98BD-4A90-AE62-E2BA831F9252}" type="slidenum">
              <a:rPr lang="en-US" smtClean="0"/>
              <a:t>2</a:t>
            </a:fld>
            <a:endParaRPr lang="en-US"/>
          </a:p>
        </p:txBody>
      </p:sp>
    </p:spTree>
    <p:extLst>
      <p:ext uri="{BB962C8B-B14F-4D97-AF65-F5344CB8AC3E}">
        <p14:creationId xmlns:p14="http://schemas.microsoft.com/office/powerpoint/2010/main" val="2774800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Calendar dates and meeting summaries are public. Race programs require a signed-in account with active membership. Multiple venues can appear on the same day, and empty dates remain explicit. Public discovery gives visitors a useful starting point before asking them to subscribe.
Live walkthrough: http://127.0.0.1:3000
[Sources]
SETUP.md: public calendar and protected racing programs.
RECONSTRUCTION.md: calendar navigation and meeting identity.
[/Sources]</a:t>
            </a:r>
          </a:p>
        </p:txBody>
      </p:sp>
      <p:sp>
        <p:nvSpPr>
          <p:cNvPr id="4" name="Slide Number Placeholder 3"/>
          <p:cNvSpPr>
            <a:spLocks noGrp="1"/>
          </p:cNvSpPr>
          <p:nvPr>
            <p:ph type="sldNum" sz="quarter" idx="5"/>
          </p:nvPr>
        </p:nvSpPr>
        <p:spPr/>
        <p:txBody>
          <a:bodyPr/>
          <a:lstStyle/>
          <a:p>
            <a:fld id="{97DF230F-98BD-4A90-AE62-E2BA831F9252}" type="slidenum">
              <a:rPr lang="en-US" smtClean="0"/>
              <a:t>3</a:t>
            </a:fld>
            <a:endParaRPr lang="en-US"/>
          </a:p>
        </p:txBody>
      </p:sp>
    </p:spTree>
    <p:extLst>
      <p:ext uri="{BB962C8B-B14F-4D97-AF65-F5344CB8AC3E}">
        <p14:creationId xmlns:p14="http://schemas.microsoft.com/office/powerpoint/2010/main" val="4093340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a meeting, select a race and follow a horse link. The program shows race conditions and declarations, then links to the history needed to understand the field. Comparable form uses recorded venue, surface and distance. Missing information stays unavailable rather than being filled with invented timing. Result publication preserves the original program.
[Sources]
RECONSTRUCTION.md: program fields, recent/comparable form and program retention.
[/Sources]</a:t>
            </a:r>
          </a:p>
        </p:txBody>
      </p:sp>
      <p:sp>
        <p:nvSpPr>
          <p:cNvPr id="4" name="Slide Number Placeholder 3"/>
          <p:cNvSpPr>
            <a:spLocks noGrp="1"/>
          </p:cNvSpPr>
          <p:nvPr>
            <p:ph type="sldNum" sz="quarter" idx="5"/>
          </p:nvPr>
        </p:nvSpPr>
        <p:spPr/>
        <p:txBody>
          <a:bodyPr/>
          <a:lstStyle/>
          <a:p>
            <a:fld id="{97DF230F-98BD-4A90-AE62-E2BA831F9252}" type="slidenum">
              <a:rPr lang="en-US" smtClean="0"/>
              <a:t>4</a:t>
            </a:fld>
            <a:endParaRPr lang="en-US"/>
          </a:p>
        </p:txBody>
      </p:sp>
    </p:spTree>
    <p:extLst>
      <p:ext uri="{BB962C8B-B14F-4D97-AF65-F5344CB8AC3E}">
        <p14:creationId xmlns:p14="http://schemas.microsoft.com/office/powerpoint/2010/main" val="1829218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Profiles help users explore beyond a single race. Recorded statistics reflect finishing records, while historical participation snapshots preserve who rode, trained and owned the horse at the time. Subsequent declaration changes do not rewrite those historical connections.
[Sources]
RECONSTRUCTION.md: profiles, directories and result participation snapshots.
[/Sources]</a:t>
            </a:r>
          </a:p>
        </p:txBody>
      </p:sp>
      <p:sp>
        <p:nvSpPr>
          <p:cNvPr id="4" name="Slide Number Placeholder 3"/>
          <p:cNvSpPr>
            <a:spLocks noGrp="1"/>
          </p:cNvSpPr>
          <p:nvPr>
            <p:ph type="sldNum" sz="quarter" idx="5"/>
          </p:nvPr>
        </p:nvSpPr>
        <p:spPr/>
        <p:txBody>
          <a:bodyPr/>
          <a:lstStyle/>
          <a:p>
            <a:fld id="{97DF230F-98BD-4A90-AE62-E2BA831F9252}" type="slidenum">
              <a:rPr lang="en-US" smtClean="0"/>
              <a:t>5</a:t>
            </a:fld>
            <a:endParaRPr lang="en-US"/>
          </a:p>
        </p:txBody>
      </p:sp>
    </p:spTree>
    <p:extLst>
      <p:ext uri="{BB962C8B-B14F-4D97-AF65-F5344CB8AC3E}">
        <p14:creationId xmlns:p14="http://schemas.microsoft.com/office/powerpoint/2010/main" val="505462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plans unlock the same protected racing information. Daily access lasts exactly 24 hours. Monthly access ends at the same Philippine local time in the next calendar month, with shorter months clamped to their last day. Prices are editable in admin. Renewals extend access after the existing period; there is no automatic renewal. The savings comparison is 30 x PHP 50 minus PHP 499, not a revenue forecast.
[Sources]
SETUP.md: plan prices, calendar-month validity, renewal and price configuration.
[/Sources]</a:t>
            </a:r>
          </a:p>
        </p:txBody>
      </p:sp>
      <p:sp>
        <p:nvSpPr>
          <p:cNvPr id="4" name="Slide Number Placeholder 3"/>
          <p:cNvSpPr>
            <a:spLocks noGrp="1"/>
          </p:cNvSpPr>
          <p:nvPr>
            <p:ph type="sldNum" sz="quarter" idx="5"/>
          </p:nvPr>
        </p:nvSpPr>
        <p:spPr/>
        <p:txBody>
          <a:bodyPr/>
          <a:lstStyle/>
          <a:p>
            <a:fld id="{97DF230F-98BD-4A90-AE62-E2BA831F9252}" type="slidenum">
              <a:rPr lang="en-US" smtClean="0"/>
              <a:t>6</a:t>
            </a:fld>
            <a:endParaRPr lang="en-US"/>
          </a:p>
        </p:txBody>
      </p:sp>
    </p:spTree>
    <p:extLst>
      <p:ext uri="{BB962C8B-B14F-4D97-AF65-F5344CB8AC3E}">
        <p14:creationId xmlns:p14="http://schemas.microsoft.com/office/powerpoint/2010/main" val="1147960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intended destination and selected plan carry through authentication. Checkout opens in an embedded frame, and confirmation is validated against the signed-in account and checkout record. The current no-charge flow demonstrates activation and access expiry. A real provider and verified server-side payment confirmation remain necessary before accepting payment.
Live walkthrough: http://127.0.0.1:3000/subscribe
[Sources]
SETUP.md: membership walkthrough and payment integration boundary.
[/Sources]</a:t>
            </a:r>
          </a:p>
        </p:txBody>
      </p:sp>
      <p:sp>
        <p:nvSpPr>
          <p:cNvPr id="4" name="Slide Number Placeholder 3"/>
          <p:cNvSpPr>
            <a:spLocks noGrp="1"/>
          </p:cNvSpPr>
          <p:nvPr>
            <p:ph type="sldNum" sz="quarter" idx="5"/>
          </p:nvPr>
        </p:nvSpPr>
        <p:spPr/>
        <p:txBody>
          <a:bodyPr/>
          <a:lstStyle/>
          <a:p>
            <a:fld id="{97DF230F-98BD-4A90-AE62-E2BA831F9252}" type="slidenum">
              <a:rPr lang="en-US" smtClean="0"/>
              <a:t>7</a:t>
            </a:fld>
            <a:endParaRPr lang="en-US"/>
          </a:p>
        </p:txBody>
      </p:sp>
    </p:spTree>
    <p:extLst>
      <p:ext uri="{BB962C8B-B14F-4D97-AF65-F5344CB8AC3E}">
        <p14:creationId xmlns:p14="http://schemas.microsoft.com/office/powerpoint/2010/main" val="809567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figures describe generated records in the current workspace, not live racing coverage, customers or traction. The expanded seed provides varied horses, riders, trainers, owners, six- and eight-race programs, individual times and published event relationships. A fresh database receives 128 newly seeded horses; the workspace total includes earlier retained records. The repeatable seed supports another configured database without manually re-entering the showcase data.
[Sources]
SETUP.md: seed scope, current workspace counts and fresh-database distinction.
[/Sources]</a:t>
            </a:r>
          </a:p>
        </p:txBody>
      </p:sp>
      <p:sp>
        <p:nvSpPr>
          <p:cNvPr id="4" name="Slide Number Placeholder 3"/>
          <p:cNvSpPr>
            <a:spLocks noGrp="1"/>
          </p:cNvSpPr>
          <p:nvPr>
            <p:ph type="sldNum" sz="quarter" idx="5"/>
          </p:nvPr>
        </p:nvSpPr>
        <p:spPr/>
        <p:txBody>
          <a:bodyPr/>
          <a:lstStyle/>
          <a:p>
            <a:fld id="{97DF230F-98BD-4A90-AE62-E2BA831F9252}" type="slidenum">
              <a:rPr lang="en-US" smtClean="0"/>
              <a:t>8</a:t>
            </a:fld>
            <a:endParaRPr lang="en-US"/>
          </a:p>
        </p:txBody>
      </p:sp>
    </p:spTree>
    <p:extLst>
      <p:ext uri="{BB962C8B-B14F-4D97-AF65-F5344CB8AC3E}">
        <p14:creationId xmlns:p14="http://schemas.microsoft.com/office/powerpoint/2010/main" val="2976568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features support the intended customer journey; their impact on conversion and retention has not yet been measured. Education is public, favorites belong to the signed-in user, and the membership page explains the active access period. After a pilot, evaluate plan selection, checkout completion and repeat usage with appropriate analytics and consent.
[Sources]
SETUP.md: public learning guide and membership account flow.
RECONSTRUCTION.md: per-user favorites and authorization.
[/Sources]</a:t>
            </a:r>
          </a:p>
        </p:txBody>
      </p:sp>
      <p:sp>
        <p:nvSpPr>
          <p:cNvPr id="4" name="Slide Number Placeholder 3"/>
          <p:cNvSpPr>
            <a:spLocks noGrp="1"/>
          </p:cNvSpPr>
          <p:nvPr>
            <p:ph type="sldNum" sz="quarter" idx="5"/>
          </p:nvPr>
        </p:nvSpPr>
        <p:spPr/>
        <p:txBody>
          <a:bodyPr/>
          <a:lstStyle/>
          <a:p>
            <a:fld id="{97DF230F-98BD-4A90-AE62-E2BA831F9252}" type="slidenum">
              <a:rPr lang="en-US" smtClean="0"/>
              <a:t>9</a:t>
            </a:fld>
            <a:endParaRPr lang="en-US"/>
          </a:p>
        </p:txBody>
      </p:sp>
    </p:spTree>
    <p:extLst>
      <p:ext uri="{BB962C8B-B14F-4D97-AF65-F5344CB8AC3E}">
        <p14:creationId xmlns:p14="http://schemas.microsoft.com/office/powerpoint/2010/main" val="1653491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97 figure combines 82 existing frontend tests and 15 React DOM interaction tests. HTTP verification covered registration, login, checkout activation, gated APIs, subscriber server-rendered pages, favorites, refresh and logout. These are engineering checks, not proof of production availability or load capacity. Browser screenshots, physical-device QA and MariaDB deployment remain unverified.
[Sources]
SETUP.md: verification counts, HTTP workflow and QA limits.
[/Sources]</a:t>
            </a:r>
          </a:p>
        </p:txBody>
      </p:sp>
      <p:sp>
        <p:nvSpPr>
          <p:cNvPr id="4" name="Slide Number Placeholder 3"/>
          <p:cNvSpPr>
            <a:spLocks noGrp="1"/>
          </p:cNvSpPr>
          <p:nvPr>
            <p:ph type="sldNum" sz="quarter" idx="5"/>
          </p:nvPr>
        </p:nvSpPr>
        <p:spPr/>
        <p:txBody>
          <a:bodyPr/>
          <a:lstStyle/>
          <a:p>
            <a:fld id="{97DF230F-98BD-4A90-AE62-E2BA831F9252}" type="slidenum">
              <a:rPr lang="en-US" smtClean="0"/>
              <a:t>10</a:t>
            </a:fld>
            <a:endParaRPr lang="en-US"/>
          </a:p>
        </p:txBody>
      </p:sp>
    </p:spTree>
    <p:extLst>
      <p:ext uri="{BB962C8B-B14F-4D97-AF65-F5344CB8AC3E}">
        <p14:creationId xmlns:p14="http://schemas.microsoft.com/office/powerpoint/2010/main" val="3608297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authorized feed or managed import is needed for real schedules, declarations, results and dividends. The payment integration must validate provider confirmation, amount, currency and transaction reference before granting access. Deployment work includes the target database, HTTPS, secrets, backups and restoration, plus browser/device QA. Operator-specific event definitions require authoritative rules. The information membership workflow is separate from the existing betting and settlement implementation.
[Sources]
SETUP.md: deployment configuration and provider integration requirements.
RECONSTRUCTION.md: external data dependencies, operator rules and recovery process.
[/Sources]</a:t>
            </a:r>
          </a:p>
        </p:txBody>
      </p:sp>
      <p:sp>
        <p:nvSpPr>
          <p:cNvPr id="4" name="Slide Number Placeholder 3"/>
          <p:cNvSpPr>
            <a:spLocks noGrp="1"/>
          </p:cNvSpPr>
          <p:nvPr>
            <p:ph type="sldNum" sz="quarter" idx="5"/>
          </p:nvPr>
        </p:nvSpPr>
        <p:spPr/>
        <p:txBody>
          <a:bodyPr/>
          <a:lstStyle/>
          <a:p>
            <a:fld id="{97DF230F-98BD-4A90-AE62-E2BA831F9252}" type="slidenum">
              <a:rPr lang="en-US" smtClean="0"/>
              <a:t>11</a:t>
            </a:fld>
            <a:endParaRPr lang="en-US"/>
          </a:p>
        </p:txBody>
      </p:sp>
    </p:spTree>
    <p:extLst>
      <p:ext uri="{BB962C8B-B14F-4D97-AF65-F5344CB8AC3E}">
        <p14:creationId xmlns:p14="http://schemas.microsoft.com/office/powerpoint/2010/main" val="1717779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immediate stakeholder decision is whether to proceed with a controlled pilot and who owns its external dependencies. Proposed measures include subscription conversion, checkout completion, repeat usage and timely publication of verified racing records. No targets, launch date or commercial outcomes are claimed here. Use the live platform to review the customer journey before committing to a broader release.</a:t>
            </a:r>
          </a:p>
        </p:txBody>
      </p:sp>
      <p:sp>
        <p:nvSpPr>
          <p:cNvPr id="4" name="Slide Number Placeholder 3"/>
          <p:cNvSpPr>
            <a:spLocks noGrp="1"/>
          </p:cNvSpPr>
          <p:nvPr>
            <p:ph type="sldNum" sz="quarter" idx="5"/>
          </p:nvPr>
        </p:nvSpPr>
        <p:spPr/>
        <p:txBody>
          <a:bodyPr/>
          <a:lstStyle/>
          <a:p>
            <a:fld id="{97DF230F-98BD-4A90-AE62-E2BA831F9252}" type="slidenum">
              <a:rPr lang="en-US" smtClean="0"/>
              <a:t>12</a:t>
            </a:fld>
            <a:endParaRPr lang="en-US"/>
          </a:p>
        </p:txBody>
      </p:sp>
    </p:spTree>
    <p:extLst>
      <p:ext uri="{BB962C8B-B14F-4D97-AF65-F5344CB8AC3E}">
        <p14:creationId xmlns:p14="http://schemas.microsoft.com/office/powerpoint/2010/main" val="1157313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7460B-5FCF-4D68-B182-259E4C12F2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7B72B2-3435-4FEE-919D-A2E6DDAD93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230484-A963-44A0-A21F-98EE69CB0CB0}"/>
              </a:ext>
            </a:extLst>
          </p:cNvPr>
          <p:cNvSpPr>
            <a:spLocks noGrp="1"/>
          </p:cNvSpPr>
          <p:nvPr>
            <p:ph type="dt" sz="half" idx="10"/>
          </p:nvPr>
        </p:nvSpPr>
        <p:spPr/>
        <p:txBody>
          <a:bodyPr/>
          <a:lstStyle/>
          <a:p>
            <a:fld id="{A1EC841C-860A-4DF0-9CCE-021577B37A2C}" type="datetimeFigureOut">
              <a:rPr lang="en-US" smtClean="0"/>
              <a:t>10/18/2026</a:t>
            </a:fld>
            <a:endParaRPr lang="en-US"/>
          </a:p>
        </p:txBody>
      </p:sp>
      <p:sp>
        <p:nvSpPr>
          <p:cNvPr id="5" name="Footer Placeholder 4">
            <a:extLst>
              <a:ext uri="{FF2B5EF4-FFF2-40B4-BE49-F238E27FC236}">
                <a16:creationId xmlns:a16="http://schemas.microsoft.com/office/drawing/2014/main" id="{F69761BB-A5D6-42F2-AE2E-C58074B04F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9097BC-5E26-42ED-B009-91A29ECFCE42}"/>
              </a:ext>
            </a:extLst>
          </p:cNvPr>
          <p:cNvSpPr>
            <a:spLocks noGrp="1"/>
          </p:cNvSpPr>
          <p:nvPr>
            <p:ph type="sldNum" sz="quarter" idx="12"/>
          </p:nvPr>
        </p:nvSpPr>
        <p:spPr/>
        <p:txBody>
          <a:bodyPr/>
          <a:lstStyle/>
          <a:p>
            <a:fld id="{606EB8E2-DF1D-49A4-9838-CDEC9EE6D149}" type="slidenum">
              <a:rPr lang="en-US" smtClean="0"/>
              <a:t>‹#›</a:t>
            </a:fld>
            <a:endParaRPr lang="en-US"/>
          </a:p>
        </p:txBody>
      </p:sp>
    </p:spTree>
    <p:extLst>
      <p:ext uri="{BB962C8B-B14F-4D97-AF65-F5344CB8AC3E}">
        <p14:creationId xmlns:p14="http://schemas.microsoft.com/office/powerpoint/2010/main" val="2848763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A1FB3-7E7D-4CEE-A4E7-09E1D36CDB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DA66FF-4360-48B9-8602-C58C2AA65B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36E2DF-0562-468B-884F-40A9CE5D0091}"/>
              </a:ext>
            </a:extLst>
          </p:cNvPr>
          <p:cNvSpPr>
            <a:spLocks noGrp="1"/>
          </p:cNvSpPr>
          <p:nvPr>
            <p:ph type="dt" sz="half" idx="10"/>
          </p:nvPr>
        </p:nvSpPr>
        <p:spPr/>
        <p:txBody>
          <a:bodyPr/>
          <a:lstStyle/>
          <a:p>
            <a:fld id="{A1EC841C-860A-4DF0-9CCE-021577B37A2C}" type="datetimeFigureOut">
              <a:rPr lang="en-US" smtClean="0"/>
              <a:t>10/18/2026</a:t>
            </a:fld>
            <a:endParaRPr lang="en-US"/>
          </a:p>
        </p:txBody>
      </p:sp>
      <p:sp>
        <p:nvSpPr>
          <p:cNvPr id="5" name="Footer Placeholder 4">
            <a:extLst>
              <a:ext uri="{FF2B5EF4-FFF2-40B4-BE49-F238E27FC236}">
                <a16:creationId xmlns:a16="http://schemas.microsoft.com/office/drawing/2014/main" id="{148D2782-B410-404F-8499-8627ABBACE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69AAFD-064F-4946-896A-661C3699B2ED}"/>
              </a:ext>
            </a:extLst>
          </p:cNvPr>
          <p:cNvSpPr>
            <a:spLocks noGrp="1"/>
          </p:cNvSpPr>
          <p:nvPr>
            <p:ph type="sldNum" sz="quarter" idx="12"/>
          </p:nvPr>
        </p:nvSpPr>
        <p:spPr/>
        <p:txBody>
          <a:bodyPr/>
          <a:lstStyle/>
          <a:p>
            <a:fld id="{606EB8E2-DF1D-49A4-9838-CDEC9EE6D149}" type="slidenum">
              <a:rPr lang="en-US" smtClean="0"/>
              <a:t>‹#›</a:t>
            </a:fld>
            <a:endParaRPr lang="en-US"/>
          </a:p>
        </p:txBody>
      </p:sp>
    </p:spTree>
    <p:extLst>
      <p:ext uri="{BB962C8B-B14F-4D97-AF65-F5344CB8AC3E}">
        <p14:creationId xmlns:p14="http://schemas.microsoft.com/office/powerpoint/2010/main" val="2177255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45C48-86C2-4E1A-90BC-B23D789A72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148111-5121-431B-9373-283E6B6C2F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CADC1E-E84E-4E6D-99F7-9D363DB91EDD}"/>
              </a:ext>
            </a:extLst>
          </p:cNvPr>
          <p:cNvSpPr>
            <a:spLocks noGrp="1"/>
          </p:cNvSpPr>
          <p:nvPr>
            <p:ph type="dt" sz="half" idx="10"/>
          </p:nvPr>
        </p:nvSpPr>
        <p:spPr/>
        <p:txBody>
          <a:bodyPr/>
          <a:lstStyle/>
          <a:p>
            <a:fld id="{A1EC841C-860A-4DF0-9CCE-021577B37A2C}" type="datetimeFigureOut">
              <a:rPr lang="en-US" smtClean="0"/>
              <a:t>10/18/2026</a:t>
            </a:fld>
            <a:endParaRPr lang="en-US"/>
          </a:p>
        </p:txBody>
      </p:sp>
      <p:sp>
        <p:nvSpPr>
          <p:cNvPr id="5" name="Footer Placeholder 4">
            <a:extLst>
              <a:ext uri="{FF2B5EF4-FFF2-40B4-BE49-F238E27FC236}">
                <a16:creationId xmlns:a16="http://schemas.microsoft.com/office/drawing/2014/main" id="{5F95B27F-DBAA-4EFB-8D3F-6D5A883C13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71E16-AB15-471E-A077-08AA55F0F494}"/>
              </a:ext>
            </a:extLst>
          </p:cNvPr>
          <p:cNvSpPr>
            <a:spLocks noGrp="1"/>
          </p:cNvSpPr>
          <p:nvPr>
            <p:ph type="sldNum" sz="quarter" idx="12"/>
          </p:nvPr>
        </p:nvSpPr>
        <p:spPr/>
        <p:txBody>
          <a:bodyPr/>
          <a:lstStyle/>
          <a:p>
            <a:fld id="{606EB8E2-DF1D-49A4-9838-CDEC9EE6D149}" type="slidenum">
              <a:rPr lang="en-US" smtClean="0"/>
              <a:t>‹#›</a:t>
            </a:fld>
            <a:endParaRPr lang="en-US"/>
          </a:p>
        </p:txBody>
      </p:sp>
    </p:spTree>
    <p:extLst>
      <p:ext uri="{BB962C8B-B14F-4D97-AF65-F5344CB8AC3E}">
        <p14:creationId xmlns:p14="http://schemas.microsoft.com/office/powerpoint/2010/main" val="1379757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47863-E76E-4A72-A21E-50071ACA6E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CCC65D-99DC-43CA-83C4-6A464206B5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5390EB-8F56-4F0D-9D3A-802316095F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E155AD-20DA-4E1B-A69A-547D989C9A79}"/>
              </a:ext>
            </a:extLst>
          </p:cNvPr>
          <p:cNvSpPr>
            <a:spLocks noGrp="1"/>
          </p:cNvSpPr>
          <p:nvPr>
            <p:ph type="dt" sz="half" idx="10"/>
          </p:nvPr>
        </p:nvSpPr>
        <p:spPr/>
        <p:txBody>
          <a:bodyPr/>
          <a:lstStyle/>
          <a:p>
            <a:fld id="{A1EC841C-860A-4DF0-9CCE-021577B37A2C}" type="datetimeFigureOut">
              <a:rPr lang="en-US" smtClean="0"/>
              <a:t>10/18/2026</a:t>
            </a:fld>
            <a:endParaRPr lang="en-US"/>
          </a:p>
        </p:txBody>
      </p:sp>
      <p:sp>
        <p:nvSpPr>
          <p:cNvPr id="6" name="Footer Placeholder 5">
            <a:extLst>
              <a:ext uri="{FF2B5EF4-FFF2-40B4-BE49-F238E27FC236}">
                <a16:creationId xmlns:a16="http://schemas.microsoft.com/office/drawing/2014/main" id="{5C089F9E-F8EB-4A60-9E8B-B07A3D3F2A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B3AF43-7361-4800-B546-3ADE4F038E7F}"/>
              </a:ext>
            </a:extLst>
          </p:cNvPr>
          <p:cNvSpPr>
            <a:spLocks noGrp="1"/>
          </p:cNvSpPr>
          <p:nvPr>
            <p:ph type="sldNum" sz="quarter" idx="12"/>
          </p:nvPr>
        </p:nvSpPr>
        <p:spPr/>
        <p:txBody>
          <a:bodyPr/>
          <a:lstStyle/>
          <a:p>
            <a:fld id="{606EB8E2-DF1D-49A4-9838-CDEC9EE6D149}" type="slidenum">
              <a:rPr lang="en-US" smtClean="0"/>
              <a:t>‹#›</a:t>
            </a:fld>
            <a:endParaRPr lang="en-US"/>
          </a:p>
        </p:txBody>
      </p:sp>
    </p:spTree>
    <p:extLst>
      <p:ext uri="{BB962C8B-B14F-4D97-AF65-F5344CB8AC3E}">
        <p14:creationId xmlns:p14="http://schemas.microsoft.com/office/powerpoint/2010/main" val="2041492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68F22-74F2-42E0-8CE8-D5729425BC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805D4F-E8CE-420E-BFDD-DF5104C104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A978C9-83E9-48E0-BCE8-88F3CF11E2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FD45B5-14CD-46C3-8A13-6D78A4220A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8208CA-3564-48D2-BB2D-1B074D24EC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C6D78D-7B0C-47F9-97A1-3336B86C94C5}"/>
              </a:ext>
            </a:extLst>
          </p:cNvPr>
          <p:cNvSpPr>
            <a:spLocks noGrp="1"/>
          </p:cNvSpPr>
          <p:nvPr>
            <p:ph type="dt" sz="half" idx="10"/>
          </p:nvPr>
        </p:nvSpPr>
        <p:spPr/>
        <p:txBody>
          <a:bodyPr/>
          <a:lstStyle/>
          <a:p>
            <a:fld id="{A1EC841C-860A-4DF0-9CCE-021577B37A2C}" type="datetimeFigureOut">
              <a:rPr lang="en-US" smtClean="0"/>
              <a:t>10/18/2026</a:t>
            </a:fld>
            <a:endParaRPr lang="en-US"/>
          </a:p>
        </p:txBody>
      </p:sp>
      <p:sp>
        <p:nvSpPr>
          <p:cNvPr id="8" name="Footer Placeholder 7">
            <a:extLst>
              <a:ext uri="{FF2B5EF4-FFF2-40B4-BE49-F238E27FC236}">
                <a16:creationId xmlns:a16="http://schemas.microsoft.com/office/drawing/2014/main" id="{046790FF-25D3-43C3-A790-8CFFA67C07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B2417F-37B7-4729-9001-DDE5165402B1}"/>
              </a:ext>
            </a:extLst>
          </p:cNvPr>
          <p:cNvSpPr>
            <a:spLocks noGrp="1"/>
          </p:cNvSpPr>
          <p:nvPr>
            <p:ph type="sldNum" sz="quarter" idx="12"/>
          </p:nvPr>
        </p:nvSpPr>
        <p:spPr/>
        <p:txBody>
          <a:bodyPr/>
          <a:lstStyle/>
          <a:p>
            <a:fld id="{606EB8E2-DF1D-49A4-9838-CDEC9EE6D149}" type="slidenum">
              <a:rPr lang="en-US" smtClean="0"/>
              <a:t>‹#›</a:t>
            </a:fld>
            <a:endParaRPr lang="en-US"/>
          </a:p>
        </p:txBody>
      </p:sp>
    </p:spTree>
    <p:extLst>
      <p:ext uri="{BB962C8B-B14F-4D97-AF65-F5344CB8AC3E}">
        <p14:creationId xmlns:p14="http://schemas.microsoft.com/office/powerpoint/2010/main" val="1859273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78E77-5085-408C-AAB1-5B9EF27172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95D2D9-C8B1-42CE-9E29-7D4C1DFBD9E6}"/>
              </a:ext>
            </a:extLst>
          </p:cNvPr>
          <p:cNvSpPr>
            <a:spLocks noGrp="1"/>
          </p:cNvSpPr>
          <p:nvPr>
            <p:ph type="dt" sz="half" idx="10"/>
          </p:nvPr>
        </p:nvSpPr>
        <p:spPr/>
        <p:txBody>
          <a:bodyPr/>
          <a:lstStyle/>
          <a:p>
            <a:fld id="{A1EC841C-860A-4DF0-9CCE-021577B37A2C}" type="datetimeFigureOut">
              <a:rPr lang="en-US" smtClean="0"/>
              <a:t>10/18/2026</a:t>
            </a:fld>
            <a:endParaRPr lang="en-US"/>
          </a:p>
        </p:txBody>
      </p:sp>
      <p:sp>
        <p:nvSpPr>
          <p:cNvPr id="4" name="Footer Placeholder 3">
            <a:extLst>
              <a:ext uri="{FF2B5EF4-FFF2-40B4-BE49-F238E27FC236}">
                <a16:creationId xmlns:a16="http://schemas.microsoft.com/office/drawing/2014/main" id="{8DF24E30-0293-4E51-83E1-5A8C72ACEA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606BE26-2D01-48D4-9ED4-DD44B80EE134}"/>
              </a:ext>
            </a:extLst>
          </p:cNvPr>
          <p:cNvSpPr>
            <a:spLocks noGrp="1"/>
          </p:cNvSpPr>
          <p:nvPr>
            <p:ph type="sldNum" sz="quarter" idx="12"/>
          </p:nvPr>
        </p:nvSpPr>
        <p:spPr/>
        <p:txBody>
          <a:bodyPr/>
          <a:lstStyle/>
          <a:p>
            <a:fld id="{606EB8E2-DF1D-49A4-9838-CDEC9EE6D149}" type="slidenum">
              <a:rPr lang="en-US" smtClean="0"/>
              <a:t>‹#›</a:t>
            </a:fld>
            <a:endParaRPr lang="en-US"/>
          </a:p>
        </p:txBody>
      </p:sp>
    </p:spTree>
    <p:extLst>
      <p:ext uri="{BB962C8B-B14F-4D97-AF65-F5344CB8AC3E}">
        <p14:creationId xmlns:p14="http://schemas.microsoft.com/office/powerpoint/2010/main" val="938266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46D5DE-62E1-4FFE-AAEF-F494B4460FD8}"/>
              </a:ext>
            </a:extLst>
          </p:cNvPr>
          <p:cNvSpPr>
            <a:spLocks noGrp="1"/>
          </p:cNvSpPr>
          <p:nvPr>
            <p:ph type="dt" sz="half" idx="10"/>
          </p:nvPr>
        </p:nvSpPr>
        <p:spPr/>
        <p:txBody>
          <a:bodyPr/>
          <a:lstStyle/>
          <a:p>
            <a:fld id="{A1EC841C-860A-4DF0-9CCE-021577B37A2C}" type="datetimeFigureOut">
              <a:rPr lang="en-US" smtClean="0"/>
              <a:t>10/18/2026</a:t>
            </a:fld>
            <a:endParaRPr lang="en-US"/>
          </a:p>
        </p:txBody>
      </p:sp>
      <p:sp>
        <p:nvSpPr>
          <p:cNvPr id="3" name="Footer Placeholder 2">
            <a:extLst>
              <a:ext uri="{FF2B5EF4-FFF2-40B4-BE49-F238E27FC236}">
                <a16:creationId xmlns:a16="http://schemas.microsoft.com/office/drawing/2014/main" id="{52D00636-00EB-47FD-908E-F300C8F8D4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EBA9E8-470B-4268-998B-34B511C7260F}"/>
              </a:ext>
            </a:extLst>
          </p:cNvPr>
          <p:cNvSpPr>
            <a:spLocks noGrp="1"/>
          </p:cNvSpPr>
          <p:nvPr>
            <p:ph type="sldNum" sz="quarter" idx="12"/>
          </p:nvPr>
        </p:nvSpPr>
        <p:spPr/>
        <p:txBody>
          <a:bodyPr/>
          <a:lstStyle/>
          <a:p>
            <a:fld id="{606EB8E2-DF1D-49A4-9838-CDEC9EE6D149}" type="slidenum">
              <a:rPr lang="en-US" smtClean="0"/>
              <a:t>‹#›</a:t>
            </a:fld>
            <a:endParaRPr lang="en-US"/>
          </a:p>
        </p:txBody>
      </p:sp>
    </p:spTree>
    <p:extLst>
      <p:ext uri="{BB962C8B-B14F-4D97-AF65-F5344CB8AC3E}">
        <p14:creationId xmlns:p14="http://schemas.microsoft.com/office/powerpoint/2010/main" val="1981906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EDB0B-59A9-4003-BFA9-CF4F8095C6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7D09A5-C731-40A2-9040-1F1BF8A5E5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72466C-86B3-4D63-B1D6-5F94582C44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BA55C2-FDA1-49B8-B744-C6CD15EC477D}"/>
              </a:ext>
            </a:extLst>
          </p:cNvPr>
          <p:cNvSpPr>
            <a:spLocks noGrp="1"/>
          </p:cNvSpPr>
          <p:nvPr>
            <p:ph type="dt" sz="half" idx="10"/>
          </p:nvPr>
        </p:nvSpPr>
        <p:spPr/>
        <p:txBody>
          <a:bodyPr/>
          <a:lstStyle/>
          <a:p>
            <a:fld id="{A1EC841C-860A-4DF0-9CCE-021577B37A2C}" type="datetimeFigureOut">
              <a:rPr lang="en-US" smtClean="0"/>
              <a:t>10/18/2026</a:t>
            </a:fld>
            <a:endParaRPr lang="en-US"/>
          </a:p>
        </p:txBody>
      </p:sp>
      <p:sp>
        <p:nvSpPr>
          <p:cNvPr id="6" name="Footer Placeholder 5">
            <a:extLst>
              <a:ext uri="{FF2B5EF4-FFF2-40B4-BE49-F238E27FC236}">
                <a16:creationId xmlns:a16="http://schemas.microsoft.com/office/drawing/2014/main" id="{3801B44C-9183-4778-B030-26F25AE99A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0D1D8-D341-4CC6-A716-EEDBE38FC60E}"/>
              </a:ext>
            </a:extLst>
          </p:cNvPr>
          <p:cNvSpPr>
            <a:spLocks noGrp="1"/>
          </p:cNvSpPr>
          <p:nvPr>
            <p:ph type="sldNum" sz="quarter" idx="12"/>
          </p:nvPr>
        </p:nvSpPr>
        <p:spPr/>
        <p:txBody>
          <a:bodyPr/>
          <a:lstStyle/>
          <a:p>
            <a:fld id="{606EB8E2-DF1D-49A4-9838-CDEC9EE6D149}" type="slidenum">
              <a:rPr lang="en-US" smtClean="0"/>
              <a:t>‹#›</a:t>
            </a:fld>
            <a:endParaRPr lang="en-US"/>
          </a:p>
        </p:txBody>
      </p:sp>
    </p:spTree>
    <p:extLst>
      <p:ext uri="{BB962C8B-B14F-4D97-AF65-F5344CB8AC3E}">
        <p14:creationId xmlns:p14="http://schemas.microsoft.com/office/powerpoint/2010/main" val="1237934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537CC-9AAD-4B83-91C4-876E82E8AC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B5F813-68B5-463C-B72D-FB179DC504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9D848B-F296-4B45-8FC2-BEF8850430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E37680-5556-4A67-92E6-F93E2D2A1E8A}"/>
              </a:ext>
            </a:extLst>
          </p:cNvPr>
          <p:cNvSpPr>
            <a:spLocks noGrp="1"/>
          </p:cNvSpPr>
          <p:nvPr>
            <p:ph type="dt" sz="half" idx="10"/>
          </p:nvPr>
        </p:nvSpPr>
        <p:spPr/>
        <p:txBody>
          <a:bodyPr/>
          <a:lstStyle/>
          <a:p>
            <a:fld id="{A1EC841C-860A-4DF0-9CCE-021577B37A2C}" type="datetimeFigureOut">
              <a:rPr lang="en-US" smtClean="0"/>
              <a:t>10/18/2026</a:t>
            </a:fld>
            <a:endParaRPr lang="en-US"/>
          </a:p>
        </p:txBody>
      </p:sp>
      <p:sp>
        <p:nvSpPr>
          <p:cNvPr id="6" name="Footer Placeholder 5">
            <a:extLst>
              <a:ext uri="{FF2B5EF4-FFF2-40B4-BE49-F238E27FC236}">
                <a16:creationId xmlns:a16="http://schemas.microsoft.com/office/drawing/2014/main" id="{772D53AD-33D7-4223-846D-9BB06CB2EC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C84D27-523E-4C98-A07A-DA9316650775}"/>
              </a:ext>
            </a:extLst>
          </p:cNvPr>
          <p:cNvSpPr>
            <a:spLocks noGrp="1"/>
          </p:cNvSpPr>
          <p:nvPr>
            <p:ph type="sldNum" sz="quarter" idx="12"/>
          </p:nvPr>
        </p:nvSpPr>
        <p:spPr/>
        <p:txBody>
          <a:bodyPr/>
          <a:lstStyle/>
          <a:p>
            <a:fld id="{606EB8E2-DF1D-49A4-9838-CDEC9EE6D149}" type="slidenum">
              <a:rPr lang="en-US" smtClean="0"/>
              <a:t>‹#›</a:t>
            </a:fld>
            <a:endParaRPr lang="en-US"/>
          </a:p>
        </p:txBody>
      </p:sp>
    </p:spTree>
    <p:extLst>
      <p:ext uri="{BB962C8B-B14F-4D97-AF65-F5344CB8AC3E}">
        <p14:creationId xmlns:p14="http://schemas.microsoft.com/office/powerpoint/2010/main" val="3604797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332C6-6419-4279-8D91-C9F7EEB979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961FDC-6DFD-4242-B463-B95DBEA106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DD26BC-C23E-445B-BC85-F639EDA205BC}"/>
              </a:ext>
            </a:extLst>
          </p:cNvPr>
          <p:cNvSpPr>
            <a:spLocks noGrp="1"/>
          </p:cNvSpPr>
          <p:nvPr>
            <p:ph type="dt" sz="half" idx="10"/>
          </p:nvPr>
        </p:nvSpPr>
        <p:spPr/>
        <p:txBody>
          <a:bodyPr/>
          <a:lstStyle/>
          <a:p>
            <a:fld id="{A1EC841C-860A-4DF0-9CCE-021577B37A2C}" type="datetimeFigureOut">
              <a:rPr lang="en-US" smtClean="0"/>
              <a:t>10/18/2026</a:t>
            </a:fld>
            <a:endParaRPr lang="en-US"/>
          </a:p>
        </p:txBody>
      </p:sp>
      <p:sp>
        <p:nvSpPr>
          <p:cNvPr id="5" name="Footer Placeholder 4">
            <a:extLst>
              <a:ext uri="{FF2B5EF4-FFF2-40B4-BE49-F238E27FC236}">
                <a16:creationId xmlns:a16="http://schemas.microsoft.com/office/drawing/2014/main" id="{99881F7D-48A3-4978-A531-2FEED75459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E22540-CAB8-453B-8AFA-D3C4EFB25E97}"/>
              </a:ext>
            </a:extLst>
          </p:cNvPr>
          <p:cNvSpPr>
            <a:spLocks noGrp="1"/>
          </p:cNvSpPr>
          <p:nvPr>
            <p:ph type="sldNum" sz="quarter" idx="12"/>
          </p:nvPr>
        </p:nvSpPr>
        <p:spPr/>
        <p:txBody>
          <a:bodyPr/>
          <a:lstStyle/>
          <a:p>
            <a:fld id="{606EB8E2-DF1D-49A4-9838-CDEC9EE6D149}" type="slidenum">
              <a:rPr lang="en-US" smtClean="0"/>
              <a:t>‹#›</a:t>
            </a:fld>
            <a:endParaRPr lang="en-US"/>
          </a:p>
        </p:txBody>
      </p:sp>
    </p:spTree>
    <p:extLst>
      <p:ext uri="{BB962C8B-B14F-4D97-AF65-F5344CB8AC3E}">
        <p14:creationId xmlns:p14="http://schemas.microsoft.com/office/powerpoint/2010/main" val="2784454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009DAB-6AD0-4A91-A91B-F2A43C8FBF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73FCA4F-D06E-4DF8-8A38-06F6E64D80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FF54CA-ADB3-4921-9A20-9864C6FEA172}"/>
              </a:ext>
            </a:extLst>
          </p:cNvPr>
          <p:cNvSpPr>
            <a:spLocks noGrp="1"/>
          </p:cNvSpPr>
          <p:nvPr>
            <p:ph type="dt" sz="half" idx="10"/>
          </p:nvPr>
        </p:nvSpPr>
        <p:spPr/>
        <p:txBody>
          <a:bodyPr/>
          <a:lstStyle/>
          <a:p>
            <a:fld id="{A1EC841C-860A-4DF0-9CCE-021577B37A2C}" type="datetimeFigureOut">
              <a:rPr lang="en-US" smtClean="0"/>
              <a:t>10/18/2026</a:t>
            </a:fld>
            <a:endParaRPr lang="en-US"/>
          </a:p>
        </p:txBody>
      </p:sp>
      <p:sp>
        <p:nvSpPr>
          <p:cNvPr id="5" name="Footer Placeholder 4">
            <a:extLst>
              <a:ext uri="{FF2B5EF4-FFF2-40B4-BE49-F238E27FC236}">
                <a16:creationId xmlns:a16="http://schemas.microsoft.com/office/drawing/2014/main" id="{31A7C0B4-5D6B-4FFF-86A4-2A797CAF8B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F2ECAC-2AF2-4308-8976-CB01CE256AC7}"/>
              </a:ext>
            </a:extLst>
          </p:cNvPr>
          <p:cNvSpPr>
            <a:spLocks noGrp="1"/>
          </p:cNvSpPr>
          <p:nvPr>
            <p:ph type="sldNum" sz="quarter" idx="12"/>
          </p:nvPr>
        </p:nvSpPr>
        <p:spPr/>
        <p:txBody>
          <a:bodyPr/>
          <a:lstStyle/>
          <a:p>
            <a:fld id="{606EB8E2-DF1D-49A4-9838-CDEC9EE6D149}" type="slidenum">
              <a:rPr lang="en-US" smtClean="0"/>
              <a:t>‹#›</a:t>
            </a:fld>
            <a:endParaRPr lang="en-US"/>
          </a:p>
        </p:txBody>
      </p:sp>
    </p:spTree>
    <p:extLst>
      <p:ext uri="{BB962C8B-B14F-4D97-AF65-F5344CB8AC3E}">
        <p14:creationId xmlns:p14="http://schemas.microsoft.com/office/powerpoint/2010/main" val="2468077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DA976C-AD70-4AB5-B90F-E6C0739DFD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CA30E4-BA02-49EB-B86B-FC48B3D9B9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779F4E-ABB7-48FE-A2B5-AB4C3018E7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C841C-860A-4DF0-9CCE-021577B37A2C}" type="datetimeFigureOut">
              <a:rPr lang="en-US" smtClean="0"/>
              <a:t>10/18/2026</a:t>
            </a:fld>
            <a:endParaRPr lang="en-US"/>
          </a:p>
        </p:txBody>
      </p:sp>
      <p:sp>
        <p:nvSpPr>
          <p:cNvPr id="5" name="Footer Placeholder 4">
            <a:extLst>
              <a:ext uri="{FF2B5EF4-FFF2-40B4-BE49-F238E27FC236}">
                <a16:creationId xmlns:a16="http://schemas.microsoft.com/office/drawing/2014/main" id="{C55CE5DA-E1CA-4904-8F97-919E93F079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84DF2BB-6CB5-4D06-9128-B40346CE93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6EB8E2-DF1D-49A4-9838-CDEC9EE6D149}" type="slidenum">
              <a:rPr lang="en-US" smtClean="0"/>
              <a:t>‹#›</a:t>
            </a:fld>
            <a:endParaRPr lang="en-US"/>
          </a:p>
        </p:txBody>
      </p:sp>
    </p:spTree>
    <p:extLst>
      <p:ext uri="{BB962C8B-B14F-4D97-AF65-F5344CB8AC3E}">
        <p14:creationId xmlns:p14="http://schemas.microsoft.com/office/powerpoint/2010/main" val="2358125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C3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0394DA-A5A2-4251-8B48-4369FAFBA598}"/>
              </a:ext>
            </a:extLst>
          </p:cNvPr>
          <p:cNvSpPr txBox="1"/>
          <p:nvPr/>
        </p:nvSpPr>
        <p:spPr>
          <a:xfrm>
            <a:off x="609600" y="304800"/>
            <a:ext cx="2032000" cy="261610"/>
          </a:xfrm>
          <a:prstGeom prst="rect">
            <a:avLst/>
          </a:prstGeom>
          <a:noFill/>
        </p:spPr>
        <p:txBody>
          <a:bodyPr vert="horz" wrap="square" lIns="0" tIns="0" rIns="0" bIns="0" rtlCol="0">
            <a:spAutoFit/>
          </a:bodyPr>
          <a:lstStyle/>
          <a:p>
            <a:pPr>
              <a:spcAft>
                <a:spcPts val="800"/>
              </a:spcAft>
            </a:pPr>
            <a:r>
              <a:rPr lang="en-US" sz="1700" b="1">
                <a:solidFill>
                  <a:srgbClr val="F6F2E9"/>
                </a:solidFill>
                <a:latin typeface="Aptos"/>
              </a:rPr>
              <a:t>JOCKEY</a:t>
            </a:r>
          </a:p>
        </p:txBody>
      </p:sp>
      <p:sp>
        <p:nvSpPr>
          <p:cNvPr id="3" name="TextBox 2">
            <a:extLst>
              <a:ext uri="{FF2B5EF4-FFF2-40B4-BE49-F238E27FC236}">
                <a16:creationId xmlns:a16="http://schemas.microsoft.com/office/drawing/2014/main" id="{0290CE4D-2788-42E9-9112-70B6553A4B6F}"/>
              </a:ext>
            </a:extLst>
          </p:cNvPr>
          <p:cNvSpPr txBox="1"/>
          <p:nvPr/>
        </p:nvSpPr>
        <p:spPr>
          <a:xfrm>
            <a:off x="3302000" y="342900"/>
            <a:ext cx="8255000" cy="169277"/>
          </a:xfrm>
          <a:prstGeom prst="rect">
            <a:avLst/>
          </a:prstGeom>
          <a:noFill/>
        </p:spPr>
        <p:txBody>
          <a:bodyPr vert="horz" wrap="square" lIns="0" tIns="0" rIns="0" bIns="0" rtlCol="0">
            <a:spAutoFit/>
          </a:bodyPr>
          <a:lstStyle/>
          <a:p>
            <a:pPr>
              <a:spcAft>
                <a:spcPts val="800"/>
              </a:spcAft>
            </a:pPr>
            <a:r>
              <a:rPr lang="en-US" sz="1100">
                <a:solidFill>
                  <a:srgbClr val="B99756"/>
                </a:solidFill>
                <a:latin typeface="Aptos"/>
              </a:rPr>
              <a:t>PLATFORM SHOWCASE</a:t>
            </a:r>
          </a:p>
        </p:txBody>
      </p:sp>
      <p:sp>
        <p:nvSpPr>
          <p:cNvPr id="4" name="TextBox 3">
            <a:extLst>
              <a:ext uri="{FF2B5EF4-FFF2-40B4-BE49-F238E27FC236}">
                <a16:creationId xmlns:a16="http://schemas.microsoft.com/office/drawing/2014/main" id="{10EE10DA-7A7C-445D-AC82-5D5D09CDE36D}"/>
              </a:ext>
            </a:extLst>
          </p:cNvPr>
          <p:cNvSpPr txBox="1"/>
          <p:nvPr/>
        </p:nvSpPr>
        <p:spPr>
          <a:xfrm>
            <a:off x="609600" y="6426200"/>
            <a:ext cx="8890000" cy="153888"/>
          </a:xfrm>
          <a:prstGeom prst="rect">
            <a:avLst/>
          </a:prstGeom>
          <a:noFill/>
        </p:spPr>
        <p:txBody>
          <a:bodyPr vert="horz" wrap="square" lIns="0" tIns="0" rIns="0" bIns="0" rtlCol="0">
            <a:spAutoFit/>
          </a:bodyPr>
          <a:lstStyle/>
          <a:p>
            <a:pPr>
              <a:spcAft>
                <a:spcPts val="800"/>
              </a:spcAft>
            </a:pPr>
            <a:r>
              <a:rPr lang="en-US" sz="1000">
                <a:solidFill>
                  <a:srgbClr val="B99756"/>
                </a:solidFill>
                <a:latin typeface="Aptos"/>
              </a:rPr>
              <a:t>STAKEHOLDER SHOWCASE  /  18 OCT 2026</a:t>
            </a:r>
          </a:p>
        </p:txBody>
      </p:sp>
      <p:sp>
        <p:nvSpPr>
          <p:cNvPr id="5" name="TextBox 4">
            <a:extLst>
              <a:ext uri="{FF2B5EF4-FFF2-40B4-BE49-F238E27FC236}">
                <a16:creationId xmlns:a16="http://schemas.microsoft.com/office/drawing/2014/main" id="{C6A3479D-F2C2-408D-A245-79F1271A785D}"/>
              </a:ext>
            </a:extLst>
          </p:cNvPr>
          <p:cNvSpPr txBox="1"/>
          <p:nvPr/>
        </p:nvSpPr>
        <p:spPr>
          <a:xfrm>
            <a:off x="11112500" y="6375400"/>
            <a:ext cx="508000" cy="200055"/>
          </a:xfrm>
          <a:prstGeom prst="rect">
            <a:avLst/>
          </a:prstGeom>
          <a:noFill/>
        </p:spPr>
        <p:txBody>
          <a:bodyPr vert="horz" wrap="square" lIns="0" tIns="0" rIns="0" bIns="0" rtlCol="0">
            <a:spAutoFit/>
          </a:bodyPr>
          <a:lstStyle/>
          <a:p>
            <a:pPr>
              <a:spcAft>
                <a:spcPts val="800"/>
              </a:spcAft>
            </a:pPr>
            <a:r>
              <a:rPr lang="en-US" sz="1300">
                <a:solidFill>
                  <a:srgbClr val="B99756"/>
                </a:solidFill>
                <a:latin typeface="Aptos"/>
              </a:rPr>
              <a:t>01</a:t>
            </a:r>
          </a:p>
        </p:txBody>
      </p:sp>
      <p:sp>
        <p:nvSpPr>
          <p:cNvPr id="6" name="TextBox 5">
            <a:extLst>
              <a:ext uri="{FF2B5EF4-FFF2-40B4-BE49-F238E27FC236}">
                <a16:creationId xmlns:a16="http://schemas.microsoft.com/office/drawing/2014/main" id="{1B3BF550-8F39-411B-A8E5-FDC2F7CA2967}"/>
              </a:ext>
            </a:extLst>
          </p:cNvPr>
          <p:cNvSpPr txBox="1"/>
          <p:nvPr/>
        </p:nvSpPr>
        <p:spPr>
          <a:xfrm>
            <a:off x="609600" y="1778000"/>
            <a:ext cx="10972800" cy="1169551"/>
          </a:xfrm>
          <a:prstGeom prst="rect">
            <a:avLst/>
          </a:prstGeom>
          <a:noFill/>
        </p:spPr>
        <p:txBody>
          <a:bodyPr vert="horz" wrap="square" lIns="0" tIns="0" rIns="0" bIns="0" rtlCol="0">
            <a:spAutoFit/>
          </a:bodyPr>
          <a:lstStyle/>
          <a:p>
            <a:pPr>
              <a:spcAft>
                <a:spcPts val="800"/>
              </a:spcAft>
            </a:pPr>
            <a:r>
              <a:rPr lang="en-US" sz="7600">
                <a:solidFill>
                  <a:srgbClr val="F6F2E9"/>
                </a:solidFill>
                <a:latin typeface="Georgia" panose="02040502050405020303" pitchFamily="18" charset="0"/>
              </a:rPr>
              <a:t>JOCKEY</a:t>
            </a:r>
          </a:p>
        </p:txBody>
      </p:sp>
      <p:sp>
        <p:nvSpPr>
          <p:cNvPr id="7" name="TextBox 6">
            <a:extLst>
              <a:ext uri="{FF2B5EF4-FFF2-40B4-BE49-F238E27FC236}">
                <a16:creationId xmlns:a16="http://schemas.microsoft.com/office/drawing/2014/main" id="{AF01C277-BF21-4E8B-97AA-C05FCB13083D}"/>
              </a:ext>
            </a:extLst>
          </p:cNvPr>
          <p:cNvSpPr txBox="1"/>
          <p:nvPr/>
        </p:nvSpPr>
        <p:spPr>
          <a:xfrm>
            <a:off x="660400" y="3302000"/>
            <a:ext cx="10795000" cy="492443"/>
          </a:xfrm>
          <a:prstGeom prst="rect">
            <a:avLst/>
          </a:prstGeom>
          <a:noFill/>
        </p:spPr>
        <p:txBody>
          <a:bodyPr vert="horz" wrap="square" lIns="0" tIns="0" rIns="0" bIns="0" rtlCol="0">
            <a:spAutoFit/>
          </a:bodyPr>
          <a:lstStyle/>
          <a:p>
            <a:pPr>
              <a:spcAft>
                <a:spcPts val="800"/>
              </a:spcAft>
            </a:pPr>
            <a:r>
              <a:rPr lang="en-US" sz="3200">
                <a:solidFill>
                  <a:srgbClr val="B99756"/>
                </a:solidFill>
                <a:latin typeface="Aptos"/>
              </a:rPr>
              <a:t>Racing information. Connected.</a:t>
            </a:r>
          </a:p>
        </p:txBody>
      </p:sp>
      <p:sp>
        <p:nvSpPr>
          <p:cNvPr id="8" name="TextBox 7">
            <a:extLst>
              <a:ext uri="{FF2B5EF4-FFF2-40B4-BE49-F238E27FC236}">
                <a16:creationId xmlns:a16="http://schemas.microsoft.com/office/drawing/2014/main" id="{EC0F7DE6-C22B-404C-8CFC-D64B7E42C62D}"/>
              </a:ext>
            </a:extLst>
          </p:cNvPr>
          <p:cNvSpPr txBox="1"/>
          <p:nvPr/>
        </p:nvSpPr>
        <p:spPr>
          <a:xfrm>
            <a:off x="660400" y="4445000"/>
            <a:ext cx="9779000" cy="353943"/>
          </a:xfrm>
          <a:prstGeom prst="rect">
            <a:avLst/>
          </a:prstGeom>
          <a:noFill/>
        </p:spPr>
        <p:txBody>
          <a:bodyPr vert="horz" wrap="square" lIns="0" tIns="0" rIns="0" bIns="0" rtlCol="0">
            <a:spAutoFit/>
          </a:bodyPr>
          <a:lstStyle/>
          <a:p>
            <a:pPr>
              <a:spcAft>
                <a:spcPts val="800"/>
              </a:spcAft>
            </a:pPr>
            <a:r>
              <a:rPr lang="en-US" sz="2300">
                <a:solidFill>
                  <a:srgbClr val="F6F2E9"/>
                </a:solidFill>
                <a:latin typeface="Aptos"/>
              </a:rPr>
              <a:t>A membership experience for following the racing day.</a:t>
            </a:r>
          </a:p>
        </p:txBody>
      </p:sp>
    </p:spTree>
    <p:extLst>
      <p:ext uri="{BB962C8B-B14F-4D97-AF65-F5344CB8AC3E}">
        <p14:creationId xmlns:p14="http://schemas.microsoft.com/office/powerpoint/2010/main" val="867662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2E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C52618-5159-4E3E-A682-D7EC25104193}"/>
              </a:ext>
            </a:extLst>
          </p:cNvPr>
          <p:cNvSpPr txBox="1"/>
          <p:nvPr/>
        </p:nvSpPr>
        <p:spPr>
          <a:xfrm>
            <a:off x="609600" y="304800"/>
            <a:ext cx="2032000" cy="261610"/>
          </a:xfrm>
          <a:prstGeom prst="rect">
            <a:avLst/>
          </a:prstGeom>
          <a:noFill/>
        </p:spPr>
        <p:txBody>
          <a:bodyPr vert="horz" wrap="square" lIns="0" tIns="0" rIns="0" bIns="0" rtlCol="0">
            <a:spAutoFit/>
          </a:bodyPr>
          <a:lstStyle/>
          <a:p>
            <a:pPr>
              <a:spcAft>
                <a:spcPts val="800"/>
              </a:spcAft>
            </a:pPr>
            <a:r>
              <a:rPr lang="en-US" sz="1700" b="1">
                <a:solidFill>
                  <a:srgbClr val="123C32"/>
                </a:solidFill>
                <a:latin typeface="Aptos"/>
              </a:rPr>
              <a:t>JOCKEY</a:t>
            </a:r>
          </a:p>
        </p:txBody>
      </p:sp>
      <p:sp>
        <p:nvSpPr>
          <p:cNvPr id="3" name="TextBox 2">
            <a:extLst>
              <a:ext uri="{FF2B5EF4-FFF2-40B4-BE49-F238E27FC236}">
                <a16:creationId xmlns:a16="http://schemas.microsoft.com/office/drawing/2014/main" id="{D67D542D-D4ED-4ACA-B645-738D4F5742B5}"/>
              </a:ext>
            </a:extLst>
          </p:cNvPr>
          <p:cNvSpPr txBox="1"/>
          <p:nvPr/>
        </p:nvSpPr>
        <p:spPr>
          <a:xfrm>
            <a:off x="3302000" y="342900"/>
            <a:ext cx="8255000" cy="169277"/>
          </a:xfrm>
          <a:prstGeom prst="rect">
            <a:avLst/>
          </a:prstGeom>
          <a:noFill/>
        </p:spPr>
        <p:txBody>
          <a:bodyPr vert="horz" wrap="square" lIns="0" tIns="0" rIns="0" bIns="0" rtlCol="0">
            <a:spAutoFit/>
          </a:bodyPr>
          <a:lstStyle/>
          <a:p>
            <a:pPr>
              <a:spcAft>
                <a:spcPts val="800"/>
              </a:spcAft>
            </a:pPr>
            <a:r>
              <a:rPr lang="en-US" sz="1100">
                <a:solidFill>
                  <a:srgbClr val="63736B"/>
                </a:solidFill>
                <a:latin typeface="Aptos"/>
              </a:rPr>
              <a:t>THE PRODUCT EXPERIENCE</a:t>
            </a:r>
          </a:p>
        </p:txBody>
      </p:sp>
      <p:sp>
        <p:nvSpPr>
          <p:cNvPr id="4" name="TextBox 3">
            <a:extLst>
              <a:ext uri="{FF2B5EF4-FFF2-40B4-BE49-F238E27FC236}">
                <a16:creationId xmlns:a16="http://schemas.microsoft.com/office/drawing/2014/main" id="{CA0CD2F1-0D8E-4179-8436-6371A144CB1F}"/>
              </a:ext>
            </a:extLst>
          </p:cNvPr>
          <p:cNvSpPr txBox="1"/>
          <p:nvPr/>
        </p:nvSpPr>
        <p:spPr>
          <a:xfrm>
            <a:off x="609600" y="6426200"/>
            <a:ext cx="8890000" cy="153888"/>
          </a:xfrm>
          <a:prstGeom prst="rect">
            <a:avLst/>
          </a:prstGeom>
          <a:noFill/>
        </p:spPr>
        <p:txBody>
          <a:bodyPr vert="horz" wrap="square" lIns="0" tIns="0" rIns="0" bIns="0" rtlCol="0">
            <a:spAutoFit/>
          </a:bodyPr>
          <a:lstStyle/>
          <a:p>
            <a:pPr>
              <a:spcAft>
                <a:spcPts val="800"/>
              </a:spcAft>
            </a:pPr>
            <a:r>
              <a:rPr lang="en-US" sz="1000">
                <a:solidFill>
                  <a:srgbClr val="63736B"/>
                </a:solidFill>
                <a:latin typeface="Aptos"/>
              </a:rPr>
              <a:t>STAKEHOLDER SHOWCASE  /  18 OCT 2026</a:t>
            </a:r>
          </a:p>
        </p:txBody>
      </p:sp>
      <p:sp>
        <p:nvSpPr>
          <p:cNvPr id="5" name="TextBox 4">
            <a:extLst>
              <a:ext uri="{FF2B5EF4-FFF2-40B4-BE49-F238E27FC236}">
                <a16:creationId xmlns:a16="http://schemas.microsoft.com/office/drawing/2014/main" id="{B0E072A1-EB5F-411C-89E1-DB9906C8D64B}"/>
              </a:ext>
            </a:extLst>
          </p:cNvPr>
          <p:cNvSpPr txBox="1"/>
          <p:nvPr/>
        </p:nvSpPr>
        <p:spPr>
          <a:xfrm>
            <a:off x="11112500" y="6375400"/>
            <a:ext cx="508000" cy="200055"/>
          </a:xfrm>
          <a:prstGeom prst="rect">
            <a:avLst/>
          </a:prstGeom>
          <a:noFill/>
        </p:spPr>
        <p:txBody>
          <a:bodyPr vert="horz" wrap="square" lIns="0" tIns="0" rIns="0" bIns="0" rtlCol="0">
            <a:spAutoFit/>
          </a:bodyPr>
          <a:lstStyle/>
          <a:p>
            <a:pPr>
              <a:spcAft>
                <a:spcPts val="800"/>
              </a:spcAft>
            </a:pPr>
            <a:r>
              <a:rPr lang="en-US" sz="1300">
                <a:solidFill>
                  <a:srgbClr val="63736B"/>
                </a:solidFill>
                <a:latin typeface="Aptos"/>
              </a:rPr>
              <a:t>02</a:t>
            </a:r>
          </a:p>
        </p:txBody>
      </p:sp>
      <p:sp>
        <p:nvSpPr>
          <p:cNvPr id="6" name="TextBox 5">
            <a:extLst>
              <a:ext uri="{FF2B5EF4-FFF2-40B4-BE49-F238E27FC236}">
                <a16:creationId xmlns:a16="http://schemas.microsoft.com/office/drawing/2014/main" id="{59B962EF-1D5A-41A7-8002-1CE9F6D7BE4C}"/>
              </a:ext>
            </a:extLst>
          </p:cNvPr>
          <p:cNvSpPr txBox="1"/>
          <p:nvPr/>
        </p:nvSpPr>
        <p:spPr>
          <a:xfrm>
            <a:off x="609600" y="1117600"/>
            <a:ext cx="10972800" cy="569387"/>
          </a:xfrm>
          <a:prstGeom prst="rect">
            <a:avLst/>
          </a:prstGeom>
          <a:noFill/>
        </p:spPr>
        <p:txBody>
          <a:bodyPr vert="horz" wrap="square" lIns="0" tIns="0" rIns="0" bIns="0" rtlCol="0">
            <a:spAutoFit/>
          </a:bodyPr>
          <a:lstStyle/>
          <a:p>
            <a:pPr>
              <a:spcAft>
                <a:spcPts val="800"/>
              </a:spcAft>
            </a:pPr>
            <a:r>
              <a:rPr lang="en-US" sz="3700">
                <a:solidFill>
                  <a:srgbClr val="123C32"/>
                </a:solidFill>
                <a:latin typeface="Georgia" panose="02040502050405020303" pitchFamily="18" charset="0"/>
              </a:rPr>
              <a:t>Follow the racing day in one place</a:t>
            </a:r>
          </a:p>
        </p:txBody>
      </p:sp>
      <p:sp>
        <p:nvSpPr>
          <p:cNvPr id="7" name="TextBox 6">
            <a:extLst>
              <a:ext uri="{FF2B5EF4-FFF2-40B4-BE49-F238E27FC236}">
                <a16:creationId xmlns:a16="http://schemas.microsoft.com/office/drawing/2014/main" id="{DC7A026E-59A6-4AC0-8D6C-97A9ABE5BDC0}"/>
              </a:ext>
            </a:extLst>
          </p:cNvPr>
          <p:cNvSpPr txBox="1"/>
          <p:nvPr/>
        </p:nvSpPr>
        <p:spPr>
          <a:xfrm>
            <a:off x="609600" y="3073400"/>
            <a:ext cx="889000" cy="523220"/>
          </a:xfrm>
          <a:prstGeom prst="rect">
            <a:avLst/>
          </a:prstGeom>
          <a:noFill/>
        </p:spPr>
        <p:txBody>
          <a:bodyPr vert="horz" wrap="square" lIns="0" tIns="0" rIns="0" bIns="0" rtlCol="0">
            <a:spAutoFit/>
          </a:bodyPr>
          <a:lstStyle/>
          <a:p>
            <a:pPr>
              <a:spcAft>
                <a:spcPts val="800"/>
              </a:spcAft>
            </a:pPr>
            <a:r>
              <a:rPr lang="en-US" sz="3400">
                <a:solidFill>
                  <a:srgbClr val="B99756"/>
                </a:solidFill>
                <a:latin typeface="Aptos"/>
              </a:rPr>
              <a:t>01</a:t>
            </a:r>
          </a:p>
        </p:txBody>
      </p:sp>
      <p:sp>
        <p:nvSpPr>
          <p:cNvPr id="8" name="TextBox 7">
            <a:extLst>
              <a:ext uri="{FF2B5EF4-FFF2-40B4-BE49-F238E27FC236}">
                <a16:creationId xmlns:a16="http://schemas.microsoft.com/office/drawing/2014/main" id="{E476C51B-C0A5-41E2-8CB5-07B20AE8A93D}"/>
              </a:ext>
            </a:extLst>
          </p:cNvPr>
          <p:cNvSpPr txBox="1"/>
          <p:nvPr/>
        </p:nvSpPr>
        <p:spPr>
          <a:xfrm>
            <a:off x="1828800" y="3060700"/>
            <a:ext cx="9398000" cy="461665"/>
          </a:xfrm>
          <a:prstGeom prst="rect">
            <a:avLst/>
          </a:prstGeom>
          <a:noFill/>
        </p:spPr>
        <p:txBody>
          <a:bodyPr vert="horz" wrap="square" lIns="0" tIns="0" rIns="0" bIns="0" rtlCol="0">
            <a:spAutoFit/>
          </a:bodyPr>
          <a:lstStyle/>
          <a:p>
            <a:pPr>
              <a:spcAft>
                <a:spcPts val="800"/>
              </a:spcAft>
            </a:pPr>
            <a:r>
              <a:rPr lang="en-US" sz="3000">
                <a:solidFill>
                  <a:srgbClr val="123C32"/>
                </a:solidFill>
                <a:latin typeface="Aptos"/>
              </a:rPr>
              <a:t>Discover the meeting.</a:t>
            </a:r>
          </a:p>
        </p:txBody>
      </p:sp>
      <p:sp>
        <p:nvSpPr>
          <p:cNvPr id="9" name="TextBox 8">
            <a:extLst>
              <a:ext uri="{FF2B5EF4-FFF2-40B4-BE49-F238E27FC236}">
                <a16:creationId xmlns:a16="http://schemas.microsoft.com/office/drawing/2014/main" id="{F8D29F2D-5BA4-429D-9C01-9B7757B11981}"/>
              </a:ext>
            </a:extLst>
          </p:cNvPr>
          <p:cNvSpPr txBox="1"/>
          <p:nvPr/>
        </p:nvSpPr>
        <p:spPr>
          <a:xfrm>
            <a:off x="609600" y="4013200"/>
            <a:ext cx="889000" cy="523220"/>
          </a:xfrm>
          <a:prstGeom prst="rect">
            <a:avLst/>
          </a:prstGeom>
          <a:noFill/>
        </p:spPr>
        <p:txBody>
          <a:bodyPr vert="horz" wrap="square" lIns="0" tIns="0" rIns="0" bIns="0" rtlCol="0">
            <a:spAutoFit/>
          </a:bodyPr>
          <a:lstStyle/>
          <a:p>
            <a:pPr>
              <a:spcAft>
                <a:spcPts val="800"/>
              </a:spcAft>
            </a:pPr>
            <a:r>
              <a:rPr lang="en-US" sz="3400">
                <a:solidFill>
                  <a:srgbClr val="B99756"/>
                </a:solidFill>
                <a:latin typeface="Aptos"/>
              </a:rPr>
              <a:t>02</a:t>
            </a:r>
          </a:p>
        </p:txBody>
      </p:sp>
      <p:sp>
        <p:nvSpPr>
          <p:cNvPr id="10" name="TextBox 9">
            <a:extLst>
              <a:ext uri="{FF2B5EF4-FFF2-40B4-BE49-F238E27FC236}">
                <a16:creationId xmlns:a16="http://schemas.microsoft.com/office/drawing/2014/main" id="{8369EB01-127B-4A5E-BB35-DE6F4945CE5D}"/>
              </a:ext>
            </a:extLst>
          </p:cNvPr>
          <p:cNvSpPr txBox="1"/>
          <p:nvPr/>
        </p:nvSpPr>
        <p:spPr>
          <a:xfrm>
            <a:off x="1828800" y="4000500"/>
            <a:ext cx="9398000" cy="461665"/>
          </a:xfrm>
          <a:prstGeom prst="rect">
            <a:avLst/>
          </a:prstGeom>
          <a:noFill/>
        </p:spPr>
        <p:txBody>
          <a:bodyPr vert="horz" wrap="square" lIns="0" tIns="0" rIns="0" bIns="0" rtlCol="0">
            <a:spAutoFit/>
          </a:bodyPr>
          <a:lstStyle/>
          <a:p>
            <a:pPr>
              <a:spcAft>
                <a:spcPts val="800"/>
              </a:spcAft>
            </a:pPr>
            <a:r>
              <a:rPr lang="en-US" sz="3000">
                <a:solidFill>
                  <a:srgbClr val="123C32"/>
                </a:solidFill>
                <a:latin typeface="Aptos"/>
              </a:rPr>
              <a:t>Study the field.</a:t>
            </a:r>
          </a:p>
        </p:txBody>
      </p:sp>
      <p:sp>
        <p:nvSpPr>
          <p:cNvPr id="11" name="TextBox 10">
            <a:extLst>
              <a:ext uri="{FF2B5EF4-FFF2-40B4-BE49-F238E27FC236}">
                <a16:creationId xmlns:a16="http://schemas.microsoft.com/office/drawing/2014/main" id="{4AE18B08-7356-4851-90BE-A130427F8530}"/>
              </a:ext>
            </a:extLst>
          </p:cNvPr>
          <p:cNvSpPr txBox="1"/>
          <p:nvPr/>
        </p:nvSpPr>
        <p:spPr>
          <a:xfrm>
            <a:off x="609600" y="4953000"/>
            <a:ext cx="889000" cy="523220"/>
          </a:xfrm>
          <a:prstGeom prst="rect">
            <a:avLst/>
          </a:prstGeom>
          <a:noFill/>
        </p:spPr>
        <p:txBody>
          <a:bodyPr vert="horz" wrap="square" lIns="0" tIns="0" rIns="0" bIns="0" rtlCol="0">
            <a:spAutoFit/>
          </a:bodyPr>
          <a:lstStyle/>
          <a:p>
            <a:pPr>
              <a:spcAft>
                <a:spcPts val="800"/>
              </a:spcAft>
            </a:pPr>
            <a:r>
              <a:rPr lang="en-US" sz="3400">
                <a:solidFill>
                  <a:srgbClr val="B99756"/>
                </a:solidFill>
                <a:latin typeface="Aptos"/>
              </a:rPr>
              <a:t>03</a:t>
            </a:r>
          </a:p>
        </p:txBody>
      </p:sp>
      <p:sp>
        <p:nvSpPr>
          <p:cNvPr id="12" name="TextBox 11">
            <a:extLst>
              <a:ext uri="{FF2B5EF4-FFF2-40B4-BE49-F238E27FC236}">
                <a16:creationId xmlns:a16="http://schemas.microsoft.com/office/drawing/2014/main" id="{E043A2B5-D597-4C4B-B195-8A101B33E816}"/>
              </a:ext>
            </a:extLst>
          </p:cNvPr>
          <p:cNvSpPr txBox="1"/>
          <p:nvPr/>
        </p:nvSpPr>
        <p:spPr>
          <a:xfrm>
            <a:off x="1828800" y="4940300"/>
            <a:ext cx="9398000" cy="461665"/>
          </a:xfrm>
          <a:prstGeom prst="rect">
            <a:avLst/>
          </a:prstGeom>
          <a:noFill/>
        </p:spPr>
        <p:txBody>
          <a:bodyPr vert="horz" wrap="square" lIns="0" tIns="0" rIns="0" bIns="0" rtlCol="0">
            <a:spAutoFit/>
          </a:bodyPr>
          <a:lstStyle/>
          <a:p>
            <a:pPr>
              <a:spcAft>
                <a:spcPts val="800"/>
              </a:spcAft>
            </a:pPr>
            <a:r>
              <a:rPr lang="en-US" sz="3000">
                <a:solidFill>
                  <a:srgbClr val="123C32"/>
                </a:solidFill>
                <a:latin typeface="Aptos"/>
              </a:rPr>
              <a:t>Review the result.</a:t>
            </a:r>
          </a:p>
        </p:txBody>
      </p:sp>
    </p:spTree>
    <p:extLst>
      <p:ext uri="{BB962C8B-B14F-4D97-AF65-F5344CB8AC3E}">
        <p14:creationId xmlns:p14="http://schemas.microsoft.com/office/powerpoint/2010/main" val="338461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2E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A22CBA-834B-426A-91B1-B06A0E65708C}"/>
              </a:ext>
            </a:extLst>
          </p:cNvPr>
          <p:cNvSpPr txBox="1"/>
          <p:nvPr/>
        </p:nvSpPr>
        <p:spPr>
          <a:xfrm>
            <a:off x="609600" y="304800"/>
            <a:ext cx="2032000" cy="261610"/>
          </a:xfrm>
          <a:prstGeom prst="rect">
            <a:avLst/>
          </a:prstGeom>
          <a:noFill/>
        </p:spPr>
        <p:txBody>
          <a:bodyPr vert="horz" wrap="square" lIns="0" tIns="0" rIns="0" bIns="0" rtlCol="0">
            <a:spAutoFit/>
          </a:bodyPr>
          <a:lstStyle/>
          <a:p>
            <a:pPr>
              <a:spcAft>
                <a:spcPts val="800"/>
              </a:spcAft>
            </a:pPr>
            <a:r>
              <a:rPr lang="en-US" sz="1700" b="1">
                <a:solidFill>
                  <a:srgbClr val="123C32"/>
                </a:solidFill>
                <a:latin typeface="Aptos"/>
              </a:rPr>
              <a:t>JOCKEY</a:t>
            </a:r>
          </a:p>
        </p:txBody>
      </p:sp>
      <p:sp>
        <p:nvSpPr>
          <p:cNvPr id="3" name="TextBox 2">
            <a:extLst>
              <a:ext uri="{FF2B5EF4-FFF2-40B4-BE49-F238E27FC236}">
                <a16:creationId xmlns:a16="http://schemas.microsoft.com/office/drawing/2014/main" id="{287E2AB9-3BD2-4A18-8702-BDC874A07AB0}"/>
              </a:ext>
            </a:extLst>
          </p:cNvPr>
          <p:cNvSpPr txBox="1"/>
          <p:nvPr/>
        </p:nvSpPr>
        <p:spPr>
          <a:xfrm>
            <a:off x="3302000" y="342900"/>
            <a:ext cx="8255000" cy="169277"/>
          </a:xfrm>
          <a:prstGeom prst="rect">
            <a:avLst/>
          </a:prstGeom>
          <a:noFill/>
        </p:spPr>
        <p:txBody>
          <a:bodyPr vert="horz" wrap="square" lIns="0" tIns="0" rIns="0" bIns="0" rtlCol="0">
            <a:spAutoFit/>
          </a:bodyPr>
          <a:lstStyle/>
          <a:p>
            <a:pPr>
              <a:spcAft>
                <a:spcPts val="800"/>
              </a:spcAft>
            </a:pPr>
            <a:r>
              <a:rPr lang="en-US" sz="1100">
                <a:solidFill>
                  <a:srgbClr val="63736B"/>
                </a:solidFill>
                <a:latin typeface="Aptos"/>
              </a:rPr>
              <a:t>DISCOVERY</a:t>
            </a:r>
          </a:p>
        </p:txBody>
      </p:sp>
      <p:sp>
        <p:nvSpPr>
          <p:cNvPr id="4" name="TextBox 3">
            <a:extLst>
              <a:ext uri="{FF2B5EF4-FFF2-40B4-BE49-F238E27FC236}">
                <a16:creationId xmlns:a16="http://schemas.microsoft.com/office/drawing/2014/main" id="{8EA0F8BE-E2D3-49BE-A19B-D6DA235460BF}"/>
              </a:ext>
            </a:extLst>
          </p:cNvPr>
          <p:cNvSpPr txBox="1"/>
          <p:nvPr/>
        </p:nvSpPr>
        <p:spPr>
          <a:xfrm>
            <a:off x="609600" y="6426200"/>
            <a:ext cx="8890000" cy="153888"/>
          </a:xfrm>
          <a:prstGeom prst="rect">
            <a:avLst/>
          </a:prstGeom>
          <a:noFill/>
        </p:spPr>
        <p:txBody>
          <a:bodyPr vert="horz" wrap="square" lIns="0" tIns="0" rIns="0" bIns="0" rtlCol="0">
            <a:spAutoFit/>
          </a:bodyPr>
          <a:lstStyle/>
          <a:p>
            <a:pPr>
              <a:spcAft>
                <a:spcPts val="800"/>
              </a:spcAft>
            </a:pPr>
            <a:r>
              <a:rPr lang="en-US" sz="1000">
                <a:solidFill>
                  <a:srgbClr val="63736B"/>
                </a:solidFill>
                <a:latin typeface="Aptos"/>
              </a:rPr>
              <a:t>STAKEHOLDER SHOWCASE  /  18 OCT 2026</a:t>
            </a:r>
          </a:p>
        </p:txBody>
      </p:sp>
      <p:sp>
        <p:nvSpPr>
          <p:cNvPr id="5" name="TextBox 4">
            <a:extLst>
              <a:ext uri="{FF2B5EF4-FFF2-40B4-BE49-F238E27FC236}">
                <a16:creationId xmlns:a16="http://schemas.microsoft.com/office/drawing/2014/main" id="{D5592195-8F35-459C-A8D2-ADD652E518D3}"/>
              </a:ext>
            </a:extLst>
          </p:cNvPr>
          <p:cNvSpPr txBox="1"/>
          <p:nvPr/>
        </p:nvSpPr>
        <p:spPr>
          <a:xfrm>
            <a:off x="11112500" y="6375400"/>
            <a:ext cx="508000" cy="200055"/>
          </a:xfrm>
          <a:prstGeom prst="rect">
            <a:avLst/>
          </a:prstGeom>
          <a:noFill/>
        </p:spPr>
        <p:txBody>
          <a:bodyPr vert="horz" wrap="square" lIns="0" tIns="0" rIns="0" bIns="0" rtlCol="0">
            <a:spAutoFit/>
          </a:bodyPr>
          <a:lstStyle/>
          <a:p>
            <a:pPr>
              <a:spcAft>
                <a:spcPts val="800"/>
              </a:spcAft>
            </a:pPr>
            <a:r>
              <a:rPr lang="en-US" sz="1300">
                <a:solidFill>
                  <a:srgbClr val="63736B"/>
                </a:solidFill>
                <a:latin typeface="Aptos"/>
              </a:rPr>
              <a:t>03</a:t>
            </a:r>
          </a:p>
        </p:txBody>
      </p:sp>
      <p:sp>
        <p:nvSpPr>
          <p:cNvPr id="6" name="TextBox 5">
            <a:extLst>
              <a:ext uri="{FF2B5EF4-FFF2-40B4-BE49-F238E27FC236}">
                <a16:creationId xmlns:a16="http://schemas.microsoft.com/office/drawing/2014/main" id="{F7472638-58FF-486C-805F-8DDADBDAE351}"/>
              </a:ext>
            </a:extLst>
          </p:cNvPr>
          <p:cNvSpPr txBox="1"/>
          <p:nvPr/>
        </p:nvSpPr>
        <p:spPr>
          <a:xfrm>
            <a:off x="609600" y="1117600"/>
            <a:ext cx="10972800" cy="569387"/>
          </a:xfrm>
          <a:prstGeom prst="rect">
            <a:avLst/>
          </a:prstGeom>
          <a:noFill/>
        </p:spPr>
        <p:txBody>
          <a:bodyPr vert="horz" wrap="square" lIns="0" tIns="0" rIns="0" bIns="0" rtlCol="0">
            <a:spAutoFit/>
          </a:bodyPr>
          <a:lstStyle/>
          <a:p>
            <a:pPr>
              <a:spcAft>
                <a:spcPts val="800"/>
              </a:spcAft>
            </a:pPr>
            <a:r>
              <a:rPr lang="en-US" sz="3700">
                <a:solidFill>
                  <a:srgbClr val="123C32"/>
                </a:solidFill>
                <a:latin typeface="Georgia" panose="02040502050405020303" pitchFamily="18" charset="0"/>
              </a:rPr>
              <a:t>The calendar is the entry point</a:t>
            </a:r>
          </a:p>
        </p:txBody>
      </p:sp>
      <p:sp>
        <p:nvSpPr>
          <p:cNvPr id="7" name="TextBox 6">
            <a:extLst>
              <a:ext uri="{FF2B5EF4-FFF2-40B4-BE49-F238E27FC236}">
                <a16:creationId xmlns:a16="http://schemas.microsoft.com/office/drawing/2014/main" id="{3447C91E-0567-482F-93D3-237BF95E8323}"/>
              </a:ext>
            </a:extLst>
          </p:cNvPr>
          <p:cNvSpPr txBox="1"/>
          <p:nvPr/>
        </p:nvSpPr>
        <p:spPr>
          <a:xfrm>
            <a:off x="609600" y="2997200"/>
            <a:ext cx="4445000" cy="246221"/>
          </a:xfrm>
          <a:prstGeom prst="rect">
            <a:avLst/>
          </a:prstGeom>
          <a:noFill/>
        </p:spPr>
        <p:txBody>
          <a:bodyPr vert="horz" wrap="square" lIns="0" tIns="0" rIns="0" bIns="0" rtlCol="0">
            <a:spAutoFit/>
          </a:bodyPr>
          <a:lstStyle/>
          <a:p>
            <a:pPr>
              <a:spcAft>
                <a:spcPts val="800"/>
              </a:spcAft>
            </a:pPr>
            <a:r>
              <a:rPr lang="en-US" sz="1600" b="1">
                <a:solidFill>
                  <a:srgbClr val="B99756"/>
                </a:solidFill>
                <a:latin typeface="Aptos"/>
              </a:rPr>
              <a:t>PUBLIC</a:t>
            </a:r>
          </a:p>
        </p:txBody>
      </p:sp>
      <p:sp>
        <p:nvSpPr>
          <p:cNvPr id="8" name="TextBox 7">
            <a:extLst>
              <a:ext uri="{FF2B5EF4-FFF2-40B4-BE49-F238E27FC236}">
                <a16:creationId xmlns:a16="http://schemas.microsoft.com/office/drawing/2014/main" id="{09A56B71-00AE-40EE-A8EB-D4A5C69DD482}"/>
              </a:ext>
            </a:extLst>
          </p:cNvPr>
          <p:cNvSpPr txBox="1"/>
          <p:nvPr/>
        </p:nvSpPr>
        <p:spPr>
          <a:xfrm>
            <a:off x="609600" y="3632200"/>
            <a:ext cx="4762500" cy="1405513"/>
          </a:xfrm>
          <a:prstGeom prst="rect">
            <a:avLst/>
          </a:prstGeom>
          <a:noFill/>
        </p:spPr>
        <p:txBody>
          <a:bodyPr vert="horz" wrap="square" lIns="0" tIns="0" rIns="0" bIns="0" rtlCol="0">
            <a:spAutoFit/>
          </a:bodyPr>
          <a:lstStyle/>
          <a:p>
            <a:pPr>
              <a:spcAft>
                <a:spcPts val="800"/>
              </a:spcAft>
            </a:pPr>
            <a:r>
              <a:rPr lang="en-US" sz="2600">
                <a:solidFill>
                  <a:srgbClr val="123C32"/>
                </a:solidFill>
                <a:latin typeface="Aptos"/>
              </a:rPr>
              <a:t>Racing dates
Meeting summaries
Learning guide</a:t>
            </a:r>
          </a:p>
        </p:txBody>
      </p:sp>
      <p:sp>
        <p:nvSpPr>
          <p:cNvPr id="9" name="TextBox 8">
            <a:extLst>
              <a:ext uri="{FF2B5EF4-FFF2-40B4-BE49-F238E27FC236}">
                <a16:creationId xmlns:a16="http://schemas.microsoft.com/office/drawing/2014/main" id="{007303BD-B1D9-4E4F-AB6B-F60676CA2FDC}"/>
              </a:ext>
            </a:extLst>
          </p:cNvPr>
          <p:cNvSpPr txBox="1"/>
          <p:nvPr/>
        </p:nvSpPr>
        <p:spPr>
          <a:xfrm>
            <a:off x="6350000" y="2997200"/>
            <a:ext cx="5080000" cy="246221"/>
          </a:xfrm>
          <a:prstGeom prst="rect">
            <a:avLst/>
          </a:prstGeom>
          <a:noFill/>
        </p:spPr>
        <p:txBody>
          <a:bodyPr vert="horz" wrap="square" lIns="0" tIns="0" rIns="0" bIns="0" rtlCol="0">
            <a:spAutoFit/>
          </a:bodyPr>
          <a:lstStyle/>
          <a:p>
            <a:pPr>
              <a:spcAft>
                <a:spcPts val="800"/>
              </a:spcAft>
            </a:pPr>
            <a:r>
              <a:rPr lang="en-US" sz="1600" b="1">
                <a:solidFill>
                  <a:srgbClr val="B99756"/>
                </a:solidFill>
                <a:latin typeface="Aptos"/>
              </a:rPr>
              <a:t>WITH MEMBERSHIP</a:t>
            </a:r>
          </a:p>
        </p:txBody>
      </p:sp>
      <p:sp>
        <p:nvSpPr>
          <p:cNvPr id="10" name="TextBox 9">
            <a:extLst>
              <a:ext uri="{FF2B5EF4-FFF2-40B4-BE49-F238E27FC236}">
                <a16:creationId xmlns:a16="http://schemas.microsoft.com/office/drawing/2014/main" id="{310A1146-EFF6-4F44-BC41-40AF1C3CDD8C}"/>
              </a:ext>
            </a:extLst>
          </p:cNvPr>
          <p:cNvSpPr txBox="1"/>
          <p:nvPr/>
        </p:nvSpPr>
        <p:spPr>
          <a:xfrm>
            <a:off x="6350000" y="3632200"/>
            <a:ext cx="5232400" cy="1405513"/>
          </a:xfrm>
          <a:prstGeom prst="rect">
            <a:avLst/>
          </a:prstGeom>
          <a:noFill/>
        </p:spPr>
        <p:txBody>
          <a:bodyPr vert="horz" wrap="square" lIns="0" tIns="0" rIns="0" bIns="0" rtlCol="0">
            <a:spAutoFit/>
          </a:bodyPr>
          <a:lstStyle/>
          <a:p>
            <a:pPr>
              <a:spcAft>
                <a:spcPts val="800"/>
              </a:spcAft>
            </a:pPr>
            <a:r>
              <a:rPr lang="en-US" sz="2600">
                <a:solidFill>
                  <a:srgbClr val="123C32"/>
                </a:solidFill>
                <a:latin typeface="Aptos"/>
              </a:rPr>
              <a:t>Meeting programs
Race declarations
Recorded form and results</a:t>
            </a:r>
          </a:p>
        </p:txBody>
      </p:sp>
    </p:spTree>
    <p:extLst>
      <p:ext uri="{BB962C8B-B14F-4D97-AF65-F5344CB8AC3E}">
        <p14:creationId xmlns:p14="http://schemas.microsoft.com/office/powerpoint/2010/main" val="372498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2E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814B09-AAFC-4CEE-825B-403F9D96321E}"/>
              </a:ext>
            </a:extLst>
          </p:cNvPr>
          <p:cNvSpPr txBox="1"/>
          <p:nvPr/>
        </p:nvSpPr>
        <p:spPr>
          <a:xfrm>
            <a:off x="609600" y="304800"/>
            <a:ext cx="2032000" cy="261610"/>
          </a:xfrm>
          <a:prstGeom prst="rect">
            <a:avLst/>
          </a:prstGeom>
          <a:noFill/>
        </p:spPr>
        <p:txBody>
          <a:bodyPr vert="horz" wrap="square" lIns="0" tIns="0" rIns="0" bIns="0" rtlCol="0">
            <a:spAutoFit/>
          </a:bodyPr>
          <a:lstStyle/>
          <a:p>
            <a:pPr>
              <a:spcAft>
                <a:spcPts val="800"/>
              </a:spcAft>
            </a:pPr>
            <a:r>
              <a:rPr lang="en-US" sz="1700" b="1">
                <a:solidFill>
                  <a:srgbClr val="123C32"/>
                </a:solidFill>
                <a:latin typeface="Aptos"/>
              </a:rPr>
              <a:t>JOCKEY</a:t>
            </a:r>
          </a:p>
        </p:txBody>
      </p:sp>
      <p:sp>
        <p:nvSpPr>
          <p:cNvPr id="3" name="TextBox 2">
            <a:extLst>
              <a:ext uri="{FF2B5EF4-FFF2-40B4-BE49-F238E27FC236}">
                <a16:creationId xmlns:a16="http://schemas.microsoft.com/office/drawing/2014/main" id="{D5CF5063-473A-4750-912F-8F0E39A9582F}"/>
              </a:ext>
            </a:extLst>
          </p:cNvPr>
          <p:cNvSpPr txBox="1"/>
          <p:nvPr/>
        </p:nvSpPr>
        <p:spPr>
          <a:xfrm>
            <a:off x="3302000" y="342900"/>
            <a:ext cx="8255000" cy="169277"/>
          </a:xfrm>
          <a:prstGeom prst="rect">
            <a:avLst/>
          </a:prstGeom>
          <a:noFill/>
        </p:spPr>
        <p:txBody>
          <a:bodyPr vert="horz" wrap="square" lIns="0" tIns="0" rIns="0" bIns="0" rtlCol="0">
            <a:spAutoFit/>
          </a:bodyPr>
          <a:lstStyle/>
          <a:p>
            <a:pPr>
              <a:spcAft>
                <a:spcPts val="800"/>
              </a:spcAft>
            </a:pPr>
            <a:r>
              <a:rPr lang="en-US" sz="1100">
                <a:solidFill>
                  <a:srgbClr val="63736B"/>
                </a:solidFill>
                <a:latin typeface="Aptos"/>
              </a:rPr>
              <a:t>RACE PROGRAMS</a:t>
            </a:r>
          </a:p>
        </p:txBody>
      </p:sp>
      <p:sp>
        <p:nvSpPr>
          <p:cNvPr id="4" name="TextBox 3">
            <a:extLst>
              <a:ext uri="{FF2B5EF4-FFF2-40B4-BE49-F238E27FC236}">
                <a16:creationId xmlns:a16="http://schemas.microsoft.com/office/drawing/2014/main" id="{8BC95562-E0CC-4DCA-A59F-C6AA9A42A841}"/>
              </a:ext>
            </a:extLst>
          </p:cNvPr>
          <p:cNvSpPr txBox="1"/>
          <p:nvPr/>
        </p:nvSpPr>
        <p:spPr>
          <a:xfrm>
            <a:off x="609600" y="6426200"/>
            <a:ext cx="8890000" cy="153888"/>
          </a:xfrm>
          <a:prstGeom prst="rect">
            <a:avLst/>
          </a:prstGeom>
          <a:noFill/>
        </p:spPr>
        <p:txBody>
          <a:bodyPr vert="horz" wrap="square" lIns="0" tIns="0" rIns="0" bIns="0" rtlCol="0">
            <a:spAutoFit/>
          </a:bodyPr>
          <a:lstStyle/>
          <a:p>
            <a:pPr>
              <a:spcAft>
                <a:spcPts val="800"/>
              </a:spcAft>
            </a:pPr>
            <a:r>
              <a:rPr lang="en-US" sz="1000">
                <a:solidFill>
                  <a:srgbClr val="63736B"/>
                </a:solidFill>
                <a:latin typeface="Aptos"/>
              </a:rPr>
              <a:t>STAKEHOLDER SHOWCASE  /  18 OCT 2026</a:t>
            </a:r>
          </a:p>
        </p:txBody>
      </p:sp>
      <p:sp>
        <p:nvSpPr>
          <p:cNvPr id="5" name="TextBox 4">
            <a:extLst>
              <a:ext uri="{FF2B5EF4-FFF2-40B4-BE49-F238E27FC236}">
                <a16:creationId xmlns:a16="http://schemas.microsoft.com/office/drawing/2014/main" id="{FE5EB91B-5BF7-4D6C-BC7A-8B512A551456}"/>
              </a:ext>
            </a:extLst>
          </p:cNvPr>
          <p:cNvSpPr txBox="1"/>
          <p:nvPr/>
        </p:nvSpPr>
        <p:spPr>
          <a:xfrm>
            <a:off x="11112500" y="6375400"/>
            <a:ext cx="508000" cy="200055"/>
          </a:xfrm>
          <a:prstGeom prst="rect">
            <a:avLst/>
          </a:prstGeom>
          <a:noFill/>
        </p:spPr>
        <p:txBody>
          <a:bodyPr vert="horz" wrap="square" lIns="0" tIns="0" rIns="0" bIns="0" rtlCol="0">
            <a:spAutoFit/>
          </a:bodyPr>
          <a:lstStyle/>
          <a:p>
            <a:pPr>
              <a:spcAft>
                <a:spcPts val="800"/>
              </a:spcAft>
            </a:pPr>
            <a:r>
              <a:rPr lang="en-US" sz="1300">
                <a:solidFill>
                  <a:srgbClr val="63736B"/>
                </a:solidFill>
                <a:latin typeface="Aptos"/>
              </a:rPr>
              <a:t>04</a:t>
            </a:r>
          </a:p>
        </p:txBody>
      </p:sp>
      <p:sp>
        <p:nvSpPr>
          <p:cNvPr id="6" name="TextBox 5">
            <a:extLst>
              <a:ext uri="{FF2B5EF4-FFF2-40B4-BE49-F238E27FC236}">
                <a16:creationId xmlns:a16="http://schemas.microsoft.com/office/drawing/2014/main" id="{B567D29A-48F5-4142-A8E5-44A6E9F4406A}"/>
              </a:ext>
            </a:extLst>
          </p:cNvPr>
          <p:cNvSpPr txBox="1"/>
          <p:nvPr/>
        </p:nvSpPr>
        <p:spPr>
          <a:xfrm>
            <a:off x="609600" y="1117600"/>
            <a:ext cx="10972800" cy="569387"/>
          </a:xfrm>
          <a:prstGeom prst="rect">
            <a:avLst/>
          </a:prstGeom>
          <a:noFill/>
        </p:spPr>
        <p:txBody>
          <a:bodyPr vert="horz" wrap="square" lIns="0" tIns="0" rIns="0" bIns="0" rtlCol="0">
            <a:spAutoFit/>
          </a:bodyPr>
          <a:lstStyle/>
          <a:p>
            <a:pPr>
              <a:spcAft>
                <a:spcPts val="800"/>
              </a:spcAft>
            </a:pPr>
            <a:r>
              <a:rPr lang="en-US" sz="3700">
                <a:solidFill>
                  <a:srgbClr val="123C32"/>
                </a:solidFill>
                <a:latin typeface="Georgia" panose="02040502050405020303" pitchFamily="18" charset="0"/>
              </a:rPr>
              <a:t>Connect the field to its history</a:t>
            </a:r>
          </a:p>
        </p:txBody>
      </p:sp>
      <p:sp>
        <p:nvSpPr>
          <p:cNvPr id="7" name="TextBox 6">
            <a:extLst>
              <a:ext uri="{FF2B5EF4-FFF2-40B4-BE49-F238E27FC236}">
                <a16:creationId xmlns:a16="http://schemas.microsoft.com/office/drawing/2014/main" id="{43A63690-9F82-4107-9741-6128A5EAC1ED}"/>
              </a:ext>
            </a:extLst>
          </p:cNvPr>
          <p:cNvSpPr txBox="1"/>
          <p:nvPr/>
        </p:nvSpPr>
        <p:spPr>
          <a:xfrm>
            <a:off x="609600" y="2959100"/>
            <a:ext cx="3302000" cy="400110"/>
          </a:xfrm>
          <a:prstGeom prst="rect">
            <a:avLst/>
          </a:prstGeom>
          <a:noFill/>
        </p:spPr>
        <p:txBody>
          <a:bodyPr vert="horz" wrap="square" lIns="0" tIns="0" rIns="0" bIns="0" rtlCol="0">
            <a:spAutoFit/>
          </a:bodyPr>
          <a:lstStyle/>
          <a:p>
            <a:pPr>
              <a:spcAft>
                <a:spcPts val="800"/>
              </a:spcAft>
            </a:pPr>
            <a:r>
              <a:rPr lang="en-US" sz="2600">
                <a:solidFill>
                  <a:srgbClr val="123C32"/>
                </a:solidFill>
                <a:latin typeface="Georgia" panose="02040502050405020303" pitchFamily="18" charset="0"/>
              </a:rPr>
              <a:t>The program</a:t>
            </a:r>
          </a:p>
        </p:txBody>
      </p:sp>
      <p:sp>
        <p:nvSpPr>
          <p:cNvPr id="8" name="TextBox 7">
            <a:extLst>
              <a:ext uri="{FF2B5EF4-FFF2-40B4-BE49-F238E27FC236}">
                <a16:creationId xmlns:a16="http://schemas.microsoft.com/office/drawing/2014/main" id="{FCE28F6C-51C1-4370-A0F6-22C88970461E}"/>
              </a:ext>
            </a:extLst>
          </p:cNvPr>
          <p:cNvSpPr txBox="1"/>
          <p:nvPr/>
        </p:nvSpPr>
        <p:spPr>
          <a:xfrm>
            <a:off x="609600" y="3721100"/>
            <a:ext cx="3302000" cy="707886"/>
          </a:xfrm>
          <a:prstGeom prst="rect">
            <a:avLst/>
          </a:prstGeom>
          <a:noFill/>
        </p:spPr>
        <p:txBody>
          <a:bodyPr vert="horz" wrap="square" lIns="0" tIns="0" rIns="0" bIns="0" rtlCol="0">
            <a:spAutoFit/>
          </a:bodyPr>
          <a:lstStyle/>
          <a:p>
            <a:pPr>
              <a:spcAft>
                <a:spcPts val="800"/>
              </a:spcAft>
            </a:pPr>
            <a:r>
              <a:rPr lang="en-US" sz="2300">
                <a:solidFill>
                  <a:srgbClr val="123C32"/>
                </a:solidFill>
                <a:latin typeface="Aptos"/>
              </a:rPr>
              <a:t>Declarations, riders, connections and weights</a:t>
            </a:r>
          </a:p>
        </p:txBody>
      </p:sp>
      <p:sp>
        <p:nvSpPr>
          <p:cNvPr id="9" name="TextBox 8">
            <a:extLst>
              <a:ext uri="{FF2B5EF4-FFF2-40B4-BE49-F238E27FC236}">
                <a16:creationId xmlns:a16="http://schemas.microsoft.com/office/drawing/2014/main" id="{1F48D94D-745A-4602-8F78-A519795D85CD}"/>
              </a:ext>
            </a:extLst>
          </p:cNvPr>
          <p:cNvSpPr txBox="1"/>
          <p:nvPr/>
        </p:nvSpPr>
        <p:spPr>
          <a:xfrm>
            <a:off x="4445000" y="2959100"/>
            <a:ext cx="3302000" cy="400110"/>
          </a:xfrm>
          <a:prstGeom prst="rect">
            <a:avLst/>
          </a:prstGeom>
          <a:noFill/>
        </p:spPr>
        <p:txBody>
          <a:bodyPr vert="horz" wrap="square" lIns="0" tIns="0" rIns="0" bIns="0" rtlCol="0">
            <a:spAutoFit/>
          </a:bodyPr>
          <a:lstStyle/>
          <a:p>
            <a:pPr>
              <a:spcAft>
                <a:spcPts val="800"/>
              </a:spcAft>
            </a:pPr>
            <a:r>
              <a:rPr lang="en-US" sz="2600">
                <a:solidFill>
                  <a:srgbClr val="123C32"/>
                </a:solidFill>
                <a:latin typeface="Georgia" panose="02040502050405020303" pitchFamily="18" charset="0"/>
              </a:rPr>
              <a:t>The form</a:t>
            </a:r>
          </a:p>
        </p:txBody>
      </p:sp>
      <p:sp>
        <p:nvSpPr>
          <p:cNvPr id="10" name="TextBox 9">
            <a:extLst>
              <a:ext uri="{FF2B5EF4-FFF2-40B4-BE49-F238E27FC236}">
                <a16:creationId xmlns:a16="http://schemas.microsoft.com/office/drawing/2014/main" id="{D73D48BE-9E84-443E-9AE1-D09BC1D9F498}"/>
              </a:ext>
            </a:extLst>
          </p:cNvPr>
          <p:cNvSpPr txBox="1"/>
          <p:nvPr/>
        </p:nvSpPr>
        <p:spPr>
          <a:xfrm>
            <a:off x="4445000" y="3721100"/>
            <a:ext cx="3302000" cy="707886"/>
          </a:xfrm>
          <a:prstGeom prst="rect">
            <a:avLst/>
          </a:prstGeom>
          <a:noFill/>
        </p:spPr>
        <p:txBody>
          <a:bodyPr vert="horz" wrap="square" lIns="0" tIns="0" rIns="0" bIns="0" rtlCol="0">
            <a:spAutoFit/>
          </a:bodyPr>
          <a:lstStyle/>
          <a:p>
            <a:pPr>
              <a:spcAft>
                <a:spcPts val="800"/>
              </a:spcAft>
            </a:pPr>
            <a:r>
              <a:rPr lang="en-US" sz="2300">
                <a:solidFill>
                  <a:srgbClr val="123C32"/>
                </a:solidFill>
                <a:latin typeface="Aptos"/>
              </a:rPr>
              <a:t>Recent finishes and comparable performances</a:t>
            </a:r>
          </a:p>
        </p:txBody>
      </p:sp>
      <p:sp>
        <p:nvSpPr>
          <p:cNvPr id="11" name="TextBox 10">
            <a:extLst>
              <a:ext uri="{FF2B5EF4-FFF2-40B4-BE49-F238E27FC236}">
                <a16:creationId xmlns:a16="http://schemas.microsoft.com/office/drawing/2014/main" id="{91D44188-EE58-4C0B-AC71-51CA5287EBAD}"/>
              </a:ext>
            </a:extLst>
          </p:cNvPr>
          <p:cNvSpPr txBox="1"/>
          <p:nvPr/>
        </p:nvSpPr>
        <p:spPr>
          <a:xfrm>
            <a:off x="8280400" y="2959100"/>
            <a:ext cx="3302000" cy="400110"/>
          </a:xfrm>
          <a:prstGeom prst="rect">
            <a:avLst/>
          </a:prstGeom>
          <a:noFill/>
        </p:spPr>
        <p:txBody>
          <a:bodyPr vert="horz" wrap="square" lIns="0" tIns="0" rIns="0" bIns="0" rtlCol="0">
            <a:spAutoFit/>
          </a:bodyPr>
          <a:lstStyle/>
          <a:p>
            <a:pPr>
              <a:spcAft>
                <a:spcPts val="800"/>
              </a:spcAft>
            </a:pPr>
            <a:r>
              <a:rPr lang="en-US" sz="2600">
                <a:solidFill>
                  <a:srgbClr val="123C32"/>
                </a:solidFill>
                <a:latin typeface="Georgia" panose="02040502050405020303" pitchFamily="18" charset="0"/>
              </a:rPr>
              <a:t>The result</a:t>
            </a:r>
          </a:p>
        </p:txBody>
      </p:sp>
      <p:sp>
        <p:nvSpPr>
          <p:cNvPr id="12" name="TextBox 11">
            <a:extLst>
              <a:ext uri="{FF2B5EF4-FFF2-40B4-BE49-F238E27FC236}">
                <a16:creationId xmlns:a16="http://schemas.microsoft.com/office/drawing/2014/main" id="{CD565EAD-378F-4572-A686-B22335C5118F}"/>
              </a:ext>
            </a:extLst>
          </p:cNvPr>
          <p:cNvSpPr txBox="1"/>
          <p:nvPr/>
        </p:nvSpPr>
        <p:spPr>
          <a:xfrm>
            <a:off x="8280400" y="3721100"/>
            <a:ext cx="3302000" cy="707886"/>
          </a:xfrm>
          <a:prstGeom prst="rect">
            <a:avLst/>
          </a:prstGeom>
          <a:noFill/>
        </p:spPr>
        <p:txBody>
          <a:bodyPr vert="horz" wrap="square" lIns="0" tIns="0" rIns="0" bIns="0" rtlCol="0">
            <a:spAutoFit/>
          </a:bodyPr>
          <a:lstStyle/>
          <a:p>
            <a:pPr>
              <a:spcAft>
                <a:spcPts val="800"/>
              </a:spcAft>
            </a:pPr>
            <a:r>
              <a:rPr lang="en-US" sz="2300">
                <a:solidFill>
                  <a:srgbClr val="123C32"/>
                </a:solidFill>
                <a:latin typeface="Aptos"/>
              </a:rPr>
              <a:t>Published outcomes linked to the original program</a:t>
            </a:r>
          </a:p>
        </p:txBody>
      </p:sp>
    </p:spTree>
    <p:extLst>
      <p:ext uri="{BB962C8B-B14F-4D97-AF65-F5344CB8AC3E}">
        <p14:creationId xmlns:p14="http://schemas.microsoft.com/office/powerpoint/2010/main" val="3396085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3C3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EE39F2-B8EF-4F43-9BB7-77C438B15CF3}"/>
              </a:ext>
            </a:extLst>
          </p:cNvPr>
          <p:cNvSpPr txBox="1"/>
          <p:nvPr/>
        </p:nvSpPr>
        <p:spPr>
          <a:xfrm>
            <a:off x="609600" y="304800"/>
            <a:ext cx="2032000" cy="261610"/>
          </a:xfrm>
          <a:prstGeom prst="rect">
            <a:avLst/>
          </a:prstGeom>
          <a:noFill/>
        </p:spPr>
        <p:txBody>
          <a:bodyPr vert="horz" wrap="square" lIns="0" tIns="0" rIns="0" bIns="0" rtlCol="0">
            <a:spAutoFit/>
          </a:bodyPr>
          <a:lstStyle/>
          <a:p>
            <a:pPr>
              <a:spcAft>
                <a:spcPts val="800"/>
              </a:spcAft>
            </a:pPr>
            <a:r>
              <a:rPr lang="en-US" sz="1700" b="1">
                <a:solidFill>
                  <a:srgbClr val="F6F2E9"/>
                </a:solidFill>
                <a:latin typeface="Aptos"/>
              </a:rPr>
              <a:t>JOCKEY</a:t>
            </a:r>
          </a:p>
        </p:txBody>
      </p:sp>
      <p:sp>
        <p:nvSpPr>
          <p:cNvPr id="3" name="TextBox 2">
            <a:extLst>
              <a:ext uri="{FF2B5EF4-FFF2-40B4-BE49-F238E27FC236}">
                <a16:creationId xmlns:a16="http://schemas.microsoft.com/office/drawing/2014/main" id="{5E7B4342-C702-4445-A392-24F59A9B205F}"/>
              </a:ext>
            </a:extLst>
          </p:cNvPr>
          <p:cNvSpPr txBox="1"/>
          <p:nvPr/>
        </p:nvSpPr>
        <p:spPr>
          <a:xfrm>
            <a:off x="3302000" y="342900"/>
            <a:ext cx="8255000" cy="169277"/>
          </a:xfrm>
          <a:prstGeom prst="rect">
            <a:avLst/>
          </a:prstGeom>
          <a:noFill/>
        </p:spPr>
        <p:txBody>
          <a:bodyPr vert="horz" wrap="square" lIns="0" tIns="0" rIns="0" bIns="0" rtlCol="0">
            <a:spAutoFit/>
          </a:bodyPr>
          <a:lstStyle/>
          <a:p>
            <a:pPr>
              <a:spcAft>
                <a:spcPts val="800"/>
              </a:spcAft>
            </a:pPr>
            <a:r>
              <a:rPr lang="en-US" sz="1100">
                <a:solidFill>
                  <a:srgbClr val="B99756"/>
                </a:solidFill>
                <a:latin typeface="Aptos"/>
              </a:rPr>
              <a:t>PROFILES AND CONNECTIONS</a:t>
            </a:r>
          </a:p>
        </p:txBody>
      </p:sp>
      <p:sp>
        <p:nvSpPr>
          <p:cNvPr id="4" name="TextBox 3">
            <a:extLst>
              <a:ext uri="{FF2B5EF4-FFF2-40B4-BE49-F238E27FC236}">
                <a16:creationId xmlns:a16="http://schemas.microsoft.com/office/drawing/2014/main" id="{1BE9464B-306A-496A-BE59-948AEE56E9B5}"/>
              </a:ext>
            </a:extLst>
          </p:cNvPr>
          <p:cNvSpPr txBox="1"/>
          <p:nvPr/>
        </p:nvSpPr>
        <p:spPr>
          <a:xfrm>
            <a:off x="609600" y="6426200"/>
            <a:ext cx="8890000" cy="153888"/>
          </a:xfrm>
          <a:prstGeom prst="rect">
            <a:avLst/>
          </a:prstGeom>
          <a:noFill/>
        </p:spPr>
        <p:txBody>
          <a:bodyPr vert="horz" wrap="square" lIns="0" tIns="0" rIns="0" bIns="0" rtlCol="0">
            <a:spAutoFit/>
          </a:bodyPr>
          <a:lstStyle/>
          <a:p>
            <a:pPr>
              <a:spcAft>
                <a:spcPts val="800"/>
              </a:spcAft>
            </a:pPr>
            <a:r>
              <a:rPr lang="en-US" sz="1000">
                <a:solidFill>
                  <a:srgbClr val="B99756"/>
                </a:solidFill>
                <a:latin typeface="Aptos"/>
              </a:rPr>
              <a:t>STAKEHOLDER SHOWCASE  /  18 OCT 2026</a:t>
            </a:r>
          </a:p>
        </p:txBody>
      </p:sp>
      <p:sp>
        <p:nvSpPr>
          <p:cNvPr id="5" name="TextBox 4">
            <a:extLst>
              <a:ext uri="{FF2B5EF4-FFF2-40B4-BE49-F238E27FC236}">
                <a16:creationId xmlns:a16="http://schemas.microsoft.com/office/drawing/2014/main" id="{2B89F07A-28FA-486E-9B2A-2327CC149227}"/>
              </a:ext>
            </a:extLst>
          </p:cNvPr>
          <p:cNvSpPr txBox="1"/>
          <p:nvPr/>
        </p:nvSpPr>
        <p:spPr>
          <a:xfrm>
            <a:off x="11112500" y="6375400"/>
            <a:ext cx="508000" cy="200055"/>
          </a:xfrm>
          <a:prstGeom prst="rect">
            <a:avLst/>
          </a:prstGeom>
          <a:noFill/>
        </p:spPr>
        <p:txBody>
          <a:bodyPr vert="horz" wrap="square" lIns="0" tIns="0" rIns="0" bIns="0" rtlCol="0">
            <a:spAutoFit/>
          </a:bodyPr>
          <a:lstStyle/>
          <a:p>
            <a:pPr>
              <a:spcAft>
                <a:spcPts val="800"/>
              </a:spcAft>
            </a:pPr>
            <a:r>
              <a:rPr lang="en-US" sz="1300">
                <a:solidFill>
                  <a:srgbClr val="B99756"/>
                </a:solidFill>
                <a:latin typeface="Aptos"/>
              </a:rPr>
              <a:t>05</a:t>
            </a:r>
          </a:p>
        </p:txBody>
      </p:sp>
      <p:sp>
        <p:nvSpPr>
          <p:cNvPr id="6" name="TextBox 5">
            <a:extLst>
              <a:ext uri="{FF2B5EF4-FFF2-40B4-BE49-F238E27FC236}">
                <a16:creationId xmlns:a16="http://schemas.microsoft.com/office/drawing/2014/main" id="{F96C86FB-88A0-4D47-A2CF-59FCB005E4EA}"/>
              </a:ext>
            </a:extLst>
          </p:cNvPr>
          <p:cNvSpPr txBox="1"/>
          <p:nvPr/>
        </p:nvSpPr>
        <p:spPr>
          <a:xfrm>
            <a:off x="609600" y="1117600"/>
            <a:ext cx="10972800" cy="569387"/>
          </a:xfrm>
          <a:prstGeom prst="rect">
            <a:avLst/>
          </a:prstGeom>
          <a:noFill/>
        </p:spPr>
        <p:txBody>
          <a:bodyPr vert="horz" wrap="square" lIns="0" tIns="0" rIns="0" bIns="0" rtlCol="0">
            <a:spAutoFit/>
          </a:bodyPr>
          <a:lstStyle/>
          <a:p>
            <a:pPr>
              <a:spcAft>
                <a:spcPts val="800"/>
              </a:spcAft>
            </a:pPr>
            <a:r>
              <a:rPr lang="en-US" sz="3700">
                <a:solidFill>
                  <a:srgbClr val="F6F2E9"/>
                </a:solidFill>
                <a:latin typeface="Georgia" panose="02040502050405020303" pitchFamily="18" charset="0"/>
              </a:rPr>
              <a:t>Give the racing records context</a:t>
            </a:r>
          </a:p>
        </p:txBody>
      </p:sp>
      <p:sp>
        <p:nvSpPr>
          <p:cNvPr id="7" name="TextBox 6">
            <a:extLst>
              <a:ext uri="{FF2B5EF4-FFF2-40B4-BE49-F238E27FC236}">
                <a16:creationId xmlns:a16="http://schemas.microsoft.com/office/drawing/2014/main" id="{503BC9DD-0DEB-4C0F-86F2-49C091F9F54C}"/>
              </a:ext>
            </a:extLst>
          </p:cNvPr>
          <p:cNvSpPr txBox="1"/>
          <p:nvPr/>
        </p:nvSpPr>
        <p:spPr>
          <a:xfrm>
            <a:off x="609600" y="2946400"/>
            <a:ext cx="10972800" cy="446276"/>
          </a:xfrm>
          <a:prstGeom prst="rect">
            <a:avLst/>
          </a:prstGeom>
          <a:noFill/>
        </p:spPr>
        <p:txBody>
          <a:bodyPr vert="horz" wrap="square" lIns="0" tIns="0" rIns="0" bIns="0" rtlCol="0">
            <a:spAutoFit/>
          </a:bodyPr>
          <a:lstStyle/>
          <a:p>
            <a:pPr>
              <a:spcAft>
                <a:spcPts val="800"/>
              </a:spcAft>
            </a:pPr>
            <a:r>
              <a:rPr lang="en-US" sz="2900">
                <a:solidFill>
                  <a:srgbClr val="B99756"/>
                </a:solidFill>
                <a:latin typeface="Aptos"/>
              </a:rPr>
              <a:t>A horse has more than its latest finish.</a:t>
            </a:r>
          </a:p>
        </p:txBody>
      </p:sp>
      <p:sp>
        <p:nvSpPr>
          <p:cNvPr id="8" name="TextBox 7">
            <a:extLst>
              <a:ext uri="{FF2B5EF4-FFF2-40B4-BE49-F238E27FC236}">
                <a16:creationId xmlns:a16="http://schemas.microsoft.com/office/drawing/2014/main" id="{D9E184BD-CE67-4B36-A0BA-24B147BE515C}"/>
              </a:ext>
            </a:extLst>
          </p:cNvPr>
          <p:cNvSpPr txBox="1"/>
          <p:nvPr/>
        </p:nvSpPr>
        <p:spPr>
          <a:xfrm>
            <a:off x="609600" y="3937000"/>
            <a:ext cx="10795000" cy="1313180"/>
          </a:xfrm>
          <a:prstGeom prst="rect">
            <a:avLst/>
          </a:prstGeom>
          <a:noFill/>
        </p:spPr>
        <p:txBody>
          <a:bodyPr vert="horz" wrap="square" lIns="0" tIns="0" rIns="0" bIns="0" rtlCol="0">
            <a:spAutoFit/>
          </a:bodyPr>
          <a:lstStyle/>
          <a:p>
            <a:pPr>
              <a:spcAft>
                <a:spcPts val="800"/>
              </a:spcAft>
            </a:pPr>
            <a:r>
              <a:rPr lang="en-US" sz="2400">
                <a:solidFill>
                  <a:srgbClr val="F6F2E9"/>
                </a:solidFill>
                <a:latin typeface="Aptos"/>
              </a:rPr>
              <a:t>Explore pedigree and recorded performance.
Find jockeys, trainers and owners.
Follow historical connections through results.</a:t>
            </a:r>
          </a:p>
        </p:txBody>
      </p:sp>
    </p:spTree>
    <p:extLst>
      <p:ext uri="{BB962C8B-B14F-4D97-AF65-F5344CB8AC3E}">
        <p14:creationId xmlns:p14="http://schemas.microsoft.com/office/powerpoint/2010/main" val="1692475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2E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97B532-6FB4-4C00-B28A-FC49F357C472}"/>
              </a:ext>
            </a:extLst>
          </p:cNvPr>
          <p:cNvSpPr txBox="1"/>
          <p:nvPr/>
        </p:nvSpPr>
        <p:spPr>
          <a:xfrm>
            <a:off x="609600" y="304800"/>
            <a:ext cx="2032000" cy="261610"/>
          </a:xfrm>
          <a:prstGeom prst="rect">
            <a:avLst/>
          </a:prstGeom>
          <a:noFill/>
        </p:spPr>
        <p:txBody>
          <a:bodyPr vert="horz" wrap="square" lIns="0" tIns="0" rIns="0" bIns="0" rtlCol="0">
            <a:spAutoFit/>
          </a:bodyPr>
          <a:lstStyle/>
          <a:p>
            <a:pPr>
              <a:spcAft>
                <a:spcPts val="800"/>
              </a:spcAft>
            </a:pPr>
            <a:r>
              <a:rPr lang="en-US" sz="1700" b="1">
                <a:solidFill>
                  <a:srgbClr val="123C32"/>
                </a:solidFill>
                <a:latin typeface="Aptos"/>
              </a:rPr>
              <a:t>JOCKEY</a:t>
            </a:r>
          </a:p>
        </p:txBody>
      </p:sp>
      <p:sp>
        <p:nvSpPr>
          <p:cNvPr id="3" name="TextBox 2">
            <a:extLst>
              <a:ext uri="{FF2B5EF4-FFF2-40B4-BE49-F238E27FC236}">
                <a16:creationId xmlns:a16="http://schemas.microsoft.com/office/drawing/2014/main" id="{8F5CB57F-3384-49F5-BB2B-75A78F5980FB}"/>
              </a:ext>
            </a:extLst>
          </p:cNvPr>
          <p:cNvSpPr txBox="1"/>
          <p:nvPr/>
        </p:nvSpPr>
        <p:spPr>
          <a:xfrm>
            <a:off x="3302000" y="342900"/>
            <a:ext cx="8255000" cy="169277"/>
          </a:xfrm>
          <a:prstGeom prst="rect">
            <a:avLst/>
          </a:prstGeom>
          <a:noFill/>
        </p:spPr>
        <p:txBody>
          <a:bodyPr vert="horz" wrap="square" lIns="0" tIns="0" rIns="0" bIns="0" rtlCol="0">
            <a:spAutoFit/>
          </a:bodyPr>
          <a:lstStyle/>
          <a:p>
            <a:pPr>
              <a:spcAft>
                <a:spcPts val="800"/>
              </a:spcAft>
            </a:pPr>
            <a:r>
              <a:rPr lang="en-US" sz="1100">
                <a:solidFill>
                  <a:srgbClr val="63736B"/>
                </a:solidFill>
                <a:latin typeface="Aptos"/>
              </a:rPr>
              <a:t>MEMBERSHIP</a:t>
            </a:r>
          </a:p>
        </p:txBody>
      </p:sp>
      <p:sp>
        <p:nvSpPr>
          <p:cNvPr id="4" name="TextBox 3">
            <a:extLst>
              <a:ext uri="{FF2B5EF4-FFF2-40B4-BE49-F238E27FC236}">
                <a16:creationId xmlns:a16="http://schemas.microsoft.com/office/drawing/2014/main" id="{77780F60-1CBA-4CAA-975C-695C025FA556}"/>
              </a:ext>
            </a:extLst>
          </p:cNvPr>
          <p:cNvSpPr txBox="1"/>
          <p:nvPr/>
        </p:nvSpPr>
        <p:spPr>
          <a:xfrm>
            <a:off x="609600" y="6426200"/>
            <a:ext cx="8890000" cy="153888"/>
          </a:xfrm>
          <a:prstGeom prst="rect">
            <a:avLst/>
          </a:prstGeom>
          <a:noFill/>
        </p:spPr>
        <p:txBody>
          <a:bodyPr vert="horz" wrap="square" lIns="0" tIns="0" rIns="0" bIns="0" rtlCol="0">
            <a:spAutoFit/>
          </a:bodyPr>
          <a:lstStyle/>
          <a:p>
            <a:pPr>
              <a:spcAft>
                <a:spcPts val="800"/>
              </a:spcAft>
            </a:pPr>
            <a:r>
              <a:rPr lang="en-US" sz="1000">
                <a:solidFill>
                  <a:srgbClr val="63736B"/>
                </a:solidFill>
                <a:latin typeface="Aptos"/>
              </a:rPr>
              <a:t>STAKEHOLDER SHOWCASE  /  18 OCT 2026</a:t>
            </a:r>
          </a:p>
        </p:txBody>
      </p:sp>
      <p:sp>
        <p:nvSpPr>
          <p:cNvPr id="5" name="TextBox 4">
            <a:extLst>
              <a:ext uri="{FF2B5EF4-FFF2-40B4-BE49-F238E27FC236}">
                <a16:creationId xmlns:a16="http://schemas.microsoft.com/office/drawing/2014/main" id="{F8AE4F91-A31D-41AF-8FB4-D434887313A5}"/>
              </a:ext>
            </a:extLst>
          </p:cNvPr>
          <p:cNvSpPr txBox="1"/>
          <p:nvPr/>
        </p:nvSpPr>
        <p:spPr>
          <a:xfrm>
            <a:off x="11112500" y="6375400"/>
            <a:ext cx="508000" cy="200055"/>
          </a:xfrm>
          <a:prstGeom prst="rect">
            <a:avLst/>
          </a:prstGeom>
          <a:noFill/>
        </p:spPr>
        <p:txBody>
          <a:bodyPr vert="horz" wrap="square" lIns="0" tIns="0" rIns="0" bIns="0" rtlCol="0">
            <a:spAutoFit/>
          </a:bodyPr>
          <a:lstStyle/>
          <a:p>
            <a:pPr>
              <a:spcAft>
                <a:spcPts val="800"/>
              </a:spcAft>
            </a:pPr>
            <a:r>
              <a:rPr lang="en-US" sz="1300">
                <a:solidFill>
                  <a:srgbClr val="63736B"/>
                </a:solidFill>
                <a:latin typeface="Aptos"/>
              </a:rPr>
              <a:t>06</a:t>
            </a:r>
          </a:p>
        </p:txBody>
      </p:sp>
      <p:sp>
        <p:nvSpPr>
          <p:cNvPr id="6" name="TextBox 5">
            <a:extLst>
              <a:ext uri="{FF2B5EF4-FFF2-40B4-BE49-F238E27FC236}">
                <a16:creationId xmlns:a16="http://schemas.microsoft.com/office/drawing/2014/main" id="{20476695-AE0D-437E-9472-D4F3651BF5EB}"/>
              </a:ext>
            </a:extLst>
          </p:cNvPr>
          <p:cNvSpPr txBox="1"/>
          <p:nvPr/>
        </p:nvSpPr>
        <p:spPr>
          <a:xfrm>
            <a:off x="609600" y="1117600"/>
            <a:ext cx="10972800" cy="569387"/>
          </a:xfrm>
          <a:prstGeom prst="rect">
            <a:avLst/>
          </a:prstGeom>
          <a:noFill/>
        </p:spPr>
        <p:txBody>
          <a:bodyPr vert="horz" wrap="square" lIns="0" tIns="0" rIns="0" bIns="0" rtlCol="0">
            <a:spAutoFit/>
          </a:bodyPr>
          <a:lstStyle/>
          <a:p>
            <a:pPr>
              <a:spcAft>
                <a:spcPts val="800"/>
              </a:spcAft>
            </a:pPr>
            <a:r>
              <a:rPr lang="en-US" sz="3700">
                <a:solidFill>
                  <a:srgbClr val="123C32"/>
                </a:solidFill>
                <a:latin typeface="Georgia" panose="02040502050405020303" pitchFamily="18" charset="0"/>
              </a:rPr>
              <a:t>Two ways to access racing</a:t>
            </a:r>
          </a:p>
        </p:txBody>
      </p:sp>
      <p:sp>
        <p:nvSpPr>
          <p:cNvPr id="7" name="TextBox 6">
            <a:extLst>
              <a:ext uri="{FF2B5EF4-FFF2-40B4-BE49-F238E27FC236}">
                <a16:creationId xmlns:a16="http://schemas.microsoft.com/office/drawing/2014/main" id="{4A8045BA-8CC0-4DA1-A4E0-AD6929493153}"/>
              </a:ext>
            </a:extLst>
          </p:cNvPr>
          <p:cNvSpPr txBox="1"/>
          <p:nvPr/>
        </p:nvSpPr>
        <p:spPr>
          <a:xfrm>
            <a:off x="609600" y="2768600"/>
            <a:ext cx="4762500" cy="246221"/>
          </a:xfrm>
          <a:prstGeom prst="rect">
            <a:avLst/>
          </a:prstGeom>
          <a:noFill/>
        </p:spPr>
        <p:txBody>
          <a:bodyPr vert="horz" wrap="square" lIns="0" tIns="0" rIns="0" bIns="0" rtlCol="0">
            <a:spAutoFit/>
          </a:bodyPr>
          <a:lstStyle/>
          <a:p>
            <a:pPr>
              <a:spcAft>
                <a:spcPts val="800"/>
              </a:spcAft>
            </a:pPr>
            <a:r>
              <a:rPr lang="en-US" sz="1600" b="1">
                <a:solidFill>
                  <a:srgbClr val="63736B"/>
                </a:solidFill>
                <a:latin typeface="Aptos"/>
              </a:rPr>
              <a:t>DAILY ACCESS</a:t>
            </a:r>
          </a:p>
        </p:txBody>
      </p:sp>
      <p:sp>
        <p:nvSpPr>
          <p:cNvPr id="8" name="TextBox 7">
            <a:extLst>
              <a:ext uri="{FF2B5EF4-FFF2-40B4-BE49-F238E27FC236}">
                <a16:creationId xmlns:a16="http://schemas.microsoft.com/office/drawing/2014/main" id="{7D54100B-DBD6-48ED-8A4C-CBC233CA1C58}"/>
              </a:ext>
            </a:extLst>
          </p:cNvPr>
          <p:cNvSpPr txBox="1"/>
          <p:nvPr/>
        </p:nvSpPr>
        <p:spPr>
          <a:xfrm>
            <a:off x="609600" y="3327400"/>
            <a:ext cx="4826000" cy="1015663"/>
          </a:xfrm>
          <a:prstGeom prst="rect">
            <a:avLst/>
          </a:prstGeom>
          <a:noFill/>
        </p:spPr>
        <p:txBody>
          <a:bodyPr vert="horz" wrap="square" lIns="0" tIns="0" rIns="0" bIns="0" rtlCol="0">
            <a:spAutoFit/>
          </a:bodyPr>
          <a:lstStyle/>
          <a:p>
            <a:pPr>
              <a:spcAft>
                <a:spcPts val="800"/>
              </a:spcAft>
            </a:pPr>
            <a:r>
              <a:rPr lang="en-US" sz="6600">
                <a:solidFill>
                  <a:srgbClr val="123C32"/>
                </a:solidFill>
                <a:latin typeface="Georgia" panose="02040502050405020303" pitchFamily="18" charset="0"/>
              </a:rPr>
              <a:t>₱50</a:t>
            </a:r>
          </a:p>
        </p:txBody>
      </p:sp>
      <p:sp>
        <p:nvSpPr>
          <p:cNvPr id="9" name="TextBox 8">
            <a:extLst>
              <a:ext uri="{FF2B5EF4-FFF2-40B4-BE49-F238E27FC236}">
                <a16:creationId xmlns:a16="http://schemas.microsoft.com/office/drawing/2014/main" id="{A6902794-8FA9-4025-A37D-39CB45A1DDEA}"/>
              </a:ext>
            </a:extLst>
          </p:cNvPr>
          <p:cNvSpPr txBox="1"/>
          <p:nvPr/>
        </p:nvSpPr>
        <p:spPr>
          <a:xfrm>
            <a:off x="609600" y="4673600"/>
            <a:ext cx="4826000" cy="384721"/>
          </a:xfrm>
          <a:prstGeom prst="rect">
            <a:avLst/>
          </a:prstGeom>
          <a:noFill/>
        </p:spPr>
        <p:txBody>
          <a:bodyPr vert="horz" wrap="square" lIns="0" tIns="0" rIns="0" bIns="0" rtlCol="0">
            <a:spAutoFit/>
          </a:bodyPr>
          <a:lstStyle/>
          <a:p>
            <a:pPr>
              <a:spcAft>
                <a:spcPts val="800"/>
              </a:spcAft>
            </a:pPr>
            <a:r>
              <a:rPr lang="en-US" sz="2500">
                <a:solidFill>
                  <a:srgbClr val="123C32"/>
                </a:solidFill>
                <a:latin typeface="Aptos"/>
              </a:rPr>
              <a:t>24 hours</a:t>
            </a:r>
          </a:p>
        </p:txBody>
      </p:sp>
      <p:sp>
        <p:nvSpPr>
          <p:cNvPr id="10" name="TextBox 9">
            <a:extLst>
              <a:ext uri="{FF2B5EF4-FFF2-40B4-BE49-F238E27FC236}">
                <a16:creationId xmlns:a16="http://schemas.microsoft.com/office/drawing/2014/main" id="{0C07908E-9304-4F90-A994-DA9216F32FEC}"/>
              </a:ext>
            </a:extLst>
          </p:cNvPr>
          <p:cNvSpPr txBox="1"/>
          <p:nvPr/>
        </p:nvSpPr>
        <p:spPr>
          <a:xfrm>
            <a:off x="6350000" y="2768600"/>
            <a:ext cx="5232400" cy="246221"/>
          </a:xfrm>
          <a:prstGeom prst="rect">
            <a:avLst/>
          </a:prstGeom>
          <a:noFill/>
        </p:spPr>
        <p:txBody>
          <a:bodyPr vert="horz" wrap="square" lIns="0" tIns="0" rIns="0" bIns="0" rtlCol="0">
            <a:spAutoFit/>
          </a:bodyPr>
          <a:lstStyle/>
          <a:p>
            <a:pPr>
              <a:spcAft>
                <a:spcPts val="800"/>
              </a:spcAft>
            </a:pPr>
            <a:r>
              <a:rPr lang="en-US" sz="1600" b="1">
                <a:solidFill>
                  <a:srgbClr val="63736B"/>
                </a:solidFill>
                <a:latin typeface="Aptos"/>
              </a:rPr>
              <a:t>MONTHLY MEMBERSHIP</a:t>
            </a:r>
          </a:p>
        </p:txBody>
      </p:sp>
      <p:sp>
        <p:nvSpPr>
          <p:cNvPr id="11" name="TextBox 10">
            <a:extLst>
              <a:ext uri="{FF2B5EF4-FFF2-40B4-BE49-F238E27FC236}">
                <a16:creationId xmlns:a16="http://schemas.microsoft.com/office/drawing/2014/main" id="{526FA4E5-6837-4072-B7F9-0CFF1C11761F}"/>
              </a:ext>
            </a:extLst>
          </p:cNvPr>
          <p:cNvSpPr txBox="1"/>
          <p:nvPr/>
        </p:nvSpPr>
        <p:spPr>
          <a:xfrm>
            <a:off x="6350000" y="3327400"/>
            <a:ext cx="5232400" cy="1015663"/>
          </a:xfrm>
          <a:prstGeom prst="rect">
            <a:avLst/>
          </a:prstGeom>
          <a:noFill/>
        </p:spPr>
        <p:txBody>
          <a:bodyPr vert="horz" wrap="square" lIns="0" tIns="0" rIns="0" bIns="0" rtlCol="0">
            <a:spAutoFit/>
          </a:bodyPr>
          <a:lstStyle/>
          <a:p>
            <a:pPr>
              <a:spcAft>
                <a:spcPts val="800"/>
              </a:spcAft>
            </a:pPr>
            <a:r>
              <a:rPr lang="en-US" sz="6600">
                <a:solidFill>
                  <a:srgbClr val="123C32"/>
                </a:solidFill>
                <a:latin typeface="Georgia" panose="02040502050405020303" pitchFamily="18" charset="0"/>
              </a:rPr>
              <a:t>₱499</a:t>
            </a:r>
          </a:p>
        </p:txBody>
      </p:sp>
      <p:sp>
        <p:nvSpPr>
          <p:cNvPr id="12" name="TextBox 11">
            <a:extLst>
              <a:ext uri="{FF2B5EF4-FFF2-40B4-BE49-F238E27FC236}">
                <a16:creationId xmlns:a16="http://schemas.microsoft.com/office/drawing/2014/main" id="{27AD37FE-B27E-49C8-B976-47403AA981C0}"/>
              </a:ext>
            </a:extLst>
          </p:cNvPr>
          <p:cNvSpPr txBox="1"/>
          <p:nvPr/>
        </p:nvSpPr>
        <p:spPr>
          <a:xfrm>
            <a:off x="6350000" y="4673600"/>
            <a:ext cx="5232400" cy="384721"/>
          </a:xfrm>
          <a:prstGeom prst="rect">
            <a:avLst/>
          </a:prstGeom>
          <a:noFill/>
        </p:spPr>
        <p:txBody>
          <a:bodyPr vert="horz" wrap="square" lIns="0" tIns="0" rIns="0" bIns="0" rtlCol="0">
            <a:spAutoFit/>
          </a:bodyPr>
          <a:lstStyle/>
          <a:p>
            <a:pPr>
              <a:spcAft>
                <a:spcPts val="800"/>
              </a:spcAft>
            </a:pPr>
            <a:r>
              <a:rPr lang="en-US" sz="2500">
                <a:solidFill>
                  <a:srgbClr val="123C32"/>
                </a:solidFill>
                <a:latin typeface="Aptos"/>
              </a:rPr>
              <a:t>One calendar month</a:t>
            </a:r>
          </a:p>
        </p:txBody>
      </p:sp>
      <p:sp>
        <p:nvSpPr>
          <p:cNvPr id="13" name="TextBox 12">
            <a:extLst>
              <a:ext uri="{FF2B5EF4-FFF2-40B4-BE49-F238E27FC236}">
                <a16:creationId xmlns:a16="http://schemas.microsoft.com/office/drawing/2014/main" id="{01F9753F-C7DE-40EF-AC13-7F92A12834B7}"/>
              </a:ext>
            </a:extLst>
          </p:cNvPr>
          <p:cNvSpPr txBox="1"/>
          <p:nvPr/>
        </p:nvSpPr>
        <p:spPr>
          <a:xfrm>
            <a:off x="609600" y="5664200"/>
            <a:ext cx="10972800" cy="276999"/>
          </a:xfrm>
          <a:prstGeom prst="rect">
            <a:avLst/>
          </a:prstGeom>
          <a:noFill/>
        </p:spPr>
        <p:txBody>
          <a:bodyPr vert="horz" wrap="square" lIns="0" tIns="0" rIns="0" bIns="0" rtlCol="0">
            <a:spAutoFit/>
          </a:bodyPr>
          <a:lstStyle/>
          <a:p>
            <a:pPr>
              <a:spcAft>
                <a:spcPts val="800"/>
              </a:spcAft>
            </a:pPr>
            <a:r>
              <a:rPr lang="en-US">
                <a:solidFill>
                  <a:srgbClr val="63736B"/>
                </a:solidFill>
                <a:latin typeface="Aptos"/>
              </a:rPr>
              <a:t>Save ₱1,001 monthly vs. 30 daily passes. Same racing access. No auto-renewal.</a:t>
            </a:r>
          </a:p>
        </p:txBody>
      </p:sp>
    </p:spTree>
    <p:extLst>
      <p:ext uri="{BB962C8B-B14F-4D97-AF65-F5344CB8AC3E}">
        <p14:creationId xmlns:p14="http://schemas.microsoft.com/office/powerpoint/2010/main" val="276212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2E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619C5C-064B-418D-A9D0-7AB56D85B691}"/>
              </a:ext>
            </a:extLst>
          </p:cNvPr>
          <p:cNvSpPr txBox="1"/>
          <p:nvPr/>
        </p:nvSpPr>
        <p:spPr>
          <a:xfrm>
            <a:off x="609600" y="304800"/>
            <a:ext cx="2032000" cy="261610"/>
          </a:xfrm>
          <a:prstGeom prst="rect">
            <a:avLst/>
          </a:prstGeom>
          <a:noFill/>
        </p:spPr>
        <p:txBody>
          <a:bodyPr vert="horz" wrap="square" lIns="0" tIns="0" rIns="0" bIns="0" rtlCol="0">
            <a:spAutoFit/>
          </a:bodyPr>
          <a:lstStyle/>
          <a:p>
            <a:pPr>
              <a:spcAft>
                <a:spcPts val="800"/>
              </a:spcAft>
            </a:pPr>
            <a:r>
              <a:rPr lang="en-US" sz="1700" b="1">
                <a:solidFill>
                  <a:srgbClr val="123C32"/>
                </a:solidFill>
                <a:latin typeface="Aptos"/>
              </a:rPr>
              <a:t>JOCKEY</a:t>
            </a:r>
          </a:p>
        </p:txBody>
      </p:sp>
      <p:sp>
        <p:nvSpPr>
          <p:cNvPr id="3" name="TextBox 2">
            <a:extLst>
              <a:ext uri="{FF2B5EF4-FFF2-40B4-BE49-F238E27FC236}">
                <a16:creationId xmlns:a16="http://schemas.microsoft.com/office/drawing/2014/main" id="{B91144AB-2C2C-4BD1-A9D4-7FDD02C986CA}"/>
              </a:ext>
            </a:extLst>
          </p:cNvPr>
          <p:cNvSpPr txBox="1"/>
          <p:nvPr/>
        </p:nvSpPr>
        <p:spPr>
          <a:xfrm>
            <a:off x="3302000" y="342900"/>
            <a:ext cx="8255000" cy="169277"/>
          </a:xfrm>
          <a:prstGeom prst="rect">
            <a:avLst/>
          </a:prstGeom>
          <a:noFill/>
        </p:spPr>
        <p:txBody>
          <a:bodyPr vert="horz" wrap="square" lIns="0" tIns="0" rIns="0" bIns="0" rtlCol="0">
            <a:spAutoFit/>
          </a:bodyPr>
          <a:lstStyle/>
          <a:p>
            <a:pPr>
              <a:spcAft>
                <a:spcPts val="800"/>
              </a:spcAft>
            </a:pPr>
            <a:r>
              <a:rPr lang="en-US" sz="1100">
                <a:solidFill>
                  <a:srgbClr val="63736B"/>
                </a:solidFill>
                <a:latin typeface="Aptos"/>
              </a:rPr>
              <a:t>CHECKOUT AND ACCESS</a:t>
            </a:r>
          </a:p>
        </p:txBody>
      </p:sp>
      <p:sp>
        <p:nvSpPr>
          <p:cNvPr id="4" name="TextBox 3">
            <a:extLst>
              <a:ext uri="{FF2B5EF4-FFF2-40B4-BE49-F238E27FC236}">
                <a16:creationId xmlns:a16="http://schemas.microsoft.com/office/drawing/2014/main" id="{D863D9B3-F63A-4405-86F2-7437601939AE}"/>
              </a:ext>
            </a:extLst>
          </p:cNvPr>
          <p:cNvSpPr txBox="1"/>
          <p:nvPr/>
        </p:nvSpPr>
        <p:spPr>
          <a:xfrm>
            <a:off x="609600" y="6426200"/>
            <a:ext cx="8890000" cy="153888"/>
          </a:xfrm>
          <a:prstGeom prst="rect">
            <a:avLst/>
          </a:prstGeom>
          <a:noFill/>
        </p:spPr>
        <p:txBody>
          <a:bodyPr vert="horz" wrap="square" lIns="0" tIns="0" rIns="0" bIns="0" rtlCol="0">
            <a:spAutoFit/>
          </a:bodyPr>
          <a:lstStyle/>
          <a:p>
            <a:pPr>
              <a:spcAft>
                <a:spcPts val="800"/>
              </a:spcAft>
            </a:pPr>
            <a:r>
              <a:rPr lang="en-US" sz="1000">
                <a:solidFill>
                  <a:srgbClr val="63736B"/>
                </a:solidFill>
                <a:latin typeface="Aptos"/>
              </a:rPr>
              <a:t>STAKEHOLDER SHOWCASE  /  18 OCT 2026</a:t>
            </a:r>
          </a:p>
        </p:txBody>
      </p:sp>
      <p:sp>
        <p:nvSpPr>
          <p:cNvPr id="5" name="TextBox 4">
            <a:extLst>
              <a:ext uri="{FF2B5EF4-FFF2-40B4-BE49-F238E27FC236}">
                <a16:creationId xmlns:a16="http://schemas.microsoft.com/office/drawing/2014/main" id="{1E5A4E0F-C3F2-48B9-906F-0A6DD6A13745}"/>
              </a:ext>
            </a:extLst>
          </p:cNvPr>
          <p:cNvSpPr txBox="1"/>
          <p:nvPr/>
        </p:nvSpPr>
        <p:spPr>
          <a:xfrm>
            <a:off x="11112500" y="6375400"/>
            <a:ext cx="508000" cy="200055"/>
          </a:xfrm>
          <a:prstGeom prst="rect">
            <a:avLst/>
          </a:prstGeom>
          <a:noFill/>
        </p:spPr>
        <p:txBody>
          <a:bodyPr vert="horz" wrap="square" lIns="0" tIns="0" rIns="0" bIns="0" rtlCol="0">
            <a:spAutoFit/>
          </a:bodyPr>
          <a:lstStyle/>
          <a:p>
            <a:pPr>
              <a:spcAft>
                <a:spcPts val="800"/>
              </a:spcAft>
            </a:pPr>
            <a:r>
              <a:rPr lang="en-US" sz="1300">
                <a:solidFill>
                  <a:srgbClr val="63736B"/>
                </a:solidFill>
                <a:latin typeface="Aptos"/>
              </a:rPr>
              <a:t>07</a:t>
            </a:r>
          </a:p>
        </p:txBody>
      </p:sp>
      <p:sp>
        <p:nvSpPr>
          <p:cNvPr id="6" name="TextBox 5">
            <a:extLst>
              <a:ext uri="{FF2B5EF4-FFF2-40B4-BE49-F238E27FC236}">
                <a16:creationId xmlns:a16="http://schemas.microsoft.com/office/drawing/2014/main" id="{D4A05910-AC32-4E70-A7BF-CE0D7763FC88}"/>
              </a:ext>
            </a:extLst>
          </p:cNvPr>
          <p:cNvSpPr txBox="1"/>
          <p:nvPr/>
        </p:nvSpPr>
        <p:spPr>
          <a:xfrm>
            <a:off x="609600" y="1117600"/>
            <a:ext cx="10972800" cy="569387"/>
          </a:xfrm>
          <a:prstGeom prst="rect">
            <a:avLst/>
          </a:prstGeom>
          <a:noFill/>
        </p:spPr>
        <p:txBody>
          <a:bodyPr vert="horz" wrap="square" lIns="0" tIns="0" rIns="0" bIns="0" rtlCol="0">
            <a:spAutoFit/>
          </a:bodyPr>
          <a:lstStyle/>
          <a:p>
            <a:pPr>
              <a:spcAft>
                <a:spcPts val="800"/>
              </a:spcAft>
            </a:pPr>
            <a:r>
              <a:rPr lang="en-US" sz="3700">
                <a:solidFill>
                  <a:srgbClr val="123C32"/>
                </a:solidFill>
                <a:latin typeface="Georgia" panose="02040502050405020303" pitchFamily="18" charset="0"/>
              </a:rPr>
              <a:t>The subscription journey works</a:t>
            </a:r>
          </a:p>
        </p:txBody>
      </p:sp>
      <p:sp>
        <p:nvSpPr>
          <p:cNvPr id="7" name="TextBox 6">
            <a:extLst>
              <a:ext uri="{FF2B5EF4-FFF2-40B4-BE49-F238E27FC236}">
                <a16:creationId xmlns:a16="http://schemas.microsoft.com/office/drawing/2014/main" id="{AFA885B0-7DED-47DE-87F0-079C898A4549}"/>
              </a:ext>
            </a:extLst>
          </p:cNvPr>
          <p:cNvSpPr txBox="1"/>
          <p:nvPr/>
        </p:nvSpPr>
        <p:spPr>
          <a:xfrm>
            <a:off x="609600" y="2933700"/>
            <a:ext cx="10972800" cy="430887"/>
          </a:xfrm>
          <a:prstGeom prst="rect">
            <a:avLst/>
          </a:prstGeom>
          <a:noFill/>
        </p:spPr>
        <p:txBody>
          <a:bodyPr vert="horz" wrap="square" lIns="0" tIns="0" rIns="0" bIns="0" rtlCol="0">
            <a:spAutoFit/>
          </a:bodyPr>
          <a:lstStyle/>
          <a:p>
            <a:pPr>
              <a:spcAft>
                <a:spcPts val="800"/>
              </a:spcAft>
            </a:pPr>
            <a:r>
              <a:rPr lang="en-US" sz="2800">
                <a:solidFill>
                  <a:srgbClr val="123C32"/>
                </a:solidFill>
                <a:latin typeface="Aptos"/>
              </a:rPr>
              <a:t>01   Choose a plan</a:t>
            </a:r>
          </a:p>
        </p:txBody>
      </p:sp>
      <p:sp>
        <p:nvSpPr>
          <p:cNvPr id="8" name="TextBox 7">
            <a:extLst>
              <a:ext uri="{FF2B5EF4-FFF2-40B4-BE49-F238E27FC236}">
                <a16:creationId xmlns:a16="http://schemas.microsoft.com/office/drawing/2014/main" id="{19ECB19F-EEB1-40B0-914C-331D4F110D31}"/>
              </a:ext>
            </a:extLst>
          </p:cNvPr>
          <p:cNvSpPr txBox="1"/>
          <p:nvPr/>
        </p:nvSpPr>
        <p:spPr>
          <a:xfrm>
            <a:off x="609600" y="3810000"/>
            <a:ext cx="10972800" cy="430887"/>
          </a:xfrm>
          <a:prstGeom prst="rect">
            <a:avLst/>
          </a:prstGeom>
          <a:noFill/>
        </p:spPr>
        <p:txBody>
          <a:bodyPr vert="horz" wrap="square" lIns="0" tIns="0" rIns="0" bIns="0" rtlCol="0">
            <a:spAutoFit/>
          </a:bodyPr>
          <a:lstStyle/>
          <a:p>
            <a:pPr>
              <a:spcAft>
                <a:spcPts val="800"/>
              </a:spcAft>
            </a:pPr>
            <a:r>
              <a:rPr lang="en-US" sz="2800">
                <a:solidFill>
                  <a:srgbClr val="123C32"/>
                </a:solidFill>
                <a:latin typeface="Aptos"/>
              </a:rPr>
              <a:t>02   Sign in or create an account</a:t>
            </a:r>
          </a:p>
        </p:txBody>
      </p:sp>
      <p:sp>
        <p:nvSpPr>
          <p:cNvPr id="9" name="TextBox 8">
            <a:extLst>
              <a:ext uri="{FF2B5EF4-FFF2-40B4-BE49-F238E27FC236}">
                <a16:creationId xmlns:a16="http://schemas.microsoft.com/office/drawing/2014/main" id="{FB893832-3E64-4F89-8BA2-8F25D973A479}"/>
              </a:ext>
            </a:extLst>
          </p:cNvPr>
          <p:cNvSpPr txBox="1"/>
          <p:nvPr/>
        </p:nvSpPr>
        <p:spPr>
          <a:xfrm>
            <a:off x="609600" y="4686300"/>
            <a:ext cx="10972800" cy="430887"/>
          </a:xfrm>
          <a:prstGeom prst="rect">
            <a:avLst/>
          </a:prstGeom>
          <a:noFill/>
        </p:spPr>
        <p:txBody>
          <a:bodyPr vert="horz" wrap="square" lIns="0" tIns="0" rIns="0" bIns="0" rtlCol="0">
            <a:spAutoFit/>
          </a:bodyPr>
          <a:lstStyle/>
          <a:p>
            <a:pPr>
              <a:spcAft>
                <a:spcPts val="800"/>
              </a:spcAft>
            </a:pPr>
            <a:r>
              <a:rPr lang="en-US" sz="2800">
                <a:solidFill>
                  <a:srgbClr val="123C32"/>
                </a:solidFill>
                <a:latin typeface="Aptos"/>
              </a:rPr>
              <a:t>03   Complete checkout and continue</a:t>
            </a:r>
          </a:p>
        </p:txBody>
      </p:sp>
      <p:sp>
        <p:nvSpPr>
          <p:cNvPr id="10" name="TextBox 9">
            <a:extLst>
              <a:ext uri="{FF2B5EF4-FFF2-40B4-BE49-F238E27FC236}">
                <a16:creationId xmlns:a16="http://schemas.microsoft.com/office/drawing/2014/main" id="{3CBD113D-2D29-43DA-B46E-5567429F05D9}"/>
              </a:ext>
            </a:extLst>
          </p:cNvPr>
          <p:cNvSpPr txBox="1"/>
          <p:nvPr/>
        </p:nvSpPr>
        <p:spPr>
          <a:xfrm>
            <a:off x="609600" y="5715000"/>
            <a:ext cx="10972800" cy="276999"/>
          </a:xfrm>
          <a:prstGeom prst="rect">
            <a:avLst/>
          </a:prstGeom>
          <a:noFill/>
        </p:spPr>
        <p:txBody>
          <a:bodyPr vert="horz" wrap="square" lIns="0" tIns="0" rIns="0" bIns="0" rtlCol="0">
            <a:spAutoFit/>
          </a:bodyPr>
          <a:lstStyle/>
          <a:p>
            <a:pPr>
              <a:spcAft>
                <a:spcPts val="800"/>
              </a:spcAft>
            </a:pPr>
            <a:r>
              <a:rPr lang="en-US">
                <a:solidFill>
                  <a:srgbClr val="63736B"/>
                </a:solidFill>
                <a:latin typeface="Aptos"/>
              </a:rPr>
              <a:t>Current checkout activates access without collecting money.</a:t>
            </a:r>
          </a:p>
        </p:txBody>
      </p:sp>
    </p:spTree>
    <p:extLst>
      <p:ext uri="{BB962C8B-B14F-4D97-AF65-F5344CB8AC3E}">
        <p14:creationId xmlns:p14="http://schemas.microsoft.com/office/powerpoint/2010/main" val="360017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3C3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67C999-CA28-45E1-A43F-21C6FE8A1DE3}"/>
              </a:ext>
            </a:extLst>
          </p:cNvPr>
          <p:cNvSpPr txBox="1"/>
          <p:nvPr/>
        </p:nvSpPr>
        <p:spPr>
          <a:xfrm>
            <a:off x="609600" y="304800"/>
            <a:ext cx="2032000" cy="261610"/>
          </a:xfrm>
          <a:prstGeom prst="rect">
            <a:avLst/>
          </a:prstGeom>
          <a:noFill/>
        </p:spPr>
        <p:txBody>
          <a:bodyPr vert="horz" wrap="square" lIns="0" tIns="0" rIns="0" bIns="0" rtlCol="0">
            <a:spAutoFit/>
          </a:bodyPr>
          <a:lstStyle/>
          <a:p>
            <a:pPr>
              <a:spcAft>
                <a:spcPts val="800"/>
              </a:spcAft>
            </a:pPr>
            <a:r>
              <a:rPr lang="en-US" sz="1700" b="1">
                <a:solidFill>
                  <a:srgbClr val="F6F2E9"/>
                </a:solidFill>
                <a:latin typeface="Aptos"/>
              </a:rPr>
              <a:t>JOCKEY</a:t>
            </a:r>
          </a:p>
        </p:txBody>
      </p:sp>
      <p:sp>
        <p:nvSpPr>
          <p:cNvPr id="3" name="TextBox 2">
            <a:extLst>
              <a:ext uri="{FF2B5EF4-FFF2-40B4-BE49-F238E27FC236}">
                <a16:creationId xmlns:a16="http://schemas.microsoft.com/office/drawing/2014/main" id="{CA4B1AE8-B816-4CD5-A0E2-F1F30F1B481A}"/>
              </a:ext>
            </a:extLst>
          </p:cNvPr>
          <p:cNvSpPr txBox="1"/>
          <p:nvPr/>
        </p:nvSpPr>
        <p:spPr>
          <a:xfrm>
            <a:off x="3302000" y="342900"/>
            <a:ext cx="8255000" cy="169277"/>
          </a:xfrm>
          <a:prstGeom prst="rect">
            <a:avLst/>
          </a:prstGeom>
          <a:noFill/>
        </p:spPr>
        <p:txBody>
          <a:bodyPr vert="horz" wrap="square" lIns="0" tIns="0" rIns="0" bIns="0" rtlCol="0">
            <a:spAutoFit/>
          </a:bodyPr>
          <a:lstStyle/>
          <a:p>
            <a:pPr>
              <a:spcAft>
                <a:spcPts val="800"/>
              </a:spcAft>
            </a:pPr>
            <a:r>
              <a:rPr lang="en-US" sz="1100">
                <a:solidFill>
                  <a:srgbClr val="B99756"/>
                </a:solidFill>
                <a:latin typeface="Aptos"/>
              </a:rPr>
              <a:t>SHOWCASE DATA</a:t>
            </a:r>
          </a:p>
        </p:txBody>
      </p:sp>
      <p:sp>
        <p:nvSpPr>
          <p:cNvPr id="4" name="TextBox 3">
            <a:extLst>
              <a:ext uri="{FF2B5EF4-FFF2-40B4-BE49-F238E27FC236}">
                <a16:creationId xmlns:a16="http://schemas.microsoft.com/office/drawing/2014/main" id="{331FBA81-B34D-4D6D-A963-9F23FE1B0049}"/>
              </a:ext>
            </a:extLst>
          </p:cNvPr>
          <p:cNvSpPr txBox="1"/>
          <p:nvPr/>
        </p:nvSpPr>
        <p:spPr>
          <a:xfrm>
            <a:off x="609600" y="6426200"/>
            <a:ext cx="8890000" cy="153888"/>
          </a:xfrm>
          <a:prstGeom prst="rect">
            <a:avLst/>
          </a:prstGeom>
          <a:noFill/>
        </p:spPr>
        <p:txBody>
          <a:bodyPr vert="horz" wrap="square" lIns="0" tIns="0" rIns="0" bIns="0" rtlCol="0">
            <a:spAutoFit/>
          </a:bodyPr>
          <a:lstStyle/>
          <a:p>
            <a:pPr>
              <a:spcAft>
                <a:spcPts val="800"/>
              </a:spcAft>
            </a:pPr>
            <a:r>
              <a:rPr lang="en-US" sz="1000">
                <a:solidFill>
                  <a:srgbClr val="B99756"/>
                </a:solidFill>
                <a:latin typeface="Aptos"/>
              </a:rPr>
              <a:t>STAKEHOLDER SHOWCASE  /  18 OCT 2026</a:t>
            </a:r>
          </a:p>
        </p:txBody>
      </p:sp>
      <p:sp>
        <p:nvSpPr>
          <p:cNvPr id="5" name="TextBox 4">
            <a:extLst>
              <a:ext uri="{FF2B5EF4-FFF2-40B4-BE49-F238E27FC236}">
                <a16:creationId xmlns:a16="http://schemas.microsoft.com/office/drawing/2014/main" id="{3ED84684-A520-47BD-B58A-66ACF2E2251B}"/>
              </a:ext>
            </a:extLst>
          </p:cNvPr>
          <p:cNvSpPr txBox="1"/>
          <p:nvPr/>
        </p:nvSpPr>
        <p:spPr>
          <a:xfrm>
            <a:off x="11112500" y="6375400"/>
            <a:ext cx="508000" cy="200055"/>
          </a:xfrm>
          <a:prstGeom prst="rect">
            <a:avLst/>
          </a:prstGeom>
          <a:noFill/>
        </p:spPr>
        <p:txBody>
          <a:bodyPr vert="horz" wrap="square" lIns="0" tIns="0" rIns="0" bIns="0" rtlCol="0">
            <a:spAutoFit/>
          </a:bodyPr>
          <a:lstStyle/>
          <a:p>
            <a:pPr>
              <a:spcAft>
                <a:spcPts val="800"/>
              </a:spcAft>
            </a:pPr>
            <a:r>
              <a:rPr lang="en-US" sz="1300">
                <a:solidFill>
                  <a:srgbClr val="B99756"/>
                </a:solidFill>
                <a:latin typeface="Aptos"/>
              </a:rPr>
              <a:t>08</a:t>
            </a:r>
          </a:p>
        </p:txBody>
      </p:sp>
      <p:sp>
        <p:nvSpPr>
          <p:cNvPr id="6" name="TextBox 5">
            <a:extLst>
              <a:ext uri="{FF2B5EF4-FFF2-40B4-BE49-F238E27FC236}">
                <a16:creationId xmlns:a16="http://schemas.microsoft.com/office/drawing/2014/main" id="{30032525-197F-45DA-9357-5C131435B765}"/>
              </a:ext>
            </a:extLst>
          </p:cNvPr>
          <p:cNvSpPr txBox="1"/>
          <p:nvPr/>
        </p:nvSpPr>
        <p:spPr>
          <a:xfrm>
            <a:off x="609600" y="1117600"/>
            <a:ext cx="10972800" cy="569387"/>
          </a:xfrm>
          <a:prstGeom prst="rect">
            <a:avLst/>
          </a:prstGeom>
          <a:noFill/>
        </p:spPr>
        <p:txBody>
          <a:bodyPr vert="horz" wrap="square" lIns="0" tIns="0" rIns="0" bIns="0" rtlCol="0">
            <a:spAutoFit/>
          </a:bodyPr>
          <a:lstStyle/>
          <a:p>
            <a:pPr>
              <a:spcAft>
                <a:spcPts val="800"/>
              </a:spcAft>
            </a:pPr>
            <a:r>
              <a:rPr lang="en-US" sz="3700">
                <a:solidFill>
                  <a:srgbClr val="F6F2E9"/>
                </a:solidFill>
                <a:latin typeface="Georgia" panose="02040502050405020303" pitchFamily="18" charset="0"/>
              </a:rPr>
              <a:t>Enough depth for a real walkthrough</a:t>
            </a:r>
          </a:p>
        </p:txBody>
      </p:sp>
      <p:sp>
        <p:nvSpPr>
          <p:cNvPr id="7" name="TextBox 6">
            <a:extLst>
              <a:ext uri="{FF2B5EF4-FFF2-40B4-BE49-F238E27FC236}">
                <a16:creationId xmlns:a16="http://schemas.microsoft.com/office/drawing/2014/main" id="{7CFD6231-6A76-4C0A-B1C5-6459EBB7BF46}"/>
              </a:ext>
            </a:extLst>
          </p:cNvPr>
          <p:cNvSpPr txBox="1"/>
          <p:nvPr/>
        </p:nvSpPr>
        <p:spPr>
          <a:xfrm>
            <a:off x="609600" y="2768600"/>
            <a:ext cx="4699000" cy="892552"/>
          </a:xfrm>
          <a:prstGeom prst="rect">
            <a:avLst/>
          </a:prstGeom>
          <a:noFill/>
        </p:spPr>
        <p:txBody>
          <a:bodyPr vert="horz" wrap="square" lIns="0" tIns="0" rIns="0" bIns="0" rtlCol="0">
            <a:spAutoFit/>
          </a:bodyPr>
          <a:lstStyle/>
          <a:p>
            <a:pPr>
              <a:spcAft>
                <a:spcPts val="800"/>
              </a:spcAft>
            </a:pPr>
            <a:r>
              <a:rPr lang="en-US" sz="5800">
                <a:solidFill>
                  <a:srgbClr val="B99756"/>
                </a:solidFill>
                <a:latin typeface="Georgia" panose="02040502050405020303" pitchFamily="18" charset="0"/>
              </a:rPr>
              <a:t>132</a:t>
            </a:r>
          </a:p>
        </p:txBody>
      </p:sp>
      <p:sp>
        <p:nvSpPr>
          <p:cNvPr id="8" name="TextBox 7">
            <a:extLst>
              <a:ext uri="{FF2B5EF4-FFF2-40B4-BE49-F238E27FC236}">
                <a16:creationId xmlns:a16="http://schemas.microsoft.com/office/drawing/2014/main" id="{D8266A8D-175C-4C99-8826-A301F0FD9E6F}"/>
              </a:ext>
            </a:extLst>
          </p:cNvPr>
          <p:cNvSpPr txBox="1"/>
          <p:nvPr/>
        </p:nvSpPr>
        <p:spPr>
          <a:xfrm>
            <a:off x="609600" y="3860800"/>
            <a:ext cx="4699000" cy="353943"/>
          </a:xfrm>
          <a:prstGeom prst="rect">
            <a:avLst/>
          </a:prstGeom>
          <a:noFill/>
        </p:spPr>
        <p:txBody>
          <a:bodyPr vert="horz" wrap="square" lIns="0" tIns="0" rIns="0" bIns="0" rtlCol="0">
            <a:spAutoFit/>
          </a:bodyPr>
          <a:lstStyle/>
          <a:p>
            <a:pPr>
              <a:spcAft>
                <a:spcPts val="800"/>
              </a:spcAft>
            </a:pPr>
            <a:r>
              <a:rPr lang="en-US" sz="2300">
                <a:solidFill>
                  <a:srgbClr val="F6F2E9"/>
                </a:solidFill>
                <a:latin typeface="Aptos"/>
              </a:rPr>
              <a:t>horses</a:t>
            </a:r>
          </a:p>
        </p:txBody>
      </p:sp>
      <p:sp>
        <p:nvSpPr>
          <p:cNvPr id="9" name="TextBox 8">
            <a:extLst>
              <a:ext uri="{FF2B5EF4-FFF2-40B4-BE49-F238E27FC236}">
                <a16:creationId xmlns:a16="http://schemas.microsoft.com/office/drawing/2014/main" id="{6E6501D7-8EF5-450C-B42B-4A9AD5BC0C63}"/>
              </a:ext>
            </a:extLst>
          </p:cNvPr>
          <p:cNvSpPr txBox="1"/>
          <p:nvPr/>
        </p:nvSpPr>
        <p:spPr>
          <a:xfrm>
            <a:off x="6350000" y="2768600"/>
            <a:ext cx="5232400" cy="892552"/>
          </a:xfrm>
          <a:prstGeom prst="rect">
            <a:avLst/>
          </a:prstGeom>
          <a:noFill/>
        </p:spPr>
        <p:txBody>
          <a:bodyPr vert="horz" wrap="square" lIns="0" tIns="0" rIns="0" bIns="0" rtlCol="0">
            <a:spAutoFit/>
          </a:bodyPr>
          <a:lstStyle/>
          <a:p>
            <a:pPr>
              <a:spcAft>
                <a:spcPts val="800"/>
              </a:spcAft>
            </a:pPr>
            <a:r>
              <a:rPr lang="en-US" sz="5800">
                <a:solidFill>
                  <a:srgbClr val="B99756"/>
                </a:solidFill>
                <a:latin typeface="Georgia" panose="02040502050405020303" pitchFamily="18" charset="0"/>
              </a:rPr>
              <a:t>306</a:t>
            </a:r>
          </a:p>
        </p:txBody>
      </p:sp>
      <p:sp>
        <p:nvSpPr>
          <p:cNvPr id="10" name="TextBox 9">
            <a:extLst>
              <a:ext uri="{FF2B5EF4-FFF2-40B4-BE49-F238E27FC236}">
                <a16:creationId xmlns:a16="http://schemas.microsoft.com/office/drawing/2014/main" id="{D7B4D795-3066-4395-896F-157EE1666BEA}"/>
              </a:ext>
            </a:extLst>
          </p:cNvPr>
          <p:cNvSpPr txBox="1"/>
          <p:nvPr/>
        </p:nvSpPr>
        <p:spPr>
          <a:xfrm>
            <a:off x="6350000" y="3860800"/>
            <a:ext cx="5232400" cy="353943"/>
          </a:xfrm>
          <a:prstGeom prst="rect">
            <a:avLst/>
          </a:prstGeom>
          <a:noFill/>
        </p:spPr>
        <p:txBody>
          <a:bodyPr vert="horz" wrap="square" lIns="0" tIns="0" rIns="0" bIns="0" rtlCol="0">
            <a:spAutoFit/>
          </a:bodyPr>
          <a:lstStyle/>
          <a:p>
            <a:pPr>
              <a:spcAft>
                <a:spcPts val="800"/>
              </a:spcAft>
            </a:pPr>
            <a:r>
              <a:rPr lang="en-US" sz="2300">
                <a:solidFill>
                  <a:srgbClr val="F6F2E9"/>
                </a:solidFill>
                <a:latin typeface="Aptos"/>
              </a:rPr>
              <a:t>races</a:t>
            </a:r>
          </a:p>
        </p:txBody>
      </p:sp>
      <p:sp>
        <p:nvSpPr>
          <p:cNvPr id="11" name="TextBox 10">
            <a:extLst>
              <a:ext uri="{FF2B5EF4-FFF2-40B4-BE49-F238E27FC236}">
                <a16:creationId xmlns:a16="http://schemas.microsoft.com/office/drawing/2014/main" id="{DBE6B002-471B-4237-AFAA-45551CAFB311}"/>
              </a:ext>
            </a:extLst>
          </p:cNvPr>
          <p:cNvSpPr txBox="1"/>
          <p:nvPr/>
        </p:nvSpPr>
        <p:spPr>
          <a:xfrm>
            <a:off x="609600" y="4826000"/>
            <a:ext cx="10972800" cy="430887"/>
          </a:xfrm>
          <a:prstGeom prst="rect">
            <a:avLst/>
          </a:prstGeom>
          <a:noFill/>
        </p:spPr>
        <p:txBody>
          <a:bodyPr vert="horz" wrap="square" lIns="0" tIns="0" rIns="0" bIns="0" rtlCol="0">
            <a:spAutoFit/>
          </a:bodyPr>
          <a:lstStyle/>
          <a:p>
            <a:pPr>
              <a:spcAft>
                <a:spcPts val="800"/>
              </a:spcAft>
            </a:pPr>
            <a:r>
              <a:rPr lang="en-US" sz="2800">
                <a:solidFill>
                  <a:srgbClr val="F6F2E9"/>
                </a:solidFill>
                <a:latin typeface="Aptos"/>
              </a:rPr>
              <a:t>50 meetings  /  2,036 finishing records</a:t>
            </a:r>
          </a:p>
        </p:txBody>
      </p:sp>
      <p:sp>
        <p:nvSpPr>
          <p:cNvPr id="12" name="TextBox 11">
            <a:extLst>
              <a:ext uri="{FF2B5EF4-FFF2-40B4-BE49-F238E27FC236}">
                <a16:creationId xmlns:a16="http://schemas.microsoft.com/office/drawing/2014/main" id="{5D7817C0-5A1C-42D7-99F4-265A389EF680}"/>
              </a:ext>
            </a:extLst>
          </p:cNvPr>
          <p:cNvSpPr txBox="1"/>
          <p:nvPr/>
        </p:nvSpPr>
        <p:spPr>
          <a:xfrm>
            <a:off x="609600" y="5727700"/>
            <a:ext cx="10972800" cy="261610"/>
          </a:xfrm>
          <a:prstGeom prst="rect">
            <a:avLst/>
          </a:prstGeom>
          <a:noFill/>
        </p:spPr>
        <p:txBody>
          <a:bodyPr vert="horz" wrap="square" lIns="0" tIns="0" rIns="0" bIns="0" rtlCol="0">
            <a:spAutoFit/>
          </a:bodyPr>
          <a:lstStyle/>
          <a:p>
            <a:pPr>
              <a:spcAft>
                <a:spcPts val="800"/>
              </a:spcAft>
            </a:pPr>
            <a:r>
              <a:rPr lang="en-US" sz="1700">
                <a:solidFill>
                  <a:srgbClr val="F6F2E9"/>
                </a:solidFill>
                <a:latin typeface="Aptos"/>
              </a:rPr>
              <a:t>Generated showcase records; current workspace totals.</a:t>
            </a:r>
          </a:p>
        </p:txBody>
      </p:sp>
    </p:spTree>
    <p:extLst>
      <p:ext uri="{BB962C8B-B14F-4D97-AF65-F5344CB8AC3E}">
        <p14:creationId xmlns:p14="http://schemas.microsoft.com/office/powerpoint/2010/main" val="837706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2E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56FF47-54FF-449E-BAD8-21588EC0DCD3}"/>
              </a:ext>
            </a:extLst>
          </p:cNvPr>
          <p:cNvSpPr txBox="1"/>
          <p:nvPr/>
        </p:nvSpPr>
        <p:spPr>
          <a:xfrm>
            <a:off x="609600" y="304800"/>
            <a:ext cx="2032000" cy="261610"/>
          </a:xfrm>
          <a:prstGeom prst="rect">
            <a:avLst/>
          </a:prstGeom>
          <a:noFill/>
        </p:spPr>
        <p:txBody>
          <a:bodyPr vert="horz" wrap="square" lIns="0" tIns="0" rIns="0" bIns="0" rtlCol="0">
            <a:spAutoFit/>
          </a:bodyPr>
          <a:lstStyle/>
          <a:p>
            <a:pPr>
              <a:spcAft>
                <a:spcPts val="800"/>
              </a:spcAft>
            </a:pPr>
            <a:r>
              <a:rPr lang="en-US" sz="1700" b="1">
                <a:solidFill>
                  <a:srgbClr val="123C32"/>
                </a:solidFill>
                <a:latin typeface="Aptos"/>
              </a:rPr>
              <a:t>JOCKEY</a:t>
            </a:r>
          </a:p>
        </p:txBody>
      </p:sp>
      <p:sp>
        <p:nvSpPr>
          <p:cNvPr id="3" name="TextBox 2">
            <a:extLst>
              <a:ext uri="{FF2B5EF4-FFF2-40B4-BE49-F238E27FC236}">
                <a16:creationId xmlns:a16="http://schemas.microsoft.com/office/drawing/2014/main" id="{93DF157A-A0A3-42BE-B605-5B4D1661C567}"/>
              </a:ext>
            </a:extLst>
          </p:cNvPr>
          <p:cNvSpPr txBox="1"/>
          <p:nvPr/>
        </p:nvSpPr>
        <p:spPr>
          <a:xfrm>
            <a:off x="3302000" y="342900"/>
            <a:ext cx="8255000" cy="169277"/>
          </a:xfrm>
          <a:prstGeom prst="rect">
            <a:avLst/>
          </a:prstGeom>
          <a:noFill/>
        </p:spPr>
        <p:txBody>
          <a:bodyPr vert="horz" wrap="square" lIns="0" tIns="0" rIns="0" bIns="0" rtlCol="0">
            <a:spAutoFit/>
          </a:bodyPr>
          <a:lstStyle/>
          <a:p>
            <a:pPr>
              <a:spcAft>
                <a:spcPts val="800"/>
              </a:spcAft>
            </a:pPr>
            <a:r>
              <a:rPr lang="en-US" sz="1100">
                <a:solidFill>
                  <a:srgbClr val="63736B"/>
                </a:solidFill>
                <a:latin typeface="Aptos"/>
              </a:rPr>
              <a:t>REASONS TO RETURN</a:t>
            </a:r>
          </a:p>
        </p:txBody>
      </p:sp>
      <p:sp>
        <p:nvSpPr>
          <p:cNvPr id="4" name="TextBox 3">
            <a:extLst>
              <a:ext uri="{FF2B5EF4-FFF2-40B4-BE49-F238E27FC236}">
                <a16:creationId xmlns:a16="http://schemas.microsoft.com/office/drawing/2014/main" id="{525AB7BD-AA26-4CD9-978B-1F93728F4C5E}"/>
              </a:ext>
            </a:extLst>
          </p:cNvPr>
          <p:cNvSpPr txBox="1"/>
          <p:nvPr/>
        </p:nvSpPr>
        <p:spPr>
          <a:xfrm>
            <a:off x="609600" y="6426200"/>
            <a:ext cx="8890000" cy="153888"/>
          </a:xfrm>
          <a:prstGeom prst="rect">
            <a:avLst/>
          </a:prstGeom>
          <a:noFill/>
        </p:spPr>
        <p:txBody>
          <a:bodyPr vert="horz" wrap="square" lIns="0" tIns="0" rIns="0" bIns="0" rtlCol="0">
            <a:spAutoFit/>
          </a:bodyPr>
          <a:lstStyle/>
          <a:p>
            <a:pPr>
              <a:spcAft>
                <a:spcPts val="800"/>
              </a:spcAft>
            </a:pPr>
            <a:r>
              <a:rPr lang="en-US" sz="1000">
                <a:solidFill>
                  <a:srgbClr val="63736B"/>
                </a:solidFill>
                <a:latin typeface="Aptos"/>
              </a:rPr>
              <a:t>STAKEHOLDER SHOWCASE  /  18 OCT 2026</a:t>
            </a:r>
          </a:p>
        </p:txBody>
      </p:sp>
      <p:sp>
        <p:nvSpPr>
          <p:cNvPr id="5" name="TextBox 4">
            <a:extLst>
              <a:ext uri="{FF2B5EF4-FFF2-40B4-BE49-F238E27FC236}">
                <a16:creationId xmlns:a16="http://schemas.microsoft.com/office/drawing/2014/main" id="{C92491B4-1FC5-42C0-BD3E-062159FE7D50}"/>
              </a:ext>
            </a:extLst>
          </p:cNvPr>
          <p:cNvSpPr txBox="1"/>
          <p:nvPr/>
        </p:nvSpPr>
        <p:spPr>
          <a:xfrm>
            <a:off x="11112500" y="6375400"/>
            <a:ext cx="508000" cy="200055"/>
          </a:xfrm>
          <a:prstGeom prst="rect">
            <a:avLst/>
          </a:prstGeom>
          <a:noFill/>
        </p:spPr>
        <p:txBody>
          <a:bodyPr vert="horz" wrap="square" lIns="0" tIns="0" rIns="0" bIns="0" rtlCol="0">
            <a:spAutoFit/>
          </a:bodyPr>
          <a:lstStyle/>
          <a:p>
            <a:pPr>
              <a:spcAft>
                <a:spcPts val="800"/>
              </a:spcAft>
            </a:pPr>
            <a:r>
              <a:rPr lang="en-US" sz="1300">
                <a:solidFill>
                  <a:srgbClr val="63736B"/>
                </a:solidFill>
                <a:latin typeface="Aptos"/>
              </a:rPr>
              <a:t>09</a:t>
            </a:r>
          </a:p>
        </p:txBody>
      </p:sp>
      <p:sp>
        <p:nvSpPr>
          <p:cNvPr id="6" name="TextBox 5">
            <a:extLst>
              <a:ext uri="{FF2B5EF4-FFF2-40B4-BE49-F238E27FC236}">
                <a16:creationId xmlns:a16="http://schemas.microsoft.com/office/drawing/2014/main" id="{A13F4D38-2740-431B-8A5B-C8AF37B04766}"/>
              </a:ext>
            </a:extLst>
          </p:cNvPr>
          <p:cNvSpPr txBox="1"/>
          <p:nvPr/>
        </p:nvSpPr>
        <p:spPr>
          <a:xfrm>
            <a:off x="609600" y="1117600"/>
            <a:ext cx="10972800" cy="569387"/>
          </a:xfrm>
          <a:prstGeom prst="rect">
            <a:avLst/>
          </a:prstGeom>
          <a:noFill/>
        </p:spPr>
        <p:txBody>
          <a:bodyPr vert="horz" wrap="square" lIns="0" tIns="0" rIns="0" bIns="0" rtlCol="0">
            <a:spAutoFit/>
          </a:bodyPr>
          <a:lstStyle/>
          <a:p>
            <a:pPr>
              <a:spcAft>
                <a:spcPts val="800"/>
              </a:spcAft>
            </a:pPr>
            <a:r>
              <a:rPr lang="en-US" sz="3700">
                <a:solidFill>
                  <a:srgbClr val="123C32"/>
                </a:solidFill>
                <a:latin typeface="Georgia" panose="02040502050405020303" pitchFamily="18" charset="0"/>
              </a:rPr>
              <a:t>Support discovery and return visits</a:t>
            </a:r>
          </a:p>
        </p:txBody>
      </p:sp>
      <p:sp>
        <p:nvSpPr>
          <p:cNvPr id="7" name="TextBox 6">
            <a:extLst>
              <a:ext uri="{FF2B5EF4-FFF2-40B4-BE49-F238E27FC236}">
                <a16:creationId xmlns:a16="http://schemas.microsoft.com/office/drawing/2014/main" id="{505B0245-1B92-4145-BF54-B2BCA09A31B7}"/>
              </a:ext>
            </a:extLst>
          </p:cNvPr>
          <p:cNvSpPr txBox="1"/>
          <p:nvPr/>
        </p:nvSpPr>
        <p:spPr>
          <a:xfrm>
            <a:off x="609600" y="2895600"/>
            <a:ext cx="2984500" cy="446276"/>
          </a:xfrm>
          <a:prstGeom prst="rect">
            <a:avLst/>
          </a:prstGeom>
          <a:noFill/>
        </p:spPr>
        <p:txBody>
          <a:bodyPr vert="horz" wrap="square" lIns="0" tIns="0" rIns="0" bIns="0" rtlCol="0">
            <a:spAutoFit/>
          </a:bodyPr>
          <a:lstStyle/>
          <a:p>
            <a:pPr>
              <a:spcAft>
                <a:spcPts val="800"/>
              </a:spcAft>
            </a:pPr>
            <a:r>
              <a:rPr lang="en-US" sz="2900">
                <a:solidFill>
                  <a:srgbClr val="123C32"/>
                </a:solidFill>
                <a:latin typeface="Georgia" panose="02040502050405020303" pitchFamily="18" charset="0"/>
              </a:rPr>
              <a:t>Learn</a:t>
            </a:r>
          </a:p>
        </p:txBody>
      </p:sp>
      <p:sp>
        <p:nvSpPr>
          <p:cNvPr id="8" name="TextBox 7">
            <a:extLst>
              <a:ext uri="{FF2B5EF4-FFF2-40B4-BE49-F238E27FC236}">
                <a16:creationId xmlns:a16="http://schemas.microsoft.com/office/drawing/2014/main" id="{28F63BA0-15A1-49EF-9390-8053F4D69B8E}"/>
              </a:ext>
            </a:extLst>
          </p:cNvPr>
          <p:cNvSpPr txBox="1"/>
          <p:nvPr/>
        </p:nvSpPr>
        <p:spPr>
          <a:xfrm>
            <a:off x="609600" y="3733800"/>
            <a:ext cx="2984500" cy="738664"/>
          </a:xfrm>
          <a:prstGeom prst="rect">
            <a:avLst/>
          </a:prstGeom>
          <a:noFill/>
        </p:spPr>
        <p:txBody>
          <a:bodyPr vert="horz" wrap="square" lIns="0" tIns="0" rIns="0" bIns="0" rtlCol="0">
            <a:spAutoFit/>
          </a:bodyPr>
          <a:lstStyle/>
          <a:p>
            <a:pPr>
              <a:spcAft>
                <a:spcPts val="800"/>
              </a:spcAft>
            </a:pPr>
            <a:r>
              <a:rPr lang="en-US" sz="2400">
                <a:solidFill>
                  <a:srgbClr val="123C32"/>
                </a:solidFill>
                <a:latin typeface="Aptos"/>
              </a:rPr>
              <a:t>A public guide explains the racing information.</a:t>
            </a:r>
          </a:p>
        </p:txBody>
      </p:sp>
      <p:sp>
        <p:nvSpPr>
          <p:cNvPr id="9" name="TextBox 8">
            <a:extLst>
              <a:ext uri="{FF2B5EF4-FFF2-40B4-BE49-F238E27FC236}">
                <a16:creationId xmlns:a16="http://schemas.microsoft.com/office/drawing/2014/main" id="{5A9E6CC2-5FAF-4B82-AB43-7E2555F9882C}"/>
              </a:ext>
            </a:extLst>
          </p:cNvPr>
          <p:cNvSpPr txBox="1"/>
          <p:nvPr/>
        </p:nvSpPr>
        <p:spPr>
          <a:xfrm>
            <a:off x="4610100" y="2895600"/>
            <a:ext cx="2984500" cy="446276"/>
          </a:xfrm>
          <a:prstGeom prst="rect">
            <a:avLst/>
          </a:prstGeom>
          <a:noFill/>
        </p:spPr>
        <p:txBody>
          <a:bodyPr vert="horz" wrap="square" lIns="0" tIns="0" rIns="0" bIns="0" rtlCol="0">
            <a:spAutoFit/>
          </a:bodyPr>
          <a:lstStyle/>
          <a:p>
            <a:pPr>
              <a:spcAft>
                <a:spcPts val="800"/>
              </a:spcAft>
            </a:pPr>
            <a:r>
              <a:rPr lang="en-US" sz="2900">
                <a:solidFill>
                  <a:srgbClr val="123C32"/>
                </a:solidFill>
                <a:latin typeface="Georgia" panose="02040502050405020303" pitchFamily="18" charset="0"/>
              </a:rPr>
              <a:t>Follow</a:t>
            </a:r>
          </a:p>
        </p:txBody>
      </p:sp>
      <p:sp>
        <p:nvSpPr>
          <p:cNvPr id="10" name="TextBox 9">
            <a:extLst>
              <a:ext uri="{FF2B5EF4-FFF2-40B4-BE49-F238E27FC236}">
                <a16:creationId xmlns:a16="http://schemas.microsoft.com/office/drawing/2014/main" id="{E75D6D42-3D2B-4231-8961-A4AEFF27F1AD}"/>
              </a:ext>
            </a:extLst>
          </p:cNvPr>
          <p:cNvSpPr txBox="1"/>
          <p:nvPr/>
        </p:nvSpPr>
        <p:spPr>
          <a:xfrm>
            <a:off x="4610100" y="3733800"/>
            <a:ext cx="2984500" cy="738664"/>
          </a:xfrm>
          <a:prstGeom prst="rect">
            <a:avLst/>
          </a:prstGeom>
          <a:noFill/>
        </p:spPr>
        <p:txBody>
          <a:bodyPr vert="horz" wrap="square" lIns="0" tIns="0" rIns="0" bIns="0" rtlCol="0">
            <a:spAutoFit/>
          </a:bodyPr>
          <a:lstStyle/>
          <a:p>
            <a:pPr>
              <a:spcAft>
                <a:spcPts val="800"/>
              </a:spcAft>
            </a:pPr>
            <a:r>
              <a:rPr lang="en-US" sz="2400">
                <a:solidFill>
                  <a:srgbClr val="123C32"/>
                </a:solidFill>
                <a:latin typeface="Aptos"/>
              </a:rPr>
              <a:t>Favorites keep selected horses within reach.</a:t>
            </a:r>
          </a:p>
        </p:txBody>
      </p:sp>
      <p:sp>
        <p:nvSpPr>
          <p:cNvPr id="11" name="TextBox 10">
            <a:extLst>
              <a:ext uri="{FF2B5EF4-FFF2-40B4-BE49-F238E27FC236}">
                <a16:creationId xmlns:a16="http://schemas.microsoft.com/office/drawing/2014/main" id="{EEF111AD-E190-4137-A76B-06538BAA0B5B}"/>
              </a:ext>
            </a:extLst>
          </p:cNvPr>
          <p:cNvSpPr txBox="1"/>
          <p:nvPr/>
        </p:nvSpPr>
        <p:spPr>
          <a:xfrm>
            <a:off x="8610600" y="2895600"/>
            <a:ext cx="2971800" cy="446276"/>
          </a:xfrm>
          <a:prstGeom prst="rect">
            <a:avLst/>
          </a:prstGeom>
          <a:noFill/>
        </p:spPr>
        <p:txBody>
          <a:bodyPr vert="horz" wrap="square" lIns="0" tIns="0" rIns="0" bIns="0" rtlCol="0">
            <a:spAutoFit/>
          </a:bodyPr>
          <a:lstStyle/>
          <a:p>
            <a:pPr>
              <a:spcAft>
                <a:spcPts val="800"/>
              </a:spcAft>
            </a:pPr>
            <a:r>
              <a:rPr lang="en-US" sz="2900">
                <a:solidFill>
                  <a:srgbClr val="123C32"/>
                </a:solidFill>
                <a:latin typeface="Georgia" panose="02040502050405020303" pitchFamily="18" charset="0"/>
              </a:rPr>
              <a:t>Manage</a:t>
            </a:r>
          </a:p>
        </p:txBody>
      </p:sp>
      <p:sp>
        <p:nvSpPr>
          <p:cNvPr id="12" name="TextBox 11">
            <a:extLst>
              <a:ext uri="{FF2B5EF4-FFF2-40B4-BE49-F238E27FC236}">
                <a16:creationId xmlns:a16="http://schemas.microsoft.com/office/drawing/2014/main" id="{5B50848D-E0AE-4945-ADA5-615EF42040BF}"/>
              </a:ext>
            </a:extLst>
          </p:cNvPr>
          <p:cNvSpPr txBox="1"/>
          <p:nvPr/>
        </p:nvSpPr>
        <p:spPr>
          <a:xfrm>
            <a:off x="8610600" y="3733800"/>
            <a:ext cx="2971800" cy="738664"/>
          </a:xfrm>
          <a:prstGeom prst="rect">
            <a:avLst/>
          </a:prstGeom>
          <a:noFill/>
        </p:spPr>
        <p:txBody>
          <a:bodyPr vert="horz" wrap="square" lIns="0" tIns="0" rIns="0" bIns="0" rtlCol="0">
            <a:spAutoFit/>
          </a:bodyPr>
          <a:lstStyle/>
          <a:p>
            <a:pPr>
              <a:spcAft>
                <a:spcPts val="800"/>
              </a:spcAft>
            </a:pPr>
            <a:r>
              <a:rPr lang="en-US" sz="2400">
                <a:solidFill>
                  <a:srgbClr val="123C32"/>
                </a:solidFill>
                <a:latin typeface="Aptos"/>
              </a:rPr>
              <a:t>Membership shows the active access period.</a:t>
            </a:r>
          </a:p>
        </p:txBody>
      </p:sp>
    </p:spTree>
    <p:extLst>
      <p:ext uri="{BB962C8B-B14F-4D97-AF65-F5344CB8AC3E}">
        <p14:creationId xmlns:p14="http://schemas.microsoft.com/office/powerpoint/2010/main" val="3363474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2E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DDD183-C062-4D7F-A5C6-06CDCB07D16C}"/>
              </a:ext>
            </a:extLst>
          </p:cNvPr>
          <p:cNvSpPr txBox="1"/>
          <p:nvPr/>
        </p:nvSpPr>
        <p:spPr>
          <a:xfrm>
            <a:off x="609600" y="304800"/>
            <a:ext cx="2032000" cy="261610"/>
          </a:xfrm>
          <a:prstGeom prst="rect">
            <a:avLst/>
          </a:prstGeom>
          <a:noFill/>
        </p:spPr>
        <p:txBody>
          <a:bodyPr vert="horz" wrap="square" lIns="0" tIns="0" rIns="0" bIns="0" rtlCol="0">
            <a:spAutoFit/>
          </a:bodyPr>
          <a:lstStyle/>
          <a:p>
            <a:pPr>
              <a:spcAft>
                <a:spcPts val="800"/>
              </a:spcAft>
            </a:pPr>
            <a:r>
              <a:rPr lang="en-US" sz="1700" b="1">
                <a:solidFill>
                  <a:srgbClr val="123C32"/>
                </a:solidFill>
                <a:latin typeface="Aptos"/>
              </a:rPr>
              <a:t>JOCKEY</a:t>
            </a:r>
          </a:p>
        </p:txBody>
      </p:sp>
      <p:sp>
        <p:nvSpPr>
          <p:cNvPr id="3" name="TextBox 2">
            <a:extLst>
              <a:ext uri="{FF2B5EF4-FFF2-40B4-BE49-F238E27FC236}">
                <a16:creationId xmlns:a16="http://schemas.microsoft.com/office/drawing/2014/main" id="{D1F98BBE-EB7F-4FAF-9426-58DB37DAD9DC}"/>
              </a:ext>
            </a:extLst>
          </p:cNvPr>
          <p:cNvSpPr txBox="1"/>
          <p:nvPr/>
        </p:nvSpPr>
        <p:spPr>
          <a:xfrm>
            <a:off x="3302000" y="342900"/>
            <a:ext cx="8255000" cy="169277"/>
          </a:xfrm>
          <a:prstGeom prst="rect">
            <a:avLst/>
          </a:prstGeom>
          <a:noFill/>
        </p:spPr>
        <p:txBody>
          <a:bodyPr vert="horz" wrap="square" lIns="0" tIns="0" rIns="0" bIns="0" rtlCol="0">
            <a:spAutoFit/>
          </a:bodyPr>
          <a:lstStyle/>
          <a:p>
            <a:pPr>
              <a:spcAft>
                <a:spcPts val="800"/>
              </a:spcAft>
            </a:pPr>
            <a:r>
              <a:rPr lang="en-US" sz="1100">
                <a:solidFill>
                  <a:srgbClr val="63736B"/>
                </a:solidFill>
                <a:latin typeface="Aptos"/>
              </a:rPr>
              <a:t>ENGINEERING VERIFICATION</a:t>
            </a:r>
          </a:p>
        </p:txBody>
      </p:sp>
      <p:sp>
        <p:nvSpPr>
          <p:cNvPr id="4" name="TextBox 3">
            <a:extLst>
              <a:ext uri="{FF2B5EF4-FFF2-40B4-BE49-F238E27FC236}">
                <a16:creationId xmlns:a16="http://schemas.microsoft.com/office/drawing/2014/main" id="{7EED7777-99E9-415F-A16A-D6F874EE6858}"/>
              </a:ext>
            </a:extLst>
          </p:cNvPr>
          <p:cNvSpPr txBox="1"/>
          <p:nvPr/>
        </p:nvSpPr>
        <p:spPr>
          <a:xfrm>
            <a:off x="609600" y="6426200"/>
            <a:ext cx="8890000" cy="153888"/>
          </a:xfrm>
          <a:prstGeom prst="rect">
            <a:avLst/>
          </a:prstGeom>
          <a:noFill/>
        </p:spPr>
        <p:txBody>
          <a:bodyPr vert="horz" wrap="square" lIns="0" tIns="0" rIns="0" bIns="0" rtlCol="0">
            <a:spAutoFit/>
          </a:bodyPr>
          <a:lstStyle/>
          <a:p>
            <a:pPr>
              <a:spcAft>
                <a:spcPts val="800"/>
              </a:spcAft>
            </a:pPr>
            <a:r>
              <a:rPr lang="en-US" sz="1000">
                <a:solidFill>
                  <a:srgbClr val="63736B"/>
                </a:solidFill>
                <a:latin typeface="Aptos"/>
              </a:rPr>
              <a:t>STAKEHOLDER SHOWCASE  /  18 OCT 2026</a:t>
            </a:r>
          </a:p>
        </p:txBody>
      </p:sp>
      <p:sp>
        <p:nvSpPr>
          <p:cNvPr id="5" name="TextBox 4">
            <a:extLst>
              <a:ext uri="{FF2B5EF4-FFF2-40B4-BE49-F238E27FC236}">
                <a16:creationId xmlns:a16="http://schemas.microsoft.com/office/drawing/2014/main" id="{0D6DE740-C74B-40D3-A2C9-11FF19DEDB3D}"/>
              </a:ext>
            </a:extLst>
          </p:cNvPr>
          <p:cNvSpPr txBox="1"/>
          <p:nvPr/>
        </p:nvSpPr>
        <p:spPr>
          <a:xfrm>
            <a:off x="11112500" y="6375400"/>
            <a:ext cx="508000" cy="200055"/>
          </a:xfrm>
          <a:prstGeom prst="rect">
            <a:avLst/>
          </a:prstGeom>
          <a:noFill/>
        </p:spPr>
        <p:txBody>
          <a:bodyPr vert="horz" wrap="square" lIns="0" tIns="0" rIns="0" bIns="0" rtlCol="0">
            <a:spAutoFit/>
          </a:bodyPr>
          <a:lstStyle/>
          <a:p>
            <a:pPr>
              <a:spcAft>
                <a:spcPts val="800"/>
              </a:spcAft>
            </a:pPr>
            <a:r>
              <a:rPr lang="en-US" sz="1300">
                <a:solidFill>
                  <a:srgbClr val="63736B"/>
                </a:solidFill>
                <a:latin typeface="Aptos"/>
              </a:rPr>
              <a:t>10</a:t>
            </a:r>
          </a:p>
        </p:txBody>
      </p:sp>
      <p:sp>
        <p:nvSpPr>
          <p:cNvPr id="6" name="TextBox 5">
            <a:extLst>
              <a:ext uri="{FF2B5EF4-FFF2-40B4-BE49-F238E27FC236}">
                <a16:creationId xmlns:a16="http://schemas.microsoft.com/office/drawing/2014/main" id="{C7712B3C-19EC-4054-8300-A1BD740EFED8}"/>
              </a:ext>
            </a:extLst>
          </p:cNvPr>
          <p:cNvSpPr txBox="1"/>
          <p:nvPr/>
        </p:nvSpPr>
        <p:spPr>
          <a:xfrm>
            <a:off x="609600" y="1117600"/>
            <a:ext cx="10972800" cy="569387"/>
          </a:xfrm>
          <a:prstGeom prst="rect">
            <a:avLst/>
          </a:prstGeom>
          <a:noFill/>
        </p:spPr>
        <p:txBody>
          <a:bodyPr vert="horz" wrap="square" lIns="0" tIns="0" rIns="0" bIns="0" rtlCol="0">
            <a:spAutoFit/>
          </a:bodyPr>
          <a:lstStyle/>
          <a:p>
            <a:pPr>
              <a:spcAft>
                <a:spcPts val="800"/>
              </a:spcAft>
            </a:pPr>
            <a:r>
              <a:rPr lang="en-US" sz="3700">
                <a:solidFill>
                  <a:srgbClr val="123C32"/>
                </a:solidFill>
                <a:latin typeface="Georgia" panose="02040502050405020303" pitchFamily="18" charset="0"/>
              </a:rPr>
              <a:t>Core journeys have been verified</a:t>
            </a:r>
          </a:p>
        </p:txBody>
      </p:sp>
      <p:sp>
        <p:nvSpPr>
          <p:cNvPr id="7" name="TextBox 6">
            <a:extLst>
              <a:ext uri="{FF2B5EF4-FFF2-40B4-BE49-F238E27FC236}">
                <a16:creationId xmlns:a16="http://schemas.microsoft.com/office/drawing/2014/main" id="{67C4A3B4-DAFD-4FC8-AE8E-70F88BD0BB07}"/>
              </a:ext>
            </a:extLst>
          </p:cNvPr>
          <p:cNvSpPr txBox="1"/>
          <p:nvPr/>
        </p:nvSpPr>
        <p:spPr>
          <a:xfrm>
            <a:off x="609600" y="2857500"/>
            <a:ext cx="3111500" cy="907941"/>
          </a:xfrm>
          <a:prstGeom prst="rect">
            <a:avLst/>
          </a:prstGeom>
          <a:noFill/>
        </p:spPr>
        <p:txBody>
          <a:bodyPr vert="horz" wrap="square" lIns="0" tIns="0" rIns="0" bIns="0" rtlCol="0">
            <a:spAutoFit/>
          </a:bodyPr>
          <a:lstStyle/>
          <a:p>
            <a:pPr>
              <a:spcAft>
                <a:spcPts val="800"/>
              </a:spcAft>
            </a:pPr>
            <a:r>
              <a:rPr lang="en-US" sz="5900">
                <a:solidFill>
                  <a:srgbClr val="123C32"/>
                </a:solidFill>
                <a:latin typeface="Georgia" panose="02040502050405020303" pitchFamily="18" charset="0"/>
              </a:rPr>
              <a:t>86</a:t>
            </a:r>
          </a:p>
        </p:txBody>
      </p:sp>
      <p:sp>
        <p:nvSpPr>
          <p:cNvPr id="8" name="TextBox 7">
            <a:extLst>
              <a:ext uri="{FF2B5EF4-FFF2-40B4-BE49-F238E27FC236}">
                <a16:creationId xmlns:a16="http://schemas.microsoft.com/office/drawing/2014/main" id="{305D58C3-35F1-439C-9BC3-F7EC1384015F}"/>
              </a:ext>
            </a:extLst>
          </p:cNvPr>
          <p:cNvSpPr txBox="1"/>
          <p:nvPr/>
        </p:nvSpPr>
        <p:spPr>
          <a:xfrm>
            <a:off x="609600" y="4038600"/>
            <a:ext cx="3111500" cy="338554"/>
          </a:xfrm>
          <a:prstGeom prst="rect">
            <a:avLst/>
          </a:prstGeom>
          <a:noFill/>
        </p:spPr>
        <p:txBody>
          <a:bodyPr vert="horz" wrap="square" lIns="0" tIns="0" rIns="0" bIns="0" rtlCol="0">
            <a:spAutoFit/>
          </a:bodyPr>
          <a:lstStyle/>
          <a:p>
            <a:pPr>
              <a:spcAft>
                <a:spcPts val="800"/>
              </a:spcAft>
            </a:pPr>
            <a:r>
              <a:rPr lang="en-US" sz="2200">
                <a:solidFill>
                  <a:srgbClr val="123C32"/>
                </a:solidFill>
                <a:latin typeface="Aptos"/>
              </a:rPr>
              <a:t>backend tests</a:t>
            </a:r>
          </a:p>
        </p:txBody>
      </p:sp>
      <p:sp>
        <p:nvSpPr>
          <p:cNvPr id="9" name="TextBox 8">
            <a:extLst>
              <a:ext uri="{FF2B5EF4-FFF2-40B4-BE49-F238E27FC236}">
                <a16:creationId xmlns:a16="http://schemas.microsoft.com/office/drawing/2014/main" id="{9FD2282C-D152-40CE-96FE-BD6578426015}"/>
              </a:ext>
            </a:extLst>
          </p:cNvPr>
          <p:cNvSpPr txBox="1"/>
          <p:nvPr/>
        </p:nvSpPr>
        <p:spPr>
          <a:xfrm>
            <a:off x="4546600" y="2857500"/>
            <a:ext cx="3111500" cy="907941"/>
          </a:xfrm>
          <a:prstGeom prst="rect">
            <a:avLst/>
          </a:prstGeom>
          <a:noFill/>
        </p:spPr>
        <p:txBody>
          <a:bodyPr vert="horz" wrap="square" lIns="0" tIns="0" rIns="0" bIns="0" rtlCol="0">
            <a:spAutoFit/>
          </a:bodyPr>
          <a:lstStyle/>
          <a:p>
            <a:pPr>
              <a:spcAft>
                <a:spcPts val="800"/>
              </a:spcAft>
            </a:pPr>
            <a:r>
              <a:rPr lang="en-US" sz="5900">
                <a:solidFill>
                  <a:srgbClr val="123C32"/>
                </a:solidFill>
                <a:latin typeface="Georgia" panose="02040502050405020303" pitchFamily="18" charset="0"/>
              </a:rPr>
              <a:t>97</a:t>
            </a:r>
          </a:p>
        </p:txBody>
      </p:sp>
      <p:sp>
        <p:nvSpPr>
          <p:cNvPr id="10" name="TextBox 9">
            <a:extLst>
              <a:ext uri="{FF2B5EF4-FFF2-40B4-BE49-F238E27FC236}">
                <a16:creationId xmlns:a16="http://schemas.microsoft.com/office/drawing/2014/main" id="{8234621C-8341-44D8-AFFD-645A37B8DA1F}"/>
              </a:ext>
            </a:extLst>
          </p:cNvPr>
          <p:cNvSpPr txBox="1"/>
          <p:nvPr/>
        </p:nvSpPr>
        <p:spPr>
          <a:xfrm>
            <a:off x="4546600" y="4038600"/>
            <a:ext cx="3111500" cy="338554"/>
          </a:xfrm>
          <a:prstGeom prst="rect">
            <a:avLst/>
          </a:prstGeom>
          <a:noFill/>
        </p:spPr>
        <p:txBody>
          <a:bodyPr vert="horz" wrap="square" lIns="0" tIns="0" rIns="0" bIns="0" rtlCol="0">
            <a:spAutoFit/>
          </a:bodyPr>
          <a:lstStyle/>
          <a:p>
            <a:pPr>
              <a:spcAft>
                <a:spcPts val="800"/>
              </a:spcAft>
            </a:pPr>
            <a:r>
              <a:rPr lang="en-US" sz="2200">
                <a:solidFill>
                  <a:srgbClr val="123C32"/>
                </a:solidFill>
                <a:latin typeface="Aptos"/>
              </a:rPr>
              <a:t>frontend + UI tests</a:t>
            </a:r>
          </a:p>
        </p:txBody>
      </p:sp>
      <p:sp>
        <p:nvSpPr>
          <p:cNvPr id="11" name="TextBox 10">
            <a:extLst>
              <a:ext uri="{FF2B5EF4-FFF2-40B4-BE49-F238E27FC236}">
                <a16:creationId xmlns:a16="http://schemas.microsoft.com/office/drawing/2014/main" id="{41A61B48-5A08-473D-B1CE-A26DDDBA5EE4}"/>
              </a:ext>
            </a:extLst>
          </p:cNvPr>
          <p:cNvSpPr txBox="1"/>
          <p:nvPr/>
        </p:nvSpPr>
        <p:spPr>
          <a:xfrm>
            <a:off x="8483600" y="2857500"/>
            <a:ext cx="3098800" cy="907941"/>
          </a:xfrm>
          <a:prstGeom prst="rect">
            <a:avLst/>
          </a:prstGeom>
          <a:noFill/>
        </p:spPr>
        <p:txBody>
          <a:bodyPr vert="horz" wrap="square" lIns="0" tIns="0" rIns="0" bIns="0" rtlCol="0">
            <a:spAutoFit/>
          </a:bodyPr>
          <a:lstStyle/>
          <a:p>
            <a:pPr>
              <a:spcAft>
                <a:spcPts val="800"/>
              </a:spcAft>
            </a:pPr>
            <a:r>
              <a:rPr lang="en-US" sz="5900">
                <a:solidFill>
                  <a:srgbClr val="123C32"/>
                </a:solidFill>
                <a:latin typeface="Georgia" panose="02040502050405020303" pitchFamily="18" charset="0"/>
              </a:rPr>
              <a:t>7</a:t>
            </a:r>
          </a:p>
        </p:txBody>
      </p:sp>
      <p:sp>
        <p:nvSpPr>
          <p:cNvPr id="12" name="TextBox 11">
            <a:extLst>
              <a:ext uri="{FF2B5EF4-FFF2-40B4-BE49-F238E27FC236}">
                <a16:creationId xmlns:a16="http://schemas.microsoft.com/office/drawing/2014/main" id="{AA8B5294-9827-44DA-BF25-6DC4CC4085FD}"/>
              </a:ext>
            </a:extLst>
          </p:cNvPr>
          <p:cNvSpPr txBox="1"/>
          <p:nvPr/>
        </p:nvSpPr>
        <p:spPr>
          <a:xfrm>
            <a:off x="8483600" y="4038600"/>
            <a:ext cx="3098800" cy="338554"/>
          </a:xfrm>
          <a:prstGeom prst="rect">
            <a:avLst/>
          </a:prstGeom>
          <a:noFill/>
        </p:spPr>
        <p:txBody>
          <a:bodyPr vert="horz" wrap="square" lIns="0" tIns="0" rIns="0" bIns="0" rtlCol="0">
            <a:spAutoFit/>
          </a:bodyPr>
          <a:lstStyle/>
          <a:p>
            <a:pPr>
              <a:spcAft>
                <a:spcPts val="800"/>
              </a:spcAft>
            </a:pPr>
            <a:r>
              <a:rPr lang="en-US" sz="2200">
                <a:solidFill>
                  <a:srgbClr val="123C32"/>
                </a:solidFill>
                <a:latin typeface="Aptos"/>
              </a:rPr>
              <a:t>HTTP journey checks</a:t>
            </a:r>
          </a:p>
        </p:txBody>
      </p:sp>
      <p:sp>
        <p:nvSpPr>
          <p:cNvPr id="13" name="TextBox 12">
            <a:extLst>
              <a:ext uri="{FF2B5EF4-FFF2-40B4-BE49-F238E27FC236}">
                <a16:creationId xmlns:a16="http://schemas.microsoft.com/office/drawing/2014/main" id="{483C13D6-A7C8-4E88-8D05-83F06C0307AD}"/>
              </a:ext>
            </a:extLst>
          </p:cNvPr>
          <p:cNvSpPr txBox="1"/>
          <p:nvPr/>
        </p:nvSpPr>
        <p:spPr>
          <a:xfrm>
            <a:off x="609600" y="5384800"/>
            <a:ext cx="10972800" cy="369332"/>
          </a:xfrm>
          <a:prstGeom prst="rect">
            <a:avLst/>
          </a:prstGeom>
          <a:noFill/>
        </p:spPr>
        <p:txBody>
          <a:bodyPr vert="horz" wrap="square" lIns="0" tIns="0" rIns="0" bIns="0" rtlCol="0">
            <a:spAutoFit/>
          </a:bodyPr>
          <a:lstStyle/>
          <a:p>
            <a:pPr>
              <a:spcAft>
                <a:spcPts val="800"/>
              </a:spcAft>
            </a:pPr>
            <a:r>
              <a:rPr lang="en-US" sz="2400">
                <a:solidFill>
                  <a:srgbClr val="63736B"/>
                </a:solidFill>
                <a:latin typeface="Aptos"/>
              </a:rPr>
              <a:t>Production build and account-to-membership flow passed.</a:t>
            </a:r>
          </a:p>
        </p:txBody>
      </p:sp>
    </p:spTree>
    <p:extLst>
      <p:ext uri="{BB962C8B-B14F-4D97-AF65-F5344CB8AC3E}">
        <p14:creationId xmlns:p14="http://schemas.microsoft.com/office/powerpoint/2010/main" val="822053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2E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9BB191-2AE3-46C2-B009-B93AFDF42064}"/>
              </a:ext>
            </a:extLst>
          </p:cNvPr>
          <p:cNvSpPr txBox="1"/>
          <p:nvPr/>
        </p:nvSpPr>
        <p:spPr>
          <a:xfrm>
            <a:off x="609600" y="304800"/>
            <a:ext cx="2032000" cy="261610"/>
          </a:xfrm>
          <a:prstGeom prst="rect">
            <a:avLst/>
          </a:prstGeom>
          <a:noFill/>
        </p:spPr>
        <p:txBody>
          <a:bodyPr vert="horz" wrap="square" lIns="0" tIns="0" rIns="0" bIns="0" rtlCol="0">
            <a:spAutoFit/>
          </a:bodyPr>
          <a:lstStyle/>
          <a:p>
            <a:pPr>
              <a:spcAft>
                <a:spcPts val="800"/>
              </a:spcAft>
            </a:pPr>
            <a:r>
              <a:rPr lang="en-US" sz="1700" b="1">
                <a:solidFill>
                  <a:srgbClr val="123C32"/>
                </a:solidFill>
                <a:latin typeface="Aptos"/>
              </a:rPr>
              <a:t>JOCKEY</a:t>
            </a:r>
          </a:p>
        </p:txBody>
      </p:sp>
      <p:sp>
        <p:nvSpPr>
          <p:cNvPr id="3" name="TextBox 2">
            <a:extLst>
              <a:ext uri="{FF2B5EF4-FFF2-40B4-BE49-F238E27FC236}">
                <a16:creationId xmlns:a16="http://schemas.microsoft.com/office/drawing/2014/main" id="{1F9E4FC6-E5D2-492B-8430-1E622E4C782C}"/>
              </a:ext>
            </a:extLst>
          </p:cNvPr>
          <p:cNvSpPr txBox="1"/>
          <p:nvPr/>
        </p:nvSpPr>
        <p:spPr>
          <a:xfrm>
            <a:off x="3302000" y="342900"/>
            <a:ext cx="8255000" cy="169277"/>
          </a:xfrm>
          <a:prstGeom prst="rect">
            <a:avLst/>
          </a:prstGeom>
          <a:noFill/>
        </p:spPr>
        <p:txBody>
          <a:bodyPr vert="horz" wrap="square" lIns="0" tIns="0" rIns="0" bIns="0" rtlCol="0">
            <a:spAutoFit/>
          </a:bodyPr>
          <a:lstStyle/>
          <a:p>
            <a:pPr>
              <a:spcAft>
                <a:spcPts val="800"/>
              </a:spcAft>
            </a:pPr>
            <a:r>
              <a:rPr lang="en-US" sz="1100">
                <a:solidFill>
                  <a:srgbClr val="63736B"/>
                </a:solidFill>
                <a:latin typeface="Aptos"/>
              </a:rPr>
              <a:t>PATH TO LAUNCH</a:t>
            </a:r>
          </a:p>
        </p:txBody>
      </p:sp>
      <p:sp>
        <p:nvSpPr>
          <p:cNvPr id="4" name="TextBox 3">
            <a:extLst>
              <a:ext uri="{FF2B5EF4-FFF2-40B4-BE49-F238E27FC236}">
                <a16:creationId xmlns:a16="http://schemas.microsoft.com/office/drawing/2014/main" id="{F1098B47-037D-4DF5-9E41-6D6F0FE01019}"/>
              </a:ext>
            </a:extLst>
          </p:cNvPr>
          <p:cNvSpPr txBox="1"/>
          <p:nvPr/>
        </p:nvSpPr>
        <p:spPr>
          <a:xfrm>
            <a:off x="609600" y="6426200"/>
            <a:ext cx="8890000" cy="153888"/>
          </a:xfrm>
          <a:prstGeom prst="rect">
            <a:avLst/>
          </a:prstGeom>
          <a:noFill/>
        </p:spPr>
        <p:txBody>
          <a:bodyPr vert="horz" wrap="square" lIns="0" tIns="0" rIns="0" bIns="0" rtlCol="0">
            <a:spAutoFit/>
          </a:bodyPr>
          <a:lstStyle/>
          <a:p>
            <a:pPr>
              <a:spcAft>
                <a:spcPts val="800"/>
              </a:spcAft>
            </a:pPr>
            <a:r>
              <a:rPr lang="en-US" sz="1000">
                <a:solidFill>
                  <a:srgbClr val="63736B"/>
                </a:solidFill>
                <a:latin typeface="Aptos"/>
              </a:rPr>
              <a:t>STAKEHOLDER SHOWCASE  /  18 OCT 2026</a:t>
            </a:r>
          </a:p>
        </p:txBody>
      </p:sp>
      <p:sp>
        <p:nvSpPr>
          <p:cNvPr id="5" name="TextBox 4">
            <a:extLst>
              <a:ext uri="{FF2B5EF4-FFF2-40B4-BE49-F238E27FC236}">
                <a16:creationId xmlns:a16="http://schemas.microsoft.com/office/drawing/2014/main" id="{075BBFAF-201E-47B7-810E-AEC0F84F9CB7}"/>
              </a:ext>
            </a:extLst>
          </p:cNvPr>
          <p:cNvSpPr txBox="1"/>
          <p:nvPr/>
        </p:nvSpPr>
        <p:spPr>
          <a:xfrm>
            <a:off x="11112500" y="6375400"/>
            <a:ext cx="508000" cy="200055"/>
          </a:xfrm>
          <a:prstGeom prst="rect">
            <a:avLst/>
          </a:prstGeom>
          <a:noFill/>
        </p:spPr>
        <p:txBody>
          <a:bodyPr vert="horz" wrap="square" lIns="0" tIns="0" rIns="0" bIns="0" rtlCol="0">
            <a:spAutoFit/>
          </a:bodyPr>
          <a:lstStyle/>
          <a:p>
            <a:pPr>
              <a:spcAft>
                <a:spcPts val="800"/>
              </a:spcAft>
            </a:pPr>
            <a:r>
              <a:rPr lang="en-US" sz="1300">
                <a:solidFill>
                  <a:srgbClr val="63736B"/>
                </a:solidFill>
                <a:latin typeface="Aptos"/>
              </a:rPr>
              <a:t>11</a:t>
            </a:r>
          </a:p>
        </p:txBody>
      </p:sp>
      <p:sp>
        <p:nvSpPr>
          <p:cNvPr id="6" name="TextBox 5">
            <a:extLst>
              <a:ext uri="{FF2B5EF4-FFF2-40B4-BE49-F238E27FC236}">
                <a16:creationId xmlns:a16="http://schemas.microsoft.com/office/drawing/2014/main" id="{0663EE6B-395A-4D0A-A941-AA6EB002C911}"/>
              </a:ext>
            </a:extLst>
          </p:cNvPr>
          <p:cNvSpPr txBox="1"/>
          <p:nvPr/>
        </p:nvSpPr>
        <p:spPr>
          <a:xfrm>
            <a:off x="609600" y="1117600"/>
            <a:ext cx="10972800" cy="569387"/>
          </a:xfrm>
          <a:prstGeom prst="rect">
            <a:avLst/>
          </a:prstGeom>
          <a:noFill/>
        </p:spPr>
        <p:txBody>
          <a:bodyPr vert="horz" wrap="square" lIns="0" tIns="0" rIns="0" bIns="0" rtlCol="0">
            <a:spAutoFit/>
          </a:bodyPr>
          <a:lstStyle/>
          <a:p>
            <a:pPr>
              <a:spcAft>
                <a:spcPts val="800"/>
              </a:spcAft>
            </a:pPr>
            <a:r>
              <a:rPr lang="en-US" sz="3700">
                <a:solidFill>
                  <a:srgbClr val="123C32"/>
                </a:solidFill>
                <a:latin typeface="Georgia" panose="02040502050405020303" pitchFamily="18" charset="0"/>
              </a:rPr>
              <a:t>Three dependencies shape launch</a:t>
            </a:r>
          </a:p>
        </p:txBody>
      </p:sp>
      <p:sp>
        <p:nvSpPr>
          <p:cNvPr id="7" name="TextBox 6">
            <a:extLst>
              <a:ext uri="{FF2B5EF4-FFF2-40B4-BE49-F238E27FC236}">
                <a16:creationId xmlns:a16="http://schemas.microsoft.com/office/drawing/2014/main" id="{E7B3B7B8-0D59-4301-B59A-750ADFB3489B}"/>
              </a:ext>
            </a:extLst>
          </p:cNvPr>
          <p:cNvSpPr txBox="1"/>
          <p:nvPr/>
        </p:nvSpPr>
        <p:spPr>
          <a:xfrm>
            <a:off x="609600" y="2895600"/>
            <a:ext cx="3175000" cy="415498"/>
          </a:xfrm>
          <a:prstGeom prst="rect">
            <a:avLst/>
          </a:prstGeom>
          <a:noFill/>
        </p:spPr>
        <p:txBody>
          <a:bodyPr vert="horz" wrap="square" lIns="0" tIns="0" rIns="0" bIns="0" rtlCol="0">
            <a:spAutoFit/>
          </a:bodyPr>
          <a:lstStyle/>
          <a:p>
            <a:pPr>
              <a:spcAft>
                <a:spcPts val="800"/>
              </a:spcAft>
            </a:pPr>
            <a:r>
              <a:rPr lang="en-US" sz="2700">
                <a:solidFill>
                  <a:srgbClr val="123C32"/>
                </a:solidFill>
                <a:latin typeface="Georgia" panose="02040502050405020303" pitchFamily="18" charset="0"/>
              </a:rPr>
              <a:t>Racing data</a:t>
            </a:r>
          </a:p>
        </p:txBody>
      </p:sp>
      <p:sp>
        <p:nvSpPr>
          <p:cNvPr id="8" name="TextBox 7">
            <a:extLst>
              <a:ext uri="{FF2B5EF4-FFF2-40B4-BE49-F238E27FC236}">
                <a16:creationId xmlns:a16="http://schemas.microsoft.com/office/drawing/2014/main" id="{721A53A5-D046-4523-9304-8F83EE551F93}"/>
              </a:ext>
            </a:extLst>
          </p:cNvPr>
          <p:cNvSpPr txBox="1"/>
          <p:nvPr/>
        </p:nvSpPr>
        <p:spPr>
          <a:xfrm>
            <a:off x="609600" y="3733800"/>
            <a:ext cx="3175000" cy="738664"/>
          </a:xfrm>
          <a:prstGeom prst="rect">
            <a:avLst/>
          </a:prstGeom>
          <a:noFill/>
        </p:spPr>
        <p:txBody>
          <a:bodyPr vert="horz" wrap="square" lIns="0" tIns="0" rIns="0" bIns="0" rtlCol="0">
            <a:spAutoFit/>
          </a:bodyPr>
          <a:lstStyle/>
          <a:p>
            <a:pPr>
              <a:spcAft>
                <a:spcPts val="800"/>
              </a:spcAft>
            </a:pPr>
            <a:r>
              <a:rPr lang="en-US" sz="2400">
                <a:solidFill>
                  <a:srgbClr val="123C32"/>
                </a:solidFill>
                <a:latin typeface="Aptos"/>
              </a:rPr>
              <a:t>Authorize the source and publication process.</a:t>
            </a:r>
          </a:p>
        </p:txBody>
      </p:sp>
      <p:sp>
        <p:nvSpPr>
          <p:cNvPr id="9" name="TextBox 8">
            <a:extLst>
              <a:ext uri="{FF2B5EF4-FFF2-40B4-BE49-F238E27FC236}">
                <a16:creationId xmlns:a16="http://schemas.microsoft.com/office/drawing/2014/main" id="{1C9BA04A-466E-40A4-836B-CA8D9543FA3B}"/>
              </a:ext>
            </a:extLst>
          </p:cNvPr>
          <p:cNvSpPr txBox="1"/>
          <p:nvPr/>
        </p:nvSpPr>
        <p:spPr>
          <a:xfrm>
            <a:off x="4508500" y="2895600"/>
            <a:ext cx="3175000" cy="415498"/>
          </a:xfrm>
          <a:prstGeom prst="rect">
            <a:avLst/>
          </a:prstGeom>
          <a:noFill/>
        </p:spPr>
        <p:txBody>
          <a:bodyPr vert="horz" wrap="square" lIns="0" tIns="0" rIns="0" bIns="0" rtlCol="0">
            <a:spAutoFit/>
          </a:bodyPr>
          <a:lstStyle/>
          <a:p>
            <a:pPr>
              <a:spcAft>
                <a:spcPts val="800"/>
              </a:spcAft>
            </a:pPr>
            <a:r>
              <a:rPr lang="en-US" sz="2700">
                <a:solidFill>
                  <a:srgbClr val="123C32"/>
                </a:solidFill>
                <a:latin typeface="Georgia" panose="02040502050405020303" pitchFamily="18" charset="0"/>
              </a:rPr>
              <a:t>Payments</a:t>
            </a:r>
          </a:p>
        </p:txBody>
      </p:sp>
      <p:sp>
        <p:nvSpPr>
          <p:cNvPr id="10" name="TextBox 9">
            <a:extLst>
              <a:ext uri="{FF2B5EF4-FFF2-40B4-BE49-F238E27FC236}">
                <a16:creationId xmlns:a16="http://schemas.microsoft.com/office/drawing/2014/main" id="{511AFEB4-C5B7-426F-847D-EAB04976A6BB}"/>
              </a:ext>
            </a:extLst>
          </p:cNvPr>
          <p:cNvSpPr txBox="1"/>
          <p:nvPr/>
        </p:nvSpPr>
        <p:spPr>
          <a:xfrm>
            <a:off x="4508500" y="3733800"/>
            <a:ext cx="3175000" cy="738664"/>
          </a:xfrm>
          <a:prstGeom prst="rect">
            <a:avLst/>
          </a:prstGeom>
          <a:noFill/>
        </p:spPr>
        <p:txBody>
          <a:bodyPr vert="horz" wrap="square" lIns="0" tIns="0" rIns="0" bIns="0" rtlCol="0">
            <a:spAutoFit/>
          </a:bodyPr>
          <a:lstStyle/>
          <a:p>
            <a:pPr>
              <a:spcAft>
                <a:spcPts val="800"/>
              </a:spcAft>
            </a:pPr>
            <a:r>
              <a:rPr lang="en-US" sz="2400">
                <a:solidFill>
                  <a:srgbClr val="123C32"/>
                </a:solidFill>
                <a:latin typeface="Aptos"/>
              </a:rPr>
              <a:t>Connect a provider with verified confirmation.</a:t>
            </a:r>
          </a:p>
        </p:txBody>
      </p:sp>
      <p:sp>
        <p:nvSpPr>
          <p:cNvPr id="11" name="TextBox 10">
            <a:extLst>
              <a:ext uri="{FF2B5EF4-FFF2-40B4-BE49-F238E27FC236}">
                <a16:creationId xmlns:a16="http://schemas.microsoft.com/office/drawing/2014/main" id="{14E0528D-052F-49D6-989A-5F25B2BDA2E8}"/>
              </a:ext>
            </a:extLst>
          </p:cNvPr>
          <p:cNvSpPr txBox="1"/>
          <p:nvPr/>
        </p:nvSpPr>
        <p:spPr>
          <a:xfrm>
            <a:off x="8407400" y="2895600"/>
            <a:ext cx="3175000" cy="415498"/>
          </a:xfrm>
          <a:prstGeom prst="rect">
            <a:avLst/>
          </a:prstGeom>
          <a:noFill/>
        </p:spPr>
        <p:txBody>
          <a:bodyPr vert="horz" wrap="square" lIns="0" tIns="0" rIns="0" bIns="0" rtlCol="0">
            <a:spAutoFit/>
          </a:bodyPr>
          <a:lstStyle/>
          <a:p>
            <a:pPr>
              <a:spcAft>
                <a:spcPts val="800"/>
              </a:spcAft>
            </a:pPr>
            <a:r>
              <a:rPr lang="en-US" sz="2700">
                <a:solidFill>
                  <a:srgbClr val="123C32"/>
                </a:solidFill>
                <a:latin typeface="Georgia" panose="02040502050405020303" pitchFamily="18" charset="0"/>
              </a:rPr>
              <a:t>Deployment</a:t>
            </a:r>
          </a:p>
        </p:txBody>
      </p:sp>
      <p:sp>
        <p:nvSpPr>
          <p:cNvPr id="12" name="TextBox 11">
            <a:extLst>
              <a:ext uri="{FF2B5EF4-FFF2-40B4-BE49-F238E27FC236}">
                <a16:creationId xmlns:a16="http://schemas.microsoft.com/office/drawing/2014/main" id="{E1EFB34C-F167-4BF7-9A3E-77C55BFBB0D3}"/>
              </a:ext>
            </a:extLst>
          </p:cNvPr>
          <p:cNvSpPr txBox="1"/>
          <p:nvPr/>
        </p:nvSpPr>
        <p:spPr>
          <a:xfrm>
            <a:off x="8407400" y="3733800"/>
            <a:ext cx="3175000" cy="1107996"/>
          </a:xfrm>
          <a:prstGeom prst="rect">
            <a:avLst/>
          </a:prstGeom>
          <a:noFill/>
        </p:spPr>
        <p:txBody>
          <a:bodyPr vert="horz" wrap="square" lIns="0" tIns="0" rIns="0" bIns="0" rtlCol="0">
            <a:spAutoFit/>
          </a:bodyPr>
          <a:lstStyle/>
          <a:p>
            <a:pPr>
              <a:spcAft>
                <a:spcPts val="800"/>
              </a:spcAft>
            </a:pPr>
            <a:r>
              <a:rPr lang="en-US" sz="2400">
                <a:solidFill>
                  <a:srgbClr val="123C32"/>
                </a:solidFill>
                <a:latin typeface="Aptos"/>
              </a:rPr>
              <a:t>Validate hosting, recovery and browser experience.</a:t>
            </a:r>
          </a:p>
        </p:txBody>
      </p:sp>
    </p:spTree>
    <p:extLst>
      <p:ext uri="{BB962C8B-B14F-4D97-AF65-F5344CB8AC3E}">
        <p14:creationId xmlns:p14="http://schemas.microsoft.com/office/powerpoint/2010/main" val="4032661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3C3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D567FB-8AAC-4850-9AB0-7C84BEA92228}"/>
              </a:ext>
            </a:extLst>
          </p:cNvPr>
          <p:cNvSpPr txBox="1"/>
          <p:nvPr/>
        </p:nvSpPr>
        <p:spPr>
          <a:xfrm>
            <a:off x="609600" y="304800"/>
            <a:ext cx="2032000" cy="261610"/>
          </a:xfrm>
          <a:prstGeom prst="rect">
            <a:avLst/>
          </a:prstGeom>
          <a:noFill/>
        </p:spPr>
        <p:txBody>
          <a:bodyPr vert="horz" wrap="square" lIns="0" tIns="0" rIns="0" bIns="0" rtlCol="0">
            <a:spAutoFit/>
          </a:bodyPr>
          <a:lstStyle/>
          <a:p>
            <a:pPr>
              <a:spcAft>
                <a:spcPts val="800"/>
              </a:spcAft>
            </a:pPr>
            <a:r>
              <a:rPr lang="en-US" sz="1700" b="1">
                <a:solidFill>
                  <a:srgbClr val="F6F2E9"/>
                </a:solidFill>
                <a:latin typeface="Aptos"/>
              </a:rPr>
              <a:t>JOCKEY</a:t>
            </a:r>
          </a:p>
        </p:txBody>
      </p:sp>
      <p:sp>
        <p:nvSpPr>
          <p:cNvPr id="3" name="TextBox 2">
            <a:extLst>
              <a:ext uri="{FF2B5EF4-FFF2-40B4-BE49-F238E27FC236}">
                <a16:creationId xmlns:a16="http://schemas.microsoft.com/office/drawing/2014/main" id="{B5BDBC85-53E3-4CE0-BE7F-3DE90B7C26FE}"/>
              </a:ext>
            </a:extLst>
          </p:cNvPr>
          <p:cNvSpPr txBox="1"/>
          <p:nvPr/>
        </p:nvSpPr>
        <p:spPr>
          <a:xfrm>
            <a:off x="3302000" y="342900"/>
            <a:ext cx="8255000" cy="169277"/>
          </a:xfrm>
          <a:prstGeom prst="rect">
            <a:avLst/>
          </a:prstGeom>
          <a:noFill/>
        </p:spPr>
        <p:txBody>
          <a:bodyPr vert="horz" wrap="square" lIns="0" tIns="0" rIns="0" bIns="0" rtlCol="0">
            <a:spAutoFit/>
          </a:bodyPr>
          <a:lstStyle/>
          <a:p>
            <a:pPr>
              <a:spcAft>
                <a:spcPts val="800"/>
              </a:spcAft>
            </a:pPr>
            <a:r>
              <a:rPr lang="en-US" sz="1100">
                <a:solidFill>
                  <a:srgbClr val="B99756"/>
                </a:solidFill>
                <a:latin typeface="Aptos"/>
              </a:rPr>
              <a:t>STAKEHOLDER DECISION</a:t>
            </a:r>
          </a:p>
        </p:txBody>
      </p:sp>
      <p:sp>
        <p:nvSpPr>
          <p:cNvPr id="4" name="TextBox 3">
            <a:extLst>
              <a:ext uri="{FF2B5EF4-FFF2-40B4-BE49-F238E27FC236}">
                <a16:creationId xmlns:a16="http://schemas.microsoft.com/office/drawing/2014/main" id="{A7D3EC51-FF30-4F27-A2AA-9CD4E9305C13}"/>
              </a:ext>
            </a:extLst>
          </p:cNvPr>
          <p:cNvSpPr txBox="1"/>
          <p:nvPr/>
        </p:nvSpPr>
        <p:spPr>
          <a:xfrm>
            <a:off x="609600" y="6426200"/>
            <a:ext cx="8890000" cy="153888"/>
          </a:xfrm>
          <a:prstGeom prst="rect">
            <a:avLst/>
          </a:prstGeom>
          <a:noFill/>
        </p:spPr>
        <p:txBody>
          <a:bodyPr vert="horz" wrap="square" lIns="0" tIns="0" rIns="0" bIns="0" rtlCol="0">
            <a:spAutoFit/>
          </a:bodyPr>
          <a:lstStyle/>
          <a:p>
            <a:pPr>
              <a:spcAft>
                <a:spcPts val="800"/>
              </a:spcAft>
            </a:pPr>
            <a:r>
              <a:rPr lang="en-US" sz="1000">
                <a:solidFill>
                  <a:srgbClr val="B99756"/>
                </a:solidFill>
                <a:latin typeface="Aptos"/>
              </a:rPr>
              <a:t>STAKEHOLDER SHOWCASE  /  18 OCT 2026</a:t>
            </a:r>
          </a:p>
        </p:txBody>
      </p:sp>
      <p:sp>
        <p:nvSpPr>
          <p:cNvPr id="5" name="TextBox 4">
            <a:extLst>
              <a:ext uri="{FF2B5EF4-FFF2-40B4-BE49-F238E27FC236}">
                <a16:creationId xmlns:a16="http://schemas.microsoft.com/office/drawing/2014/main" id="{C055EB55-E235-4DB6-829E-2AFA7F456D61}"/>
              </a:ext>
            </a:extLst>
          </p:cNvPr>
          <p:cNvSpPr txBox="1"/>
          <p:nvPr/>
        </p:nvSpPr>
        <p:spPr>
          <a:xfrm>
            <a:off x="11112500" y="6375400"/>
            <a:ext cx="508000" cy="200055"/>
          </a:xfrm>
          <a:prstGeom prst="rect">
            <a:avLst/>
          </a:prstGeom>
          <a:noFill/>
        </p:spPr>
        <p:txBody>
          <a:bodyPr vert="horz" wrap="square" lIns="0" tIns="0" rIns="0" bIns="0" rtlCol="0">
            <a:spAutoFit/>
          </a:bodyPr>
          <a:lstStyle/>
          <a:p>
            <a:pPr>
              <a:spcAft>
                <a:spcPts val="800"/>
              </a:spcAft>
            </a:pPr>
            <a:r>
              <a:rPr lang="en-US" sz="1300">
                <a:solidFill>
                  <a:srgbClr val="B99756"/>
                </a:solidFill>
                <a:latin typeface="Aptos"/>
              </a:rPr>
              <a:t>12</a:t>
            </a:r>
          </a:p>
        </p:txBody>
      </p:sp>
      <p:sp>
        <p:nvSpPr>
          <p:cNvPr id="6" name="TextBox 5">
            <a:extLst>
              <a:ext uri="{FF2B5EF4-FFF2-40B4-BE49-F238E27FC236}">
                <a16:creationId xmlns:a16="http://schemas.microsoft.com/office/drawing/2014/main" id="{4A274A07-3530-4E2A-A45A-5287E968350F}"/>
              </a:ext>
            </a:extLst>
          </p:cNvPr>
          <p:cNvSpPr txBox="1"/>
          <p:nvPr/>
        </p:nvSpPr>
        <p:spPr>
          <a:xfrm>
            <a:off x="609600" y="1117600"/>
            <a:ext cx="10972800" cy="569387"/>
          </a:xfrm>
          <a:prstGeom prst="rect">
            <a:avLst/>
          </a:prstGeom>
          <a:noFill/>
        </p:spPr>
        <p:txBody>
          <a:bodyPr vert="horz" wrap="square" lIns="0" tIns="0" rIns="0" bIns="0" rtlCol="0">
            <a:spAutoFit/>
          </a:bodyPr>
          <a:lstStyle/>
          <a:p>
            <a:pPr>
              <a:spcAft>
                <a:spcPts val="800"/>
              </a:spcAft>
            </a:pPr>
            <a:r>
              <a:rPr lang="en-US" sz="3700">
                <a:solidFill>
                  <a:srgbClr val="F6F2E9"/>
                </a:solidFill>
                <a:latin typeface="Georgia" panose="02040502050405020303" pitchFamily="18" charset="0"/>
              </a:rPr>
              <a:t>Align on a controlled pilot</a:t>
            </a:r>
          </a:p>
        </p:txBody>
      </p:sp>
      <p:sp>
        <p:nvSpPr>
          <p:cNvPr id="7" name="TextBox 6">
            <a:extLst>
              <a:ext uri="{FF2B5EF4-FFF2-40B4-BE49-F238E27FC236}">
                <a16:creationId xmlns:a16="http://schemas.microsoft.com/office/drawing/2014/main" id="{56D649A6-701E-476E-BFD9-7DE2E689CFAE}"/>
              </a:ext>
            </a:extLst>
          </p:cNvPr>
          <p:cNvSpPr txBox="1"/>
          <p:nvPr/>
        </p:nvSpPr>
        <p:spPr>
          <a:xfrm>
            <a:off x="609600" y="2946400"/>
            <a:ext cx="10972800" cy="1451679"/>
          </a:xfrm>
          <a:prstGeom prst="rect">
            <a:avLst/>
          </a:prstGeom>
          <a:noFill/>
        </p:spPr>
        <p:txBody>
          <a:bodyPr vert="horz" wrap="square" lIns="0" tIns="0" rIns="0" bIns="0" rtlCol="0">
            <a:spAutoFit/>
          </a:bodyPr>
          <a:lstStyle/>
          <a:p>
            <a:pPr>
              <a:spcAft>
                <a:spcPts val="800"/>
              </a:spcAft>
            </a:pPr>
            <a:r>
              <a:rPr lang="en-US" sz="2700">
                <a:solidFill>
                  <a:srgbClr val="F6F2E9"/>
                </a:solidFill>
                <a:latin typeface="Aptos"/>
              </a:rPr>
              <a:t>Confirm pricing and the intended audience.
Assign data, payment and deployment owners.
Agree on pilot scope and success measures.</a:t>
            </a:r>
          </a:p>
        </p:txBody>
      </p:sp>
      <p:sp>
        <p:nvSpPr>
          <p:cNvPr id="8" name="TextBox 7">
            <a:extLst>
              <a:ext uri="{FF2B5EF4-FFF2-40B4-BE49-F238E27FC236}">
                <a16:creationId xmlns:a16="http://schemas.microsoft.com/office/drawing/2014/main" id="{D8FFF02C-9CBE-4896-B45A-0D31462775E6}"/>
              </a:ext>
            </a:extLst>
          </p:cNvPr>
          <p:cNvSpPr txBox="1"/>
          <p:nvPr/>
        </p:nvSpPr>
        <p:spPr>
          <a:xfrm>
            <a:off x="609600" y="5575300"/>
            <a:ext cx="10972800" cy="338554"/>
          </a:xfrm>
          <a:prstGeom prst="rect">
            <a:avLst/>
          </a:prstGeom>
          <a:noFill/>
        </p:spPr>
        <p:txBody>
          <a:bodyPr vert="horz" wrap="square" lIns="0" tIns="0" rIns="0" bIns="0" rtlCol="0">
            <a:spAutoFit/>
          </a:bodyPr>
          <a:lstStyle/>
          <a:p>
            <a:pPr>
              <a:spcAft>
                <a:spcPts val="800"/>
              </a:spcAft>
            </a:pPr>
            <a:r>
              <a:rPr lang="en-US" sz="2200">
                <a:solidFill>
                  <a:srgbClr val="B99756"/>
                </a:solidFill>
                <a:latin typeface="Aptos"/>
              </a:rPr>
              <a:t>Review the live customer journey before wider release.</a:t>
            </a:r>
          </a:p>
        </p:txBody>
      </p:sp>
    </p:spTree>
    <p:extLst>
      <p:ext uri="{BB962C8B-B14F-4D97-AF65-F5344CB8AC3E}">
        <p14:creationId xmlns:p14="http://schemas.microsoft.com/office/powerpoint/2010/main" val="1718804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1469</Words>
  <Application>Microsoft Office PowerPoint</Application>
  <PresentationFormat>Custom</PresentationFormat>
  <Paragraphs>142</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Calibri Light</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Manlapaz</dc:creator>
  <cp:lastModifiedBy>Ken Manlapaz</cp:lastModifiedBy>
  <cp:revision>1</cp:revision>
  <dcterms:created xsi:type="dcterms:W3CDTF">2026-10-18T09:11:18Z</dcterms:created>
  <dcterms:modified xsi:type="dcterms:W3CDTF">2026-10-18T09:11:18Z</dcterms:modified>
</cp:coreProperties>
</file>